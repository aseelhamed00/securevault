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80" r:id="rId24"/>
    <p:sldId id="281" r:id="rId25"/>
    <p:sldId id="282" r:id="rId26"/>
    <p:sldId id="278" r:id="rId27"/>
    <p:sldId id="279" r:id="rId2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5" d="100"/>
          <a:sy n="95" d="100"/>
        </p:scale>
        <p:origin x="17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seel Hamed" userId="813afc8a16417df7" providerId="LiveId" clId="{A351547D-2B97-49F1-8421-1216D9F8E282}"/>
    <pc:docChg chg="undo custSel modSld">
      <pc:chgData name="Aseel Hamed" userId="813afc8a16417df7" providerId="LiveId" clId="{A351547D-2B97-49F1-8421-1216D9F8E282}" dt="2026-09-24T16:21:05.598" v="195" actId="20577"/>
      <pc:docMkLst>
        <pc:docMk/>
      </pc:docMkLst>
      <pc:sldChg chg="addSp modSp mod">
        <pc:chgData name="Aseel Hamed" userId="813afc8a16417df7" providerId="LiveId" clId="{A351547D-2B97-49F1-8421-1216D9F8E282}" dt="2026-09-24T13:40:29.493" v="134" actId="20577"/>
        <pc:sldMkLst>
          <pc:docMk/>
          <pc:sldMk cId="0" sldId="256"/>
        </pc:sldMkLst>
        <pc:spChg chg="mod">
          <ac:chgData name="Aseel Hamed" userId="813afc8a16417df7" providerId="LiveId" clId="{A351547D-2B97-49F1-8421-1216D9F8E282}" dt="2026-09-24T13:38:35.645" v="12" actId="20577"/>
          <ac:spMkLst>
            <pc:docMk/>
            <pc:sldMk cId="0" sldId="256"/>
            <ac:spMk id="2" creationId="{00000000-0000-0000-0000-000000000000}"/>
          </ac:spMkLst>
        </pc:spChg>
        <pc:spChg chg="mod">
          <ac:chgData name="Aseel Hamed" userId="813afc8a16417df7" providerId="LiveId" clId="{A351547D-2B97-49F1-8421-1216D9F8E282}" dt="2026-09-24T13:38:49.859" v="13" actId="1076"/>
          <ac:spMkLst>
            <pc:docMk/>
            <pc:sldMk cId="0" sldId="256"/>
            <ac:spMk id="12" creationId="{00000000-0000-0000-0000-000000000000}"/>
          </ac:spMkLst>
        </pc:spChg>
        <pc:spChg chg="add mod">
          <ac:chgData name="Aseel Hamed" userId="813afc8a16417df7" providerId="LiveId" clId="{A351547D-2B97-49F1-8421-1216D9F8E282}" dt="2026-09-24T13:40:29.493" v="134" actId="20577"/>
          <ac:spMkLst>
            <pc:docMk/>
            <pc:sldMk cId="0" sldId="256"/>
            <ac:spMk id="13" creationId="{5C254CF7-A2A0-2940-AEB7-5A9B0017136C}"/>
          </ac:spMkLst>
        </pc:spChg>
      </pc:sldChg>
      <pc:sldChg chg="modSp mod">
        <pc:chgData name="Aseel Hamed" userId="813afc8a16417df7" providerId="LiveId" clId="{A351547D-2B97-49F1-8421-1216D9F8E282}" dt="2026-09-24T13:53:02.570" v="135" actId="20577"/>
        <pc:sldMkLst>
          <pc:docMk/>
          <pc:sldMk cId="0" sldId="258"/>
        </pc:sldMkLst>
        <pc:spChg chg="mod">
          <ac:chgData name="Aseel Hamed" userId="813afc8a16417df7" providerId="LiveId" clId="{A351547D-2B97-49F1-8421-1216D9F8E282}" dt="2026-09-24T13:53:02.570" v="135" actId="20577"/>
          <ac:spMkLst>
            <pc:docMk/>
            <pc:sldMk cId="0" sldId="258"/>
            <ac:spMk id="15" creationId="{00000000-0000-0000-0000-000000000000}"/>
          </ac:spMkLst>
        </pc:spChg>
      </pc:sldChg>
      <pc:sldChg chg="modSp mod">
        <pc:chgData name="Aseel Hamed" userId="813afc8a16417df7" providerId="LiveId" clId="{A351547D-2B97-49F1-8421-1216D9F8E282}" dt="2026-09-24T14:22:39.453" v="137" actId="20577"/>
        <pc:sldMkLst>
          <pc:docMk/>
          <pc:sldMk cId="0" sldId="259"/>
        </pc:sldMkLst>
        <pc:graphicFrameChg chg="modGraphic">
          <ac:chgData name="Aseel Hamed" userId="813afc8a16417df7" providerId="LiveId" clId="{A351547D-2B97-49F1-8421-1216D9F8E282}" dt="2026-09-24T14:22:39.453" v="137" actId="20577"/>
          <ac:graphicFrameMkLst>
            <pc:docMk/>
            <pc:sldMk cId="0" sldId="259"/>
            <ac:graphicFrameMk id="6" creationId="{00000000-0000-0000-0000-000000000000}"/>
          </ac:graphicFrameMkLst>
        </pc:graphicFrameChg>
      </pc:sldChg>
      <pc:sldChg chg="addSp delSp modSp mod">
        <pc:chgData name="Aseel Hamed" userId="813afc8a16417df7" providerId="LiveId" clId="{A351547D-2B97-49F1-8421-1216D9F8E282}" dt="2026-09-24T14:39:59.085" v="151" actId="1076"/>
        <pc:sldMkLst>
          <pc:docMk/>
          <pc:sldMk cId="0" sldId="260"/>
        </pc:sldMkLst>
        <pc:spChg chg="mod">
          <ac:chgData name="Aseel Hamed" userId="813afc8a16417df7" providerId="LiveId" clId="{A351547D-2B97-49F1-8421-1216D9F8E282}" dt="2026-09-24T14:32:20.982" v="138" actId="20577"/>
          <ac:spMkLst>
            <pc:docMk/>
            <pc:sldMk cId="0" sldId="260"/>
            <ac:spMk id="20" creationId="{00000000-0000-0000-0000-000000000000}"/>
          </ac:spMkLst>
        </pc:spChg>
        <pc:spChg chg="add del">
          <ac:chgData name="Aseel Hamed" userId="813afc8a16417df7" providerId="LiveId" clId="{A351547D-2B97-49F1-8421-1216D9F8E282}" dt="2026-09-24T14:38:47.053" v="149" actId="478"/>
          <ac:spMkLst>
            <pc:docMk/>
            <pc:sldMk cId="0" sldId="260"/>
            <ac:spMk id="21" creationId="{00000000-0000-0000-0000-000000000000}"/>
          </ac:spMkLst>
        </pc:spChg>
        <pc:spChg chg="add del">
          <ac:chgData name="Aseel Hamed" userId="813afc8a16417df7" providerId="LiveId" clId="{A351547D-2B97-49F1-8421-1216D9F8E282}" dt="2026-09-24T14:38:46.108" v="146" actId="21"/>
          <ac:spMkLst>
            <pc:docMk/>
            <pc:sldMk cId="0" sldId="260"/>
            <ac:spMk id="22" creationId="{00000000-0000-0000-0000-000000000000}"/>
          </ac:spMkLst>
        </pc:spChg>
        <pc:spChg chg="add del mod">
          <ac:chgData name="Aseel Hamed" userId="813afc8a16417df7" providerId="LiveId" clId="{A351547D-2B97-49F1-8421-1216D9F8E282}" dt="2026-09-24T14:39:59.085" v="151" actId="1076"/>
          <ac:spMkLst>
            <pc:docMk/>
            <pc:sldMk cId="0" sldId="260"/>
            <ac:spMk id="23" creationId="{00000000-0000-0000-0000-000000000000}"/>
          </ac:spMkLst>
        </pc:spChg>
      </pc:sldChg>
      <pc:sldChg chg="modSp mod">
        <pc:chgData name="Aseel Hamed" userId="813afc8a16417df7" providerId="LiveId" clId="{A351547D-2B97-49F1-8421-1216D9F8E282}" dt="2026-09-24T15:29:08.687" v="153" actId="20577"/>
        <pc:sldMkLst>
          <pc:docMk/>
          <pc:sldMk cId="0" sldId="262"/>
        </pc:sldMkLst>
        <pc:spChg chg="mod">
          <ac:chgData name="Aseel Hamed" userId="813afc8a16417df7" providerId="LiveId" clId="{A351547D-2B97-49F1-8421-1216D9F8E282}" dt="2026-09-24T15:29:05.644" v="152" actId="20577"/>
          <ac:spMkLst>
            <pc:docMk/>
            <pc:sldMk cId="0" sldId="262"/>
            <ac:spMk id="34" creationId="{00000000-0000-0000-0000-000000000000}"/>
          </ac:spMkLst>
        </pc:spChg>
        <pc:spChg chg="mod">
          <ac:chgData name="Aseel Hamed" userId="813afc8a16417df7" providerId="LiveId" clId="{A351547D-2B97-49F1-8421-1216D9F8E282}" dt="2026-09-24T15:29:08.687" v="153" actId="20577"/>
          <ac:spMkLst>
            <pc:docMk/>
            <pc:sldMk cId="0" sldId="262"/>
            <ac:spMk id="40" creationId="{00000000-0000-0000-0000-000000000000}"/>
          </ac:spMkLst>
        </pc:spChg>
      </pc:sldChg>
      <pc:sldChg chg="modSp mod">
        <pc:chgData name="Aseel Hamed" userId="813afc8a16417df7" providerId="LiveId" clId="{A351547D-2B97-49F1-8421-1216D9F8E282}" dt="2026-09-24T16:17:08.964" v="163" actId="1076"/>
        <pc:sldMkLst>
          <pc:docMk/>
          <pc:sldMk cId="0" sldId="266"/>
        </pc:sldMkLst>
        <pc:spChg chg="mod">
          <ac:chgData name="Aseel Hamed" userId="813afc8a16417df7" providerId="LiveId" clId="{A351547D-2B97-49F1-8421-1216D9F8E282}" dt="2026-09-24T16:16:53.764" v="160" actId="1076"/>
          <ac:spMkLst>
            <pc:docMk/>
            <pc:sldMk cId="0" sldId="266"/>
            <ac:spMk id="6" creationId="{00000000-0000-0000-0000-000000000000}"/>
          </ac:spMkLst>
        </pc:spChg>
        <pc:spChg chg="mod">
          <ac:chgData name="Aseel Hamed" userId="813afc8a16417df7" providerId="LiveId" clId="{A351547D-2B97-49F1-8421-1216D9F8E282}" dt="2026-09-24T16:16:30.372" v="155" actId="1076"/>
          <ac:spMkLst>
            <pc:docMk/>
            <pc:sldMk cId="0" sldId="266"/>
            <ac:spMk id="7" creationId="{00000000-0000-0000-0000-000000000000}"/>
          </ac:spMkLst>
        </pc:spChg>
        <pc:spChg chg="mod">
          <ac:chgData name="Aseel Hamed" userId="813afc8a16417df7" providerId="LiveId" clId="{A351547D-2B97-49F1-8421-1216D9F8E282}" dt="2026-09-24T16:16:35.486" v="156" actId="1076"/>
          <ac:spMkLst>
            <pc:docMk/>
            <pc:sldMk cId="0" sldId="266"/>
            <ac:spMk id="8" creationId="{00000000-0000-0000-0000-000000000000}"/>
          </ac:spMkLst>
        </pc:spChg>
        <pc:spChg chg="mod">
          <ac:chgData name="Aseel Hamed" userId="813afc8a16417df7" providerId="LiveId" clId="{A351547D-2B97-49F1-8421-1216D9F8E282}" dt="2026-09-24T16:16:39.140" v="157" actId="1076"/>
          <ac:spMkLst>
            <pc:docMk/>
            <pc:sldMk cId="0" sldId="266"/>
            <ac:spMk id="9" creationId="{00000000-0000-0000-0000-000000000000}"/>
          </ac:spMkLst>
        </pc:spChg>
        <pc:spChg chg="mod">
          <ac:chgData name="Aseel Hamed" userId="813afc8a16417df7" providerId="LiveId" clId="{A351547D-2B97-49F1-8421-1216D9F8E282}" dt="2026-09-24T16:16:46.100" v="158" actId="1076"/>
          <ac:spMkLst>
            <pc:docMk/>
            <pc:sldMk cId="0" sldId="266"/>
            <ac:spMk id="10" creationId="{00000000-0000-0000-0000-000000000000}"/>
          </ac:spMkLst>
        </pc:spChg>
        <pc:spChg chg="mod">
          <ac:chgData name="Aseel Hamed" userId="813afc8a16417df7" providerId="LiveId" clId="{A351547D-2B97-49F1-8421-1216D9F8E282}" dt="2026-09-24T16:16:49.732" v="159" actId="1076"/>
          <ac:spMkLst>
            <pc:docMk/>
            <pc:sldMk cId="0" sldId="266"/>
            <ac:spMk id="11" creationId="{00000000-0000-0000-0000-000000000000}"/>
          </ac:spMkLst>
        </pc:spChg>
        <pc:spChg chg="mod">
          <ac:chgData name="Aseel Hamed" userId="813afc8a16417df7" providerId="LiveId" clId="{A351547D-2B97-49F1-8421-1216D9F8E282}" dt="2026-09-24T16:17:00.950" v="161" actId="1076"/>
          <ac:spMkLst>
            <pc:docMk/>
            <pc:sldMk cId="0" sldId="266"/>
            <ac:spMk id="13" creationId="{00000000-0000-0000-0000-000000000000}"/>
          </ac:spMkLst>
        </pc:spChg>
        <pc:spChg chg="mod">
          <ac:chgData name="Aseel Hamed" userId="813afc8a16417df7" providerId="LiveId" clId="{A351547D-2B97-49F1-8421-1216D9F8E282}" dt="2026-09-24T16:17:05.374" v="162" actId="1076"/>
          <ac:spMkLst>
            <pc:docMk/>
            <pc:sldMk cId="0" sldId="266"/>
            <ac:spMk id="14" creationId="{00000000-0000-0000-0000-000000000000}"/>
          </ac:spMkLst>
        </pc:spChg>
        <pc:spChg chg="mod">
          <ac:chgData name="Aseel Hamed" userId="813afc8a16417df7" providerId="LiveId" clId="{A351547D-2B97-49F1-8421-1216D9F8E282}" dt="2026-09-24T16:17:08.964" v="163" actId="1076"/>
          <ac:spMkLst>
            <pc:docMk/>
            <pc:sldMk cId="0" sldId="266"/>
            <ac:spMk id="15" creationId="{00000000-0000-0000-0000-000000000000}"/>
          </ac:spMkLst>
        </pc:spChg>
        <pc:spChg chg="mod">
          <ac:chgData name="Aseel Hamed" userId="813afc8a16417df7" providerId="LiveId" clId="{A351547D-2B97-49F1-8421-1216D9F8E282}" dt="2026-09-24T16:16:25.694" v="154" actId="14100"/>
          <ac:spMkLst>
            <pc:docMk/>
            <pc:sldMk cId="0" sldId="266"/>
            <ac:spMk id="16" creationId="{00000000-0000-0000-0000-000000000000}"/>
          </ac:spMkLst>
        </pc:spChg>
      </pc:sldChg>
      <pc:sldChg chg="modSp mod">
        <pc:chgData name="Aseel Hamed" userId="813afc8a16417df7" providerId="LiveId" clId="{A351547D-2B97-49F1-8421-1216D9F8E282}" dt="2026-09-24T16:17:25.144" v="167" actId="20577"/>
        <pc:sldMkLst>
          <pc:docMk/>
          <pc:sldMk cId="0" sldId="267"/>
        </pc:sldMkLst>
        <pc:spChg chg="mod">
          <ac:chgData name="Aseel Hamed" userId="813afc8a16417df7" providerId="LiveId" clId="{A351547D-2B97-49F1-8421-1216D9F8E282}" dt="2026-09-24T16:17:25.144" v="167" actId="20577"/>
          <ac:spMkLst>
            <pc:docMk/>
            <pc:sldMk cId="0" sldId="267"/>
            <ac:spMk id="4" creationId="{00000000-0000-0000-0000-000000000000}"/>
          </ac:spMkLst>
        </pc:spChg>
      </pc:sldChg>
      <pc:sldChg chg="modSp mod">
        <pc:chgData name="Aseel Hamed" userId="813afc8a16417df7" providerId="LiveId" clId="{A351547D-2B97-49F1-8421-1216D9F8E282}" dt="2026-09-24T16:18:00.777" v="173" actId="20577"/>
        <pc:sldMkLst>
          <pc:docMk/>
          <pc:sldMk cId="0" sldId="268"/>
        </pc:sldMkLst>
        <pc:spChg chg="mod">
          <ac:chgData name="Aseel Hamed" userId="813afc8a16417df7" providerId="LiveId" clId="{A351547D-2B97-49F1-8421-1216D9F8E282}" dt="2026-09-24T16:17:46.036" v="169" actId="20577"/>
          <ac:spMkLst>
            <pc:docMk/>
            <pc:sldMk cId="0" sldId="268"/>
            <ac:spMk id="4" creationId="{00000000-0000-0000-0000-000000000000}"/>
          </ac:spMkLst>
        </pc:spChg>
        <pc:spChg chg="mod">
          <ac:chgData name="Aseel Hamed" userId="813afc8a16417df7" providerId="LiveId" clId="{A351547D-2B97-49F1-8421-1216D9F8E282}" dt="2026-09-24T16:18:00.777" v="173" actId="20577"/>
          <ac:spMkLst>
            <pc:docMk/>
            <pc:sldMk cId="0" sldId="268"/>
            <ac:spMk id="33" creationId="{00000000-0000-0000-0000-000000000000}"/>
          </ac:spMkLst>
        </pc:spChg>
      </pc:sldChg>
      <pc:sldChg chg="modSp mod">
        <pc:chgData name="Aseel Hamed" userId="813afc8a16417df7" providerId="LiveId" clId="{A351547D-2B97-49F1-8421-1216D9F8E282}" dt="2026-09-24T16:18:40.649" v="176" actId="20577"/>
        <pc:sldMkLst>
          <pc:docMk/>
          <pc:sldMk cId="0" sldId="272"/>
        </pc:sldMkLst>
        <pc:spChg chg="mod">
          <ac:chgData name="Aseel Hamed" userId="813afc8a16417df7" providerId="LiveId" clId="{A351547D-2B97-49F1-8421-1216D9F8E282}" dt="2026-09-24T16:18:33.356" v="174" actId="20577"/>
          <ac:spMkLst>
            <pc:docMk/>
            <pc:sldMk cId="0" sldId="272"/>
            <ac:spMk id="17" creationId="{00000000-0000-0000-0000-000000000000}"/>
          </ac:spMkLst>
        </pc:spChg>
        <pc:spChg chg="mod">
          <ac:chgData name="Aseel Hamed" userId="813afc8a16417df7" providerId="LiveId" clId="{A351547D-2B97-49F1-8421-1216D9F8E282}" dt="2026-09-24T16:18:36.446" v="175" actId="20577"/>
          <ac:spMkLst>
            <pc:docMk/>
            <pc:sldMk cId="0" sldId="272"/>
            <ac:spMk id="20" creationId="{00000000-0000-0000-0000-000000000000}"/>
          </ac:spMkLst>
        </pc:spChg>
        <pc:spChg chg="mod">
          <ac:chgData name="Aseel Hamed" userId="813afc8a16417df7" providerId="LiveId" clId="{A351547D-2B97-49F1-8421-1216D9F8E282}" dt="2026-09-24T16:18:40.649" v="176" actId="20577"/>
          <ac:spMkLst>
            <pc:docMk/>
            <pc:sldMk cId="0" sldId="272"/>
            <ac:spMk id="23" creationId="{00000000-0000-0000-0000-000000000000}"/>
          </ac:spMkLst>
        </pc:spChg>
      </pc:sldChg>
      <pc:sldChg chg="modSp mod">
        <pc:chgData name="Aseel Hamed" userId="813afc8a16417df7" providerId="LiveId" clId="{A351547D-2B97-49F1-8421-1216D9F8E282}" dt="2026-09-24T16:19:05.813" v="182" actId="20577"/>
        <pc:sldMkLst>
          <pc:docMk/>
          <pc:sldMk cId="0" sldId="273"/>
        </pc:sldMkLst>
        <pc:spChg chg="mod">
          <ac:chgData name="Aseel Hamed" userId="813afc8a16417df7" providerId="LiveId" clId="{A351547D-2B97-49F1-8421-1216D9F8E282}" dt="2026-09-24T16:19:05.813" v="182" actId="20577"/>
          <ac:spMkLst>
            <pc:docMk/>
            <pc:sldMk cId="0" sldId="273"/>
            <ac:spMk id="22" creationId="{00000000-0000-0000-0000-000000000000}"/>
          </ac:spMkLst>
        </pc:spChg>
        <pc:spChg chg="mod">
          <ac:chgData name="Aseel Hamed" userId="813afc8a16417df7" providerId="LiveId" clId="{A351547D-2B97-49F1-8421-1216D9F8E282}" dt="2026-09-24T16:18:50.823" v="177" actId="14100"/>
          <ac:spMkLst>
            <pc:docMk/>
            <pc:sldMk cId="0" sldId="273"/>
            <ac:spMk id="40" creationId="{00000000-0000-0000-0000-000000000000}"/>
          </ac:spMkLst>
        </pc:spChg>
      </pc:sldChg>
      <pc:sldChg chg="modSp mod">
        <pc:chgData name="Aseel Hamed" userId="813afc8a16417df7" providerId="LiveId" clId="{A351547D-2B97-49F1-8421-1216D9F8E282}" dt="2026-09-24T16:19:20.674" v="184" actId="20577"/>
        <pc:sldMkLst>
          <pc:docMk/>
          <pc:sldMk cId="0" sldId="274"/>
        </pc:sldMkLst>
        <pc:spChg chg="mod">
          <ac:chgData name="Aseel Hamed" userId="813afc8a16417df7" providerId="LiveId" clId="{A351547D-2B97-49F1-8421-1216D9F8E282}" dt="2026-09-24T16:19:20.674" v="184" actId="20577"/>
          <ac:spMkLst>
            <pc:docMk/>
            <pc:sldMk cId="0" sldId="274"/>
            <ac:spMk id="23" creationId="{00000000-0000-0000-0000-000000000000}"/>
          </ac:spMkLst>
        </pc:spChg>
      </pc:sldChg>
      <pc:sldChg chg="addSp delSp modSp mod">
        <pc:chgData name="Aseel Hamed" userId="813afc8a16417df7" providerId="LiveId" clId="{A351547D-2B97-49F1-8421-1216D9F8E282}" dt="2026-09-24T16:19:50.345" v="191" actId="478"/>
        <pc:sldMkLst>
          <pc:docMk/>
          <pc:sldMk cId="0" sldId="275"/>
        </pc:sldMkLst>
        <pc:spChg chg="add del">
          <ac:chgData name="Aseel Hamed" userId="813afc8a16417df7" providerId="LiveId" clId="{A351547D-2B97-49F1-8421-1216D9F8E282}" dt="2026-09-24T16:19:49.937" v="189" actId="478"/>
          <ac:spMkLst>
            <pc:docMk/>
            <pc:sldMk cId="0" sldId="275"/>
            <ac:spMk id="13" creationId="{00000000-0000-0000-0000-000000000000}"/>
          </ac:spMkLst>
        </pc:spChg>
        <pc:spChg chg="add del">
          <ac:chgData name="Aseel Hamed" userId="813afc8a16417df7" providerId="LiveId" clId="{A351547D-2B97-49F1-8421-1216D9F8E282}" dt="2026-09-24T16:19:50.132" v="190" actId="478"/>
          <ac:spMkLst>
            <pc:docMk/>
            <pc:sldMk cId="0" sldId="275"/>
            <ac:spMk id="14" creationId="{00000000-0000-0000-0000-000000000000}"/>
          </ac:spMkLst>
        </pc:spChg>
        <pc:spChg chg="add del mod">
          <ac:chgData name="Aseel Hamed" userId="813afc8a16417df7" providerId="LiveId" clId="{A351547D-2B97-49F1-8421-1216D9F8E282}" dt="2026-09-24T16:19:50.345" v="191" actId="478"/>
          <ac:spMkLst>
            <pc:docMk/>
            <pc:sldMk cId="0" sldId="275"/>
            <ac:spMk id="15" creationId="{00000000-0000-0000-0000-000000000000}"/>
          </ac:spMkLst>
        </pc:spChg>
      </pc:sldChg>
      <pc:sldChg chg="modSp mod">
        <pc:chgData name="Aseel Hamed" userId="813afc8a16417df7" providerId="LiveId" clId="{A351547D-2B97-49F1-8421-1216D9F8E282}" dt="2026-09-24T16:20:03.742" v="192" actId="20577"/>
        <pc:sldMkLst>
          <pc:docMk/>
          <pc:sldMk cId="0" sldId="276"/>
        </pc:sldMkLst>
        <pc:spChg chg="mod">
          <ac:chgData name="Aseel Hamed" userId="813afc8a16417df7" providerId="LiveId" clId="{A351547D-2B97-49F1-8421-1216D9F8E282}" dt="2026-09-24T16:20:03.742" v="192" actId="20577"/>
          <ac:spMkLst>
            <pc:docMk/>
            <pc:sldMk cId="0" sldId="276"/>
            <ac:spMk id="43" creationId="{00000000-0000-0000-0000-000000000000}"/>
          </ac:spMkLst>
        </pc:spChg>
      </pc:sldChg>
      <pc:sldChg chg="delSp mod">
        <pc:chgData name="Aseel Hamed" userId="813afc8a16417df7" providerId="LiveId" clId="{A351547D-2B97-49F1-8421-1216D9F8E282}" dt="2026-09-24T16:20:14.388" v="193" actId="478"/>
        <pc:sldMkLst>
          <pc:docMk/>
          <pc:sldMk cId="0" sldId="277"/>
        </pc:sldMkLst>
        <pc:spChg chg="del">
          <ac:chgData name="Aseel Hamed" userId="813afc8a16417df7" providerId="LiveId" clId="{A351547D-2B97-49F1-8421-1216D9F8E282}" dt="2026-09-24T16:20:14.388" v="193" actId="478"/>
          <ac:spMkLst>
            <pc:docMk/>
            <pc:sldMk cId="0" sldId="277"/>
            <ac:spMk id="4" creationId="{00000000-0000-0000-0000-000000000000}"/>
          </ac:spMkLst>
        </pc:spChg>
      </pc:sldChg>
      <pc:sldChg chg="modSp mod">
        <pc:chgData name="Aseel Hamed" userId="813afc8a16417df7" providerId="LiveId" clId="{A351547D-2B97-49F1-8421-1216D9F8E282}" dt="2026-09-24T16:21:05.598" v="195" actId="20577"/>
        <pc:sldMkLst>
          <pc:docMk/>
          <pc:sldMk cId="0" sldId="278"/>
        </pc:sldMkLst>
        <pc:spChg chg="mod">
          <ac:chgData name="Aseel Hamed" userId="813afc8a16417df7" providerId="LiveId" clId="{A351547D-2B97-49F1-8421-1216D9F8E282}" dt="2026-09-24T16:21:05.598" v="195" actId="20577"/>
          <ac:spMkLst>
            <pc:docMk/>
            <pc:sldMk cId="0" sldId="278"/>
            <ac:spMk id="12" creationId="{00000000-0000-0000-0000-000000000000}"/>
          </ac:spMkLst>
        </pc:spChg>
      </pc:sldChg>
      <pc:sldChg chg="delSp mod">
        <pc:chgData name="Aseel Hamed" userId="813afc8a16417df7" providerId="LiveId" clId="{A351547D-2B97-49F1-8421-1216D9F8E282}" dt="2026-09-24T16:20:33.201" v="194" actId="478"/>
        <pc:sldMkLst>
          <pc:docMk/>
          <pc:sldMk cId="0" sldId="280"/>
        </pc:sldMkLst>
        <pc:spChg chg="del">
          <ac:chgData name="Aseel Hamed" userId="813afc8a16417df7" providerId="LiveId" clId="{A351547D-2B97-49F1-8421-1216D9F8E282}" dt="2026-09-24T16:20:33.201" v="194" actId="478"/>
          <ac:spMkLst>
            <pc:docMk/>
            <pc:sldMk cId="0" sldId="280"/>
            <ac:spMk id="8" creationId="{00000000-0000-0000-0000-000000000000}"/>
          </ac:spMkLst>
        </pc:spChg>
      </pc:sldChg>
    </pc:docChg>
  </pc:docChgLst>
  <pc:docChgLst>
    <pc:chgData name="Aseel Hamed" userId="813afc8a16417df7" providerId="LiveId" clId="{635D8E7A-B720-43C4-BE6C-916D3DBCBC14}"/>
    <pc:docChg chg="modSld">
      <pc:chgData name="Aseel Hamed" userId="813afc8a16417df7" providerId="LiveId" clId="{635D8E7A-B720-43C4-BE6C-916D3DBCBC14}" dt="2026-09-23T17:09:49.023" v="10" actId="20577"/>
      <pc:docMkLst>
        <pc:docMk/>
      </pc:docMkLst>
      <pc:sldChg chg="modSp mod">
        <pc:chgData name="Aseel Hamed" userId="813afc8a16417df7" providerId="LiveId" clId="{635D8E7A-B720-43C4-BE6C-916D3DBCBC14}" dt="2026-09-23T17:09:31.001" v="9" actId="1076"/>
        <pc:sldMkLst>
          <pc:docMk/>
          <pc:sldMk cId="0" sldId="267"/>
        </pc:sldMkLst>
        <pc:spChg chg="mod">
          <ac:chgData name="Aseel Hamed" userId="813afc8a16417df7" providerId="LiveId" clId="{635D8E7A-B720-43C4-BE6C-916D3DBCBC14}" dt="2026-09-23T17:09:31.001" v="9" actId="1076"/>
          <ac:spMkLst>
            <pc:docMk/>
            <pc:sldMk cId="0" sldId="267"/>
            <ac:spMk id="23" creationId="{00000000-0000-0000-0000-000000000000}"/>
          </ac:spMkLst>
        </pc:spChg>
        <pc:spChg chg="mod">
          <ac:chgData name="Aseel Hamed" userId="813afc8a16417df7" providerId="LiveId" clId="{635D8E7A-B720-43C4-BE6C-916D3DBCBC14}" dt="2026-09-23T17:09:28.676" v="8" actId="14100"/>
          <ac:spMkLst>
            <pc:docMk/>
            <pc:sldMk cId="0" sldId="267"/>
            <ac:spMk id="24" creationId="{00000000-0000-0000-0000-000000000000}"/>
          </ac:spMkLst>
        </pc:spChg>
        <pc:spChg chg="mod">
          <ac:chgData name="Aseel Hamed" userId="813afc8a16417df7" providerId="LiveId" clId="{635D8E7A-B720-43C4-BE6C-916D3DBCBC14}" dt="2026-09-23T17:08:59.446" v="2" actId="207"/>
          <ac:spMkLst>
            <pc:docMk/>
            <pc:sldMk cId="0" sldId="267"/>
            <ac:spMk id="27" creationId="{00000000-0000-0000-0000-000000000000}"/>
          </ac:spMkLst>
        </pc:spChg>
      </pc:sldChg>
      <pc:sldChg chg="modSp mod">
        <pc:chgData name="Aseel Hamed" userId="813afc8a16417df7" providerId="LiveId" clId="{635D8E7A-B720-43C4-BE6C-916D3DBCBC14}" dt="2026-09-23T17:09:49.023" v="10" actId="20577"/>
        <pc:sldMkLst>
          <pc:docMk/>
          <pc:sldMk cId="0" sldId="271"/>
        </pc:sldMkLst>
        <pc:spChg chg="mod">
          <ac:chgData name="Aseel Hamed" userId="813afc8a16417df7" providerId="LiveId" clId="{635D8E7A-B720-43C4-BE6C-916D3DBCBC14}" dt="2026-09-23T17:09:49.023" v="10" actId="20577"/>
          <ac:spMkLst>
            <pc:docMk/>
            <pc:sldMk cId="0" sldId="271"/>
            <ac:spMk id="32" creationId="{24F6B65E-80AA-93E2-FA30-32A2CD7FDCB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26113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line on the goal: people keep documents on a server they do not trust and can still share them. Name the three parts in the order they will be presented.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steps, then the two blocks. Present the simulated network as a choice with a reason, not as something missing.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the last row of the table: a full copy of server storage is in scope, and that drives Decision 7.1 and one of our stated limits.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map for the whole talk. Point at the Part column so the audience knows who answers what, and raise the non-repudiation row yourselves.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shared-contract block shows the team worked as one system rather than three folders. The drift line sets up slide 17.</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how we arrived at the numbers: half of 62^8, divided by guesses per second, where a GPU's guesses per second is bounded by memory — 24 GB over 128 MiB, each taking 0.2301 s. Order of magnitude for one plausible attacker, not a guarantee.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why the dummy salt must be deterministic: if it changed on every attempt an attacker could tell a real account from a fake one just by asking twice.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soften the stolen-store limit. State it, then give the structural reason. An acknowledged limit with a diagnosis scores; a vague one invites the question you cannot answer.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why the version and type bytes sit inside the authenticated data: so an attacker cannot re-label one object as another.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plaintext local state yourselves. Doing so turns a finding into a limitation you already knew about.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whether the simulated network weakens the result: no mechanism above it depends on the transport being trusted. Then point straight at the envelope limitation as the exception.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argument-order story shows judgement about what tests are for. Use it if asked how you know the implementation is correct rather than just consistent with itself.</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speed result is a strength: the specification asked for a measurement rather than a claim, and we report what we measured including the part that does not flatter us.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strongest evidence that the team tested across boundaries rather than only inside each module. Expect a question about how you kept three people's interfaces consistent — this is the answer.</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five checks in order and say what each one stops. This slide answers 'alter one field of the metadata now and show us what happens'.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document hash has landed before the presentation, change this block to say it is closed and show the test that fails on the old build and passes on the new one.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specification's own list of likely questions points straight at this slide. Rehearse it, and be ready to be asked to demonstrate the substitution.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Rehearse with the real commands. The four failure cases are demonstration items 6, 7 and 8, and they are the ones that go wrong live.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slide open during the demo if it helps; it maps one to one onto the specification's own table.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honest limitations section earns marks and a claim of unconditional security loses them. Do not let anyone talk you out of a row.</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three themes, then invite questions on the two open gaps yourselves if nobody raises them.</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B1F"/>
        </a:solidFill>
        <a:effectLst/>
      </p:bgPr>
    </p:bg>
    <p:spTree>
      <p:nvGrpSpPr>
        <p:cNvPr id="1" name=""/>
        <p:cNvGrpSpPr/>
        <p:nvPr/>
      </p:nvGrpSpPr>
      <p:grpSpPr>
        <a:xfrm>
          <a:off x="0" y="0"/>
          <a:ext cx="0" cy="0"/>
          <a:chOff x="0" y="0"/>
          <a:chExt cx="0" cy="0"/>
        </a:xfrm>
      </p:grpSpPr>
      <p:sp>
        <p:nvSpPr>
          <p:cNvPr id="2" name="Text 0"/>
          <p:cNvSpPr txBox="1"/>
          <p:nvPr/>
        </p:nvSpPr>
        <p:spPr>
          <a:xfrm>
            <a:off x="637032" y="1380744"/>
            <a:ext cx="10917936" cy="274320"/>
          </a:xfrm>
          <a:prstGeom prst="rect">
            <a:avLst/>
          </a:prstGeom>
          <a:noFill/>
          <a:ln/>
        </p:spPr>
        <p:txBody>
          <a:bodyPr wrap="square" lIns="0" tIns="0" rIns="0" bIns="0" rtlCol="0" anchor="ctr"/>
          <a:lstStyle/>
          <a:p>
            <a:pPr marL="0" indent="0">
              <a:buNone/>
            </a:pPr>
            <a:r>
              <a:rPr lang="en-US" sz="1150" b="1" kern="0" spc="300" dirty="0">
                <a:solidFill>
                  <a:srgbClr val="C0392F"/>
                </a:solidFill>
                <a:latin typeface="Arial" pitchFamily="34" charset="0"/>
                <a:ea typeface="Arial" pitchFamily="34" charset="-122"/>
                <a:cs typeface="Arial" pitchFamily="34" charset="-120"/>
              </a:rPr>
              <a:t>ENCS4320   ·   APPLIED CRYPTOGRAPHY   </a:t>
            </a:r>
            <a:endParaRPr lang="en-US" sz="1150" dirty="0"/>
          </a:p>
        </p:txBody>
      </p:sp>
      <p:sp>
        <p:nvSpPr>
          <p:cNvPr id="3" name="Text 1"/>
          <p:cNvSpPr txBox="1"/>
          <p:nvPr/>
        </p:nvSpPr>
        <p:spPr>
          <a:xfrm>
            <a:off x="621792" y="1810512"/>
            <a:ext cx="8686800" cy="1143000"/>
          </a:xfrm>
          <a:prstGeom prst="rect">
            <a:avLst/>
          </a:prstGeom>
          <a:noFill/>
          <a:ln/>
        </p:spPr>
        <p:txBody>
          <a:bodyPr wrap="square" lIns="0" tIns="0" rIns="0" bIns="0" rtlCol="0" anchor="ctr"/>
          <a:lstStyle/>
          <a:p>
            <a:pPr marL="0" indent="0">
              <a:buNone/>
            </a:pPr>
            <a:r>
              <a:rPr lang="en-US" sz="5200" b="1" dirty="0">
                <a:solidFill>
                  <a:srgbClr val="FFFFFF"/>
                </a:solidFill>
                <a:latin typeface="Bookman Old Style" pitchFamily="34" charset="0"/>
                <a:ea typeface="Bookman Old Style" pitchFamily="34" charset="-122"/>
                <a:cs typeface="Bookman Old Style" pitchFamily="34" charset="-120"/>
              </a:rPr>
              <a:t>SecureVault</a:t>
            </a:r>
            <a:endParaRPr lang="en-US" sz="5200" dirty="0"/>
          </a:p>
        </p:txBody>
      </p:sp>
      <p:sp>
        <p:nvSpPr>
          <p:cNvPr id="4" name="Text 2"/>
          <p:cNvSpPr txBox="1"/>
          <p:nvPr/>
        </p:nvSpPr>
        <p:spPr>
          <a:xfrm>
            <a:off x="621792" y="2944368"/>
            <a:ext cx="7863840" cy="640080"/>
          </a:xfrm>
          <a:prstGeom prst="rect">
            <a:avLst/>
          </a:prstGeom>
          <a:noFill/>
          <a:ln/>
        </p:spPr>
        <p:txBody>
          <a:bodyPr wrap="square" lIns="0" tIns="0" rIns="0" bIns="0" rtlCol="0" anchor="ctr"/>
          <a:lstStyle/>
          <a:p>
            <a:pPr marL="0" indent="0">
              <a:buNone/>
            </a:pPr>
            <a:r>
              <a:rPr lang="en-US" sz="1550" dirty="0">
                <a:solidFill>
                  <a:srgbClr val="A6A2AE"/>
                </a:solidFill>
                <a:latin typeface="Arial" pitchFamily="34" charset="0"/>
                <a:ea typeface="Arial" pitchFamily="34" charset="-122"/>
                <a:cs typeface="Arial" pitchFamily="34" charset="-120"/>
              </a:rPr>
              <a:t>A multi-user encrypted document exchange system built on an untrusted server</a:t>
            </a:r>
            <a:endParaRPr lang="en-US" sz="1550" dirty="0"/>
          </a:p>
        </p:txBody>
      </p:sp>
      <p:sp>
        <p:nvSpPr>
          <p:cNvPr id="5" name="Shape 3"/>
          <p:cNvSpPr/>
          <p:nvPr/>
        </p:nvSpPr>
        <p:spPr>
          <a:xfrm>
            <a:off x="621792" y="3977640"/>
            <a:ext cx="10917936" cy="0"/>
          </a:xfrm>
          <a:prstGeom prst="line">
            <a:avLst/>
          </a:prstGeom>
          <a:noFill/>
          <a:ln w="9525">
            <a:solidFill>
              <a:srgbClr val="4A4653"/>
            </a:solidFill>
            <a:prstDash val="solid"/>
          </a:ln>
        </p:spPr>
      </p:sp>
      <p:sp>
        <p:nvSpPr>
          <p:cNvPr id="6" name="Text 4"/>
          <p:cNvSpPr txBox="1"/>
          <p:nvPr/>
        </p:nvSpPr>
        <p:spPr>
          <a:xfrm>
            <a:off x="621792" y="4160520"/>
            <a:ext cx="3182112" cy="256032"/>
          </a:xfrm>
          <a:prstGeom prst="rect">
            <a:avLst/>
          </a:prstGeom>
          <a:noFill/>
          <a:ln/>
        </p:spPr>
        <p:txBody>
          <a:bodyPr wrap="square" lIns="0" tIns="0" rIns="0" bIns="0" rtlCol="0" anchor="ctr"/>
          <a:lstStyle/>
          <a:p>
            <a:pPr marL="0" indent="0">
              <a:buNone/>
            </a:pPr>
            <a:r>
              <a:rPr lang="en-US" sz="1100" b="1" kern="0" spc="200" dirty="0">
                <a:solidFill>
                  <a:srgbClr val="C0392F"/>
                </a:solidFill>
                <a:latin typeface="Arial" pitchFamily="34" charset="0"/>
                <a:ea typeface="Arial" pitchFamily="34" charset="-122"/>
                <a:cs typeface="Arial" pitchFamily="34" charset="-120"/>
              </a:rPr>
              <a:t>PART 1</a:t>
            </a:r>
            <a:endParaRPr lang="en-US" sz="1100" dirty="0"/>
          </a:p>
        </p:txBody>
      </p:sp>
      <p:sp>
        <p:nvSpPr>
          <p:cNvPr id="7" name="Text 5"/>
          <p:cNvSpPr txBox="1"/>
          <p:nvPr/>
        </p:nvSpPr>
        <p:spPr>
          <a:xfrm>
            <a:off x="621792" y="4453128"/>
            <a:ext cx="3182112" cy="731520"/>
          </a:xfrm>
          <a:prstGeom prst="rect">
            <a:avLst/>
          </a:prstGeom>
          <a:noFill/>
          <a:ln/>
        </p:spPr>
        <p:txBody>
          <a:bodyPr wrap="square" lIns="0" tIns="0" rIns="0" bIns="0" rtlCol="0" anchor="t"/>
          <a:lstStyle/>
          <a:p>
            <a:pPr marL="0" indent="0">
              <a:buNone/>
            </a:pPr>
            <a:r>
              <a:rPr lang="en-US" sz="1150" dirty="0">
                <a:solidFill>
                  <a:srgbClr val="C6C2CC"/>
                </a:solidFill>
                <a:latin typeface="Arial" pitchFamily="34" charset="0"/>
                <a:ea typeface="Arial" pitchFamily="34" charset="-122"/>
                <a:cs typeface="Arial" pitchFamily="34" charset="-120"/>
              </a:rPr>
              <a:t>Accounts, key hierarchy, RSA-PSS, HMAC and HKDF</a:t>
            </a:r>
            <a:endParaRPr lang="en-US" sz="1150" dirty="0"/>
          </a:p>
        </p:txBody>
      </p:sp>
      <p:sp>
        <p:nvSpPr>
          <p:cNvPr id="8" name="Text 6"/>
          <p:cNvSpPr txBox="1"/>
          <p:nvPr/>
        </p:nvSpPr>
        <p:spPr>
          <a:xfrm>
            <a:off x="4261104" y="4160520"/>
            <a:ext cx="3182112" cy="256032"/>
          </a:xfrm>
          <a:prstGeom prst="rect">
            <a:avLst/>
          </a:prstGeom>
          <a:noFill/>
          <a:ln/>
        </p:spPr>
        <p:txBody>
          <a:bodyPr wrap="square" lIns="0" tIns="0" rIns="0" bIns="0" rtlCol="0" anchor="ctr"/>
          <a:lstStyle/>
          <a:p>
            <a:pPr marL="0" indent="0">
              <a:buNone/>
            </a:pPr>
            <a:r>
              <a:rPr lang="en-US" sz="1100" b="1" kern="0" spc="200" dirty="0">
                <a:solidFill>
                  <a:srgbClr val="C0392F"/>
                </a:solidFill>
                <a:latin typeface="Arial" pitchFamily="34" charset="0"/>
                <a:ea typeface="Arial" pitchFamily="34" charset="-122"/>
                <a:cs typeface="Arial" pitchFamily="34" charset="-120"/>
              </a:rPr>
              <a:t>PART 2</a:t>
            </a:r>
            <a:endParaRPr lang="en-US" sz="1100" dirty="0"/>
          </a:p>
        </p:txBody>
      </p:sp>
      <p:sp>
        <p:nvSpPr>
          <p:cNvPr id="9" name="Text 7"/>
          <p:cNvSpPr txBox="1"/>
          <p:nvPr/>
        </p:nvSpPr>
        <p:spPr>
          <a:xfrm>
            <a:off x="4261104" y="4453128"/>
            <a:ext cx="3182112" cy="731520"/>
          </a:xfrm>
          <a:prstGeom prst="rect">
            <a:avLst/>
          </a:prstGeom>
          <a:noFill/>
          <a:ln/>
        </p:spPr>
        <p:txBody>
          <a:bodyPr wrap="square" lIns="0" tIns="0" rIns="0" bIns="0" rtlCol="0" anchor="t"/>
          <a:lstStyle/>
          <a:p>
            <a:pPr marL="0" indent="0">
              <a:buNone/>
            </a:pPr>
            <a:r>
              <a:rPr lang="en-US" sz="1150" dirty="0">
                <a:solidFill>
                  <a:srgbClr val="C6C2CC"/>
                </a:solidFill>
                <a:latin typeface="Arial" pitchFamily="34" charset="0"/>
                <a:ea typeface="Arial" pitchFamily="34" charset="-122"/>
                <a:cs typeface="Arial" pitchFamily="34" charset="-120"/>
              </a:rPr>
              <a:t>Formats, ChaCha20-Poly1305, transport, client and server</a:t>
            </a:r>
            <a:endParaRPr lang="en-US" sz="1150" dirty="0"/>
          </a:p>
        </p:txBody>
      </p:sp>
      <p:sp>
        <p:nvSpPr>
          <p:cNvPr id="10" name="Text 8"/>
          <p:cNvSpPr txBox="1"/>
          <p:nvPr/>
        </p:nvSpPr>
        <p:spPr>
          <a:xfrm>
            <a:off x="7900416" y="4160520"/>
            <a:ext cx="3182112" cy="256032"/>
          </a:xfrm>
          <a:prstGeom prst="rect">
            <a:avLst/>
          </a:prstGeom>
          <a:noFill/>
          <a:ln/>
        </p:spPr>
        <p:txBody>
          <a:bodyPr wrap="square" lIns="0" tIns="0" rIns="0" bIns="0" rtlCol="0" anchor="ctr"/>
          <a:lstStyle/>
          <a:p>
            <a:pPr marL="0" indent="0">
              <a:buNone/>
            </a:pPr>
            <a:r>
              <a:rPr lang="en-US" sz="1100" b="1" kern="0" spc="200" dirty="0">
                <a:solidFill>
                  <a:srgbClr val="C0392F"/>
                </a:solidFill>
                <a:latin typeface="Arial" pitchFamily="34" charset="0"/>
                <a:ea typeface="Arial" pitchFamily="34" charset="-122"/>
                <a:cs typeface="Arial" pitchFamily="34" charset="-120"/>
              </a:rPr>
              <a:t>PART 3</a:t>
            </a:r>
            <a:endParaRPr lang="en-US" sz="1100" dirty="0"/>
          </a:p>
        </p:txBody>
      </p:sp>
      <p:sp>
        <p:nvSpPr>
          <p:cNvPr id="11" name="Text 9"/>
          <p:cNvSpPr txBox="1"/>
          <p:nvPr/>
        </p:nvSpPr>
        <p:spPr>
          <a:xfrm>
            <a:off x="7900416" y="4453128"/>
            <a:ext cx="3182112" cy="731520"/>
          </a:xfrm>
          <a:prstGeom prst="rect">
            <a:avLst/>
          </a:prstGeom>
          <a:noFill/>
          <a:ln/>
        </p:spPr>
        <p:txBody>
          <a:bodyPr wrap="square" lIns="0" tIns="0" rIns="0" bIns="0" rtlCol="0" anchor="t"/>
          <a:lstStyle/>
          <a:p>
            <a:pPr marL="0" indent="0">
              <a:buNone/>
            </a:pPr>
            <a:r>
              <a:rPr lang="en-US" sz="1150" dirty="0">
                <a:solidFill>
                  <a:srgbClr val="C6C2CC"/>
                </a:solidFill>
                <a:latin typeface="Arial" pitchFamily="34" charset="0"/>
                <a:ea typeface="Arial" pitchFamily="34" charset="-122"/>
                <a:cs typeface="Arial" pitchFamily="34" charset="-120"/>
              </a:rPr>
              <a:t>P-256 and ECDH, sharing, TOFU, freshness</a:t>
            </a:r>
            <a:endParaRPr lang="en-US" sz="1150" dirty="0"/>
          </a:p>
        </p:txBody>
      </p:sp>
      <p:sp>
        <p:nvSpPr>
          <p:cNvPr id="12" name="Text 10"/>
          <p:cNvSpPr txBox="1"/>
          <p:nvPr/>
        </p:nvSpPr>
        <p:spPr>
          <a:xfrm>
            <a:off x="637032" y="5184648"/>
            <a:ext cx="10917936" cy="274320"/>
          </a:xfrm>
          <a:prstGeom prst="rect">
            <a:avLst/>
          </a:prstGeom>
          <a:noFill/>
          <a:ln/>
        </p:spPr>
        <p:txBody>
          <a:bodyPr wrap="square" lIns="0" tIns="0" rIns="0" bIns="0" rtlCol="0" anchor="ctr"/>
          <a:lstStyle/>
          <a:p>
            <a:pPr marL="0" indent="0">
              <a:buNone/>
            </a:pPr>
            <a:r>
              <a:rPr lang="en-US" sz="1050" dirty="0">
                <a:solidFill>
                  <a:srgbClr val="6B6773"/>
                </a:solidFill>
                <a:latin typeface="Arial" pitchFamily="34" charset="0"/>
                <a:ea typeface="Arial" pitchFamily="34" charset="-122"/>
                <a:cs typeface="Arial" pitchFamily="34" charset="-120"/>
              </a:rPr>
              <a:t>Birzeit University   ·   Faculty of Engineering and Technology</a:t>
            </a:r>
            <a:endParaRPr lang="en-US" sz="1050" dirty="0"/>
          </a:p>
        </p:txBody>
      </p:sp>
      <p:sp>
        <p:nvSpPr>
          <p:cNvPr id="13" name="Text 10">
            <a:extLst>
              <a:ext uri="{FF2B5EF4-FFF2-40B4-BE49-F238E27FC236}">
                <a16:creationId xmlns:a16="http://schemas.microsoft.com/office/drawing/2014/main" id="{5C254CF7-A2A0-2940-AEB7-5A9B0017136C}"/>
              </a:ext>
            </a:extLst>
          </p:cNvPr>
          <p:cNvSpPr txBox="1"/>
          <p:nvPr/>
        </p:nvSpPr>
        <p:spPr>
          <a:xfrm>
            <a:off x="621792" y="5632704"/>
            <a:ext cx="10917936" cy="850392"/>
          </a:xfrm>
          <a:prstGeom prst="rect">
            <a:avLst/>
          </a:prstGeom>
          <a:noFill/>
          <a:ln/>
        </p:spPr>
        <p:txBody>
          <a:bodyPr wrap="square" lIns="0" tIns="0" rIns="0" bIns="0" rtlCol="0" anchor="ctr"/>
          <a:lstStyle/>
          <a:p>
            <a:pPr marL="0" indent="0">
              <a:buNone/>
            </a:pPr>
            <a:r>
              <a:rPr lang="en-US" sz="1050" dirty="0">
                <a:solidFill>
                  <a:srgbClr val="6B6773"/>
                </a:solidFill>
                <a:latin typeface="Arial" pitchFamily="34" charset="0"/>
                <a:cs typeface="Arial" pitchFamily="34" charset="-120"/>
              </a:rPr>
              <a:t>Aseel Hamed        1231891</a:t>
            </a:r>
          </a:p>
          <a:p>
            <a:pPr marL="0" indent="0">
              <a:buNone/>
            </a:pPr>
            <a:r>
              <a:rPr lang="en-US" sz="1050" dirty="0" err="1">
                <a:solidFill>
                  <a:srgbClr val="6B6773"/>
                </a:solidFill>
                <a:latin typeface="Arial" pitchFamily="34" charset="0"/>
                <a:cs typeface="Arial" pitchFamily="34" charset="-120"/>
              </a:rPr>
              <a:t>Ru’a</a:t>
            </a:r>
            <a:r>
              <a:rPr lang="en-US" sz="1050" dirty="0">
                <a:solidFill>
                  <a:srgbClr val="6B6773"/>
                </a:solidFill>
                <a:latin typeface="Arial" pitchFamily="34" charset="0"/>
                <a:cs typeface="Arial" pitchFamily="34" charset="-120"/>
              </a:rPr>
              <a:t> Othman         1230014</a:t>
            </a:r>
          </a:p>
          <a:p>
            <a:pPr marL="0" indent="0">
              <a:buNone/>
            </a:pPr>
            <a:r>
              <a:rPr lang="en-US" sz="1050" dirty="0" err="1">
                <a:solidFill>
                  <a:srgbClr val="6B6773"/>
                </a:solidFill>
                <a:latin typeface="Arial" pitchFamily="34" charset="0"/>
                <a:cs typeface="Arial" pitchFamily="34" charset="-120"/>
              </a:rPr>
              <a:t>Yaqeen</a:t>
            </a:r>
            <a:r>
              <a:rPr lang="en-US" sz="1050" dirty="0">
                <a:solidFill>
                  <a:srgbClr val="6B6773"/>
                </a:solidFill>
                <a:latin typeface="Arial" pitchFamily="34" charset="0"/>
                <a:cs typeface="Arial" pitchFamily="34" charset="-120"/>
              </a:rPr>
              <a:t> Salameh   1230011</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21792" y="329184"/>
            <a:ext cx="9820656" cy="237744"/>
          </a:xfrm>
          <a:prstGeom prst="rect">
            <a:avLst/>
          </a:prstGeom>
          <a:noFill/>
          <a:ln/>
        </p:spPr>
        <p:txBody>
          <a:bodyPr wrap="square" lIns="0" tIns="0" rIns="0" bIns="0" rtlCol="0" anchor="ctr"/>
          <a:lstStyle/>
          <a:p>
            <a:pPr marL="0" indent="0">
              <a:buNone/>
            </a:pPr>
            <a:r>
              <a:rPr lang="en-US" sz="950" b="1" kern="0" spc="250" dirty="0">
                <a:solidFill>
                  <a:srgbClr val="C0392F"/>
                </a:solidFill>
                <a:latin typeface="Arial" pitchFamily="34" charset="0"/>
                <a:ea typeface="Arial" pitchFamily="34" charset="-122"/>
                <a:cs typeface="Arial" pitchFamily="34" charset="-120"/>
              </a:rPr>
              <a:t>OVERVIEW</a:t>
            </a:r>
            <a:endParaRPr lang="en-US" sz="950" dirty="0"/>
          </a:p>
        </p:txBody>
      </p:sp>
      <p:sp>
        <p:nvSpPr>
          <p:cNvPr id="3" name="Text 1"/>
          <p:cNvSpPr txBox="1"/>
          <p:nvPr/>
        </p:nvSpPr>
        <p:spPr>
          <a:xfrm>
            <a:off x="621792" y="603504"/>
            <a:ext cx="10917936" cy="530352"/>
          </a:xfrm>
          <a:prstGeom prst="rect">
            <a:avLst/>
          </a:prstGeom>
          <a:noFill/>
          <a:ln/>
        </p:spPr>
        <p:txBody>
          <a:bodyPr wrap="square" lIns="0" tIns="0" rIns="0" bIns="0" rtlCol="0" anchor="ctr"/>
          <a:lstStyle/>
          <a:p>
            <a:pPr marL="0" indent="0">
              <a:buNone/>
            </a:pPr>
            <a:r>
              <a:rPr lang="en-US" sz="2500" b="1" dirty="0">
                <a:solidFill>
                  <a:srgbClr val="26242B"/>
                </a:solidFill>
                <a:latin typeface="Bookman Old Style" pitchFamily="34" charset="0"/>
                <a:ea typeface="Bookman Old Style" pitchFamily="34" charset="-122"/>
                <a:cs typeface="Bookman Old Style" pitchFamily="34" charset="-120"/>
              </a:rPr>
              <a:t>The problem, in one story</a:t>
            </a:r>
            <a:endParaRPr lang="en-US" sz="2500" dirty="0"/>
          </a:p>
        </p:txBody>
      </p:sp>
      <p:sp>
        <p:nvSpPr>
          <p:cNvPr id="4" name="Text 2"/>
          <p:cNvSpPr txBox="1"/>
          <p:nvPr/>
        </p:nvSpPr>
        <p:spPr>
          <a:xfrm>
            <a:off x="621792" y="1133856"/>
            <a:ext cx="10917936" cy="274320"/>
          </a:xfrm>
          <a:prstGeom prst="rect">
            <a:avLst/>
          </a:prstGeom>
          <a:noFill/>
          <a:ln/>
        </p:spPr>
        <p:txBody>
          <a:bodyPr wrap="square" lIns="0" tIns="0" rIns="0" bIns="0" rtlCol="0" anchor="ctr"/>
          <a:lstStyle/>
          <a:p>
            <a:pPr marL="0" indent="0">
              <a:buNone/>
            </a:pPr>
            <a:r>
              <a:rPr lang="en-US" sz="1200" dirty="0">
                <a:solidFill>
                  <a:srgbClr val="76737E"/>
                </a:solidFill>
                <a:latin typeface="Arial" pitchFamily="34" charset="0"/>
                <a:ea typeface="Arial" pitchFamily="34" charset="-122"/>
                <a:cs typeface="Arial" pitchFamily="34" charset="-120"/>
              </a:rPr>
              <a:t>Everything in the design exists to make this story safe</a:t>
            </a:r>
            <a:endParaRPr lang="en-US" sz="1200" dirty="0"/>
          </a:p>
        </p:txBody>
      </p:sp>
      <p:sp>
        <p:nvSpPr>
          <p:cNvPr id="5" name="Text 3"/>
          <p:cNvSpPr txBox="1"/>
          <p:nvPr/>
        </p:nvSpPr>
        <p:spPr>
          <a:xfrm>
            <a:off x="10899648" y="310896"/>
            <a:ext cx="640080" cy="274320"/>
          </a:xfrm>
          <a:prstGeom prst="rect">
            <a:avLst/>
          </a:prstGeom>
          <a:noFill/>
          <a:ln/>
        </p:spPr>
        <p:txBody>
          <a:bodyPr wrap="square" lIns="0" tIns="0" rIns="0" bIns="0" rtlCol="0" anchor="ctr"/>
          <a:lstStyle/>
          <a:p>
            <a:pPr marL="0" indent="0" algn="r">
              <a:buNone/>
            </a:pPr>
            <a:r>
              <a:rPr lang="en-US" sz="1100" b="1" dirty="0">
                <a:solidFill>
                  <a:srgbClr val="DEDCE2"/>
                </a:solidFill>
                <a:latin typeface="Arial" pitchFamily="34" charset="0"/>
                <a:ea typeface="Arial" pitchFamily="34" charset="-122"/>
                <a:cs typeface="Arial" pitchFamily="34" charset="-120"/>
              </a:rPr>
              <a:t>02</a:t>
            </a:r>
            <a:endParaRPr lang="en-US" sz="1100" dirty="0"/>
          </a:p>
        </p:txBody>
      </p:sp>
      <p:sp>
        <p:nvSpPr>
          <p:cNvPr id="6" name="Text 4"/>
          <p:cNvSpPr txBox="1"/>
          <p:nvPr/>
        </p:nvSpPr>
        <p:spPr>
          <a:xfrm>
            <a:off x="621792" y="1517904"/>
            <a:ext cx="822960" cy="402336"/>
          </a:xfrm>
          <a:prstGeom prst="rect">
            <a:avLst/>
          </a:prstGeom>
          <a:noFill/>
          <a:ln/>
        </p:spPr>
        <p:txBody>
          <a:bodyPr wrap="square" lIns="0" tIns="0" rIns="0" bIns="0" rtlCol="0" anchor="ctr"/>
          <a:lstStyle/>
          <a:p>
            <a:pPr marL="0" indent="0">
              <a:buNone/>
            </a:pPr>
            <a:r>
              <a:rPr lang="en-US" sz="2200" b="1" dirty="0">
                <a:solidFill>
                  <a:srgbClr val="C0392F"/>
                </a:solidFill>
                <a:latin typeface="Bookman Old Style" pitchFamily="34" charset="0"/>
                <a:ea typeface="Bookman Old Style" pitchFamily="34" charset="-122"/>
                <a:cs typeface="Bookman Old Style" pitchFamily="34" charset="-120"/>
              </a:rPr>
              <a:t>01</a:t>
            </a:r>
            <a:endParaRPr lang="en-US" sz="2200" dirty="0"/>
          </a:p>
        </p:txBody>
      </p:sp>
      <p:sp>
        <p:nvSpPr>
          <p:cNvPr id="7" name="Text 5"/>
          <p:cNvSpPr txBox="1"/>
          <p:nvPr/>
        </p:nvSpPr>
        <p:spPr>
          <a:xfrm>
            <a:off x="621792" y="1920240"/>
            <a:ext cx="2496312" cy="274320"/>
          </a:xfrm>
          <a:prstGeom prst="rect">
            <a:avLst/>
          </a:prstGeom>
          <a:noFill/>
          <a:ln/>
        </p:spPr>
        <p:txBody>
          <a:bodyPr wrap="square" lIns="0" tIns="0" rIns="0" bIns="0" rtlCol="0" anchor="ctr"/>
          <a:lstStyle/>
          <a:p>
            <a:pPr marL="0" indent="0">
              <a:buNone/>
            </a:pPr>
            <a:r>
              <a:rPr lang="en-US" sz="1200" b="1" dirty="0">
                <a:solidFill>
                  <a:srgbClr val="26242B"/>
                </a:solidFill>
                <a:latin typeface="Arial" pitchFamily="34" charset="0"/>
                <a:ea typeface="Arial" pitchFamily="34" charset="-122"/>
                <a:cs typeface="Arial" pitchFamily="34" charset="-120"/>
              </a:rPr>
              <a:t>Layla signs up</a:t>
            </a:r>
            <a:endParaRPr lang="en-US" sz="1200" dirty="0"/>
          </a:p>
        </p:txBody>
      </p:sp>
      <p:sp>
        <p:nvSpPr>
          <p:cNvPr id="8" name="Text 6"/>
          <p:cNvSpPr txBox="1"/>
          <p:nvPr/>
        </p:nvSpPr>
        <p:spPr>
          <a:xfrm>
            <a:off x="621792" y="2194560"/>
            <a:ext cx="2496312" cy="566928"/>
          </a:xfrm>
          <a:prstGeom prst="rect">
            <a:avLst/>
          </a:prstGeom>
          <a:noFill/>
          <a:ln/>
        </p:spPr>
        <p:txBody>
          <a:bodyPr wrap="square" lIns="0" tIns="0" rIns="0" bIns="0" rtlCol="0" anchor="t"/>
          <a:lstStyle/>
          <a:p>
            <a:pPr marL="0" indent="0">
              <a:buNone/>
            </a:pPr>
            <a:r>
              <a:rPr lang="en-US" sz="1050" dirty="0">
                <a:solidFill>
                  <a:srgbClr val="76737E"/>
                </a:solidFill>
                <a:latin typeface="Arial" pitchFamily="34" charset="0"/>
                <a:ea typeface="Arial" pitchFamily="34" charset="-122"/>
                <a:cs typeface="Arial" pitchFamily="34" charset="-120"/>
              </a:rPr>
              <a:t>A password she chooses, on her own machine</a:t>
            </a:r>
            <a:endParaRPr lang="en-US" sz="1050" dirty="0"/>
          </a:p>
        </p:txBody>
      </p:sp>
      <p:sp>
        <p:nvSpPr>
          <p:cNvPr id="9" name="Shape 7"/>
          <p:cNvSpPr/>
          <p:nvPr/>
        </p:nvSpPr>
        <p:spPr>
          <a:xfrm>
            <a:off x="621792" y="1883664"/>
            <a:ext cx="2496312" cy="0"/>
          </a:xfrm>
          <a:prstGeom prst="line">
            <a:avLst/>
          </a:prstGeom>
          <a:noFill/>
          <a:ln w="9525">
            <a:solidFill>
              <a:srgbClr val="DEDCE2"/>
            </a:solidFill>
            <a:prstDash val="solid"/>
          </a:ln>
        </p:spPr>
      </p:sp>
      <p:sp>
        <p:nvSpPr>
          <p:cNvPr id="10" name="Text 8"/>
          <p:cNvSpPr txBox="1"/>
          <p:nvPr/>
        </p:nvSpPr>
        <p:spPr>
          <a:xfrm>
            <a:off x="3429000" y="1517904"/>
            <a:ext cx="822960" cy="402336"/>
          </a:xfrm>
          <a:prstGeom prst="rect">
            <a:avLst/>
          </a:prstGeom>
          <a:noFill/>
          <a:ln/>
        </p:spPr>
        <p:txBody>
          <a:bodyPr wrap="square" lIns="0" tIns="0" rIns="0" bIns="0" rtlCol="0" anchor="ctr"/>
          <a:lstStyle/>
          <a:p>
            <a:pPr marL="0" indent="0">
              <a:buNone/>
            </a:pPr>
            <a:r>
              <a:rPr lang="en-US" sz="2200" b="1" dirty="0">
                <a:solidFill>
                  <a:srgbClr val="C0392F"/>
                </a:solidFill>
                <a:latin typeface="Bookman Old Style" pitchFamily="34" charset="0"/>
                <a:ea typeface="Bookman Old Style" pitchFamily="34" charset="-122"/>
                <a:cs typeface="Bookman Old Style" pitchFamily="34" charset="-120"/>
              </a:rPr>
              <a:t>02</a:t>
            </a:r>
            <a:endParaRPr lang="en-US" sz="2200" dirty="0"/>
          </a:p>
        </p:txBody>
      </p:sp>
      <p:sp>
        <p:nvSpPr>
          <p:cNvPr id="11" name="Text 9"/>
          <p:cNvSpPr txBox="1"/>
          <p:nvPr/>
        </p:nvSpPr>
        <p:spPr>
          <a:xfrm>
            <a:off x="3429000" y="1920240"/>
            <a:ext cx="2496312" cy="274320"/>
          </a:xfrm>
          <a:prstGeom prst="rect">
            <a:avLst/>
          </a:prstGeom>
          <a:noFill/>
          <a:ln/>
        </p:spPr>
        <p:txBody>
          <a:bodyPr wrap="square" lIns="0" tIns="0" rIns="0" bIns="0" rtlCol="0" anchor="ctr"/>
          <a:lstStyle/>
          <a:p>
            <a:pPr marL="0" indent="0">
              <a:buNone/>
            </a:pPr>
            <a:r>
              <a:rPr lang="en-US" sz="1200" b="1" dirty="0">
                <a:solidFill>
                  <a:srgbClr val="26242B"/>
                </a:solidFill>
                <a:latin typeface="Arial" pitchFamily="34" charset="0"/>
                <a:ea typeface="Arial" pitchFamily="34" charset="-122"/>
                <a:cs typeface="Arial" pitchFamily="34" charset="-120"/>
              </a:rPr>
              <a:t>She uploads a file</a:t>
            </a:r>
            <a:endParaRPr lang="en-US" sz="1200" dirty="0"/>
          </a:p>
        </p:txBody>
      </p:sp>
      <p:sp>
        <p:nvSpPr>
          <p:cNvPr id="12" name="Text 10"/>
          <p:cNvSpPr txBox="1"/>
          <p:nvPr/>
        </p:nvSpPr>
        <p:spPr>
          <a:xfrm>
            <a:off x="3429000" y="2194560"/>
            <a:ext cx="2496312" cy="566928"/>
          </a:xfrm>
          <a:prstGeom prst="rect">
            <a:avLst/>
          </a:prstGeom>
          <a:noFill/>
          <a:ln/>
        </p:spPr>
        <p:txBody>
          <a:bodyPr wrap="square" lIns="0" tIns="0" rIns="0" bIns="0" rtlCol="0" anchor="t"/>
          <a:lstStyle/>
          <a:p>
            <a:pPr marL="0" indent="0">
              <a:buNone/>
            </a:pPr>
            <a:r>
              <a:rPr lang="en-US" sz="1050" dirty="0">
                <a:solidFill>
                  <a:srgbClr val="76737E"/>
                </a:solidFill>
                <a:latin typeface="Arial" pitchFamily="34" charset="0"/>
                <a:ea typeface="Arial" pitchFamily="34" charset="-122"/>
                <a:cs typeface="Arial" pitchFamily="34" charset="-120"/>
              </a:rPr>
              <a:t>The server stores encrypted contents and can see required metadata</a:t>
            </a:r>
            <a:endParaRPr lang="en-US" sz="1050" dirty="0"/>
          </a:p>
        </p:txBody>
      </p:sp>
      <p:sp>
        <p:nvSpPr>
          <p:cNvPr id="13" name="Shape 11"/>
          <p:cNvSpPr/>
          <p:nvPr/>
        </p:nvSpPr>
        <p:spPr>
          <a:xfrm>
            <a:off x="3429000" y="1883664"/>
            <a:ext cx="2496312" cy="0"/>
          </a:xfrm>
          <a:prstGeom prst="line">
            <a:avLst/>
          </a:prstGeom>
          <a:noFill/>
          <a:ln w="9525">
            <a:solidFill>
              <a:srgbClr val="DEDCE2"/>
            </a:solidFill>
            <a:prstDash val="solid"/>
          </a:ln>
        </p:spPr>
      </p:sp>
      <p:sp>
        <p:nvSpPr>
          <p:cNvPr id="14" name="Text 12"/>
          <p:cNvSpPr txBox="1"/>
          <p:nvPr/>
        </p:nvSpPr>
        <p:spPr>
          <a:xfrm>
            <a:off x="6236208" y="1517904"/>
            <a:ext cx="822960" cy="402336"/>
          </a:xfrm>
          <a:prstGeom prst="rect">
            <a:avLst/>
          </a:prstGeom>
          <a:noFill/>
          <a:ln/>
        </p:spPr>
        <p:txBody>
          <a:bodyPr wrap="square" lIns="0" tIns="0" rIns="0" bIns="0" rtlCol="0" anchor="ctr"/>
          <a:lstStyle/>
          <a:p>
            <a:pPr marL="0" indent="0">
              <a:buNone/>
            </a:pPr>
            <a:r>
              <a:rPr lang="en-US" sz="2200" b="1" dirty="0">
                <a:solidFill>
                  <a:srgbClr val="C0392F"/>
                </a:solidFill>
                <a:latin typeface="Bookman Old Style" pitchFamily="34" charset="0"/>
                <a:ea typeface="Bookman Old Style" pitchFamily="34" charset="-122"/>
                <a:cs typeface="Bookman Old Style" pitchFamily="34" charset="-120"/>
              </a:rPr>
              <a:t>03</a:t>
            </a:r>
            <a:endParaRPr lang="en-US" sz="2200" dirty="0"/>
          </a:p>
        </p:txBody>
      </p:sp>
      <p:sp>
        <p:nvSpPr>
          <p:cNvPr id="15" name="Text 13"/>
          <p:cNvSpPr txBox="1"/>
          <p:nvPr/>
        </p:nvSpPr>
        <p:spPr>
          <a:xfrm>
            <a:off x="6236208" y="1920240"/>
            <a:ext cx="2496312" cy="274320"/>
          </a:xfrm>
          <a:prstGeom prst="rect">
            <a:avLst/>
          </a:prstGeom>
          <a:noFill/>
          <a:ln/>
        </p:spPr>
        <p:txBody>
          <a:bodyPr wrap="square" lIns="0" tIns="0" rIns="0" bIns="0" rtlCol="0" anchor="ctr"/>
          <a:lstStyle/>
          <a:p>
            <a:pPr marL="0" indent="0">
              <a:buNone/>
            </a:pPr>
            <a:r>
              <a:rPr lang="en-US" sz="1200" b="1" dirty="0">
                <a:solidFill>
                  <a:srgbClr val="26242B"/>
                </a:solidFill>
                <a:latin typeface="Arial" pitchFamily="34" charset="0"/>
                <a:ea typeface="Arial" pitchFamily="34" charset="-122"/>
                <a:cs typeface="Arial" pitchFamily="34" charset="-120"/>
              </a:rPr>
              <a:t>She shares it with Omar</a:t>
            </a:r>
            <a:endParaRPr lang="en-US" sz="1200" dirty="0"/>
          </a:p>
        </p:txBody>
      </p:sp>
      <p:sp>
        <p:nvSpPr>
          <p:cNvPr id="16" name="Text 14"/>
          <p:cNvSpPr txBox="1"/>
          <p:nvPr/>
        </p:nvSpPr>
        <p:spPr>
          <a:xfrm>
            <a:off x="6236208" y="2194560"/>
            <a:ext cx="2496312" cy="566928"/>
          </a:xfrm>
          <a:prstGeom prst="rect">
            <a:avLst/>
          </a:prstGeom>
          <a:noFill/>
          <a:ln/>
        </p:spPr>
        <p:txBody>
          <a:bodyPr wrap="square" lIns="0" tIns="0" rIns="0" bIns="0" rtlCol="0" anchor="t"/>
          <a:lstStyle/>
          <a:p>
            <a:pPr marL="0" indent="0">
              <a:buNone/>
            </a:pPr>
            <a:r>
              <a:rPr lang="en-US" sz="1050" dirty="0">
                <a:solidFill>
                  <a:srgbClr val="76737E"/>
                </a:solidFill>
                <a:latin typeface="Arial" pitchFamily="34" charset="0"/>
                <a:ea typeface="Arial" pitchFamily="34" charset="-122"/>
                <a:cs typeface="Arial" pitchFamily="34" charset="-120"/>
              </a:rPr>
              <a:t>She names him; the system wraps a key for him</a:t>
            </a:r>
            <a:endParaRPr lang="en-US" sz="1050" dirty="0"/>
          </a:p>
        </p:txBody>
      </p:sp>
      <p:sp>
        <p:nvSpPr>
          <p:cNvPr id="17" name="Shape 15"/>
          <p:cNvSpPr/>
          <p:nvPr/>
        </p:nvSpPr>
        <p:spPr>
          <a:xfrm>
            <a:off x="6236208" y="1883664"/>
            <a:ext cx="2496312" cy="0"/>
          </a:xfrm>
          <a:prstGeom prst="line">
            <a:avLst/>
          </a:prstGeom>
          <a:noFill/>
          <a:ln w="9525">
            <a:solidFill>
              <a:srgbClr val="DEDCE2"/>
            </a:solidFill>
            <a:prstDash val="solid"/>
          </a:ln>
        </p:spPr>
      </p:sp>
      <p:sp>
        <p:nvSpPr>
          <p:cNvPr id="18" name="Text 16"/>
          <p:cNvSpPr txBox="1"/>
          <p:nvPr/>
        </p:nvSpPr>
        <p:spPr>
          <a:xfrm>
            <a:off x="9043416" y="1517904"/>
            <a:ext cx="822960" cy="402336"/>
          </a:xfrm>
          <a:prstGeom prst="rect">
            <a:avLst/>
          </a:prstGeom>
          <a:noFill/>
          <a:ln/>
        </p:spPr>
        <p:txBody>
          <a:bodyPr wrap="square" lIns="0" tIns="0" rIns="0" bIns="0" rtlCol="0" anchor="ctr"/>
          <a:lstStyle/>
          <a:p>
            <a:pPr marL="0" indent="0">
              <a:buNone/>
            </a:pPr>
            <a:r>
              <a:rPr lang="en-US" sz="2200" b="1" dirty="0">
                <a:solidFill>
                  <a:srgbClr val="C0392F"/>
                </a:solidFill>
                <a:latin typeface="Bookman Old Style" pitchFamily="34" charset="0"/>
                <a:ea typeface="Bookman Old Style" pitchFamily="34" charset="-122"/>
                <a:cs typeface="Bookman Old Style" pitchFamily="34" charset="-120"/>
              </a:rPr>
              <a:t>04</a:t>
            </a:r>
            <a:endParaRPr lang="en-US" sz="2200" dirty="0"/>
          </a:p>
        </p:txBody>
      </p:sp>
      <p:sp>
        <p:nvSpPr>
          <p:cNvPr id="19" name="Text 17"/>
          <p:cNvSpPr txBox="1"/>
          <p:nvPr/>
        </p:nvSpPr>
        <p:spPr>
          <a:xfrm>
            <a:off x="9043416" y="1920240"/>
            <a:ext cx="2496312" cy="274320"/>
          </a:xfrm>
          <a:prstGeom prst="rect">
            <a:avLst/>
          </a:prstGeom>
          <a:noFill/>
          <a:ln/>
        </p:spPr>
        <p:txBody>
          <a:bodyPr wrap="square" lIns="0" tIns="0" rIns="0" bIns="0" rtlCol="0" anchor="ctr"/>
          <a:lstStyle/>
          <a:p>
            <a:pPr marL="0" indent="0">
              <a:buNone/>
            </a:pPr>
            <a:r>
              <a:rPr lang="en-US" sz="1200" b="1" dirty="0">
                <a:solidFill>
                  <a:srgbClr val="26242B"/>
                </a:solidFill>
                <a:latin typeface="Arial" pitchFamily="34" charset="0"/>
                <a:ea typeface="Arial" pitchFamily="34" charset="-122"/>
                <a:cs typeface="Arial" pitchFamily="34" charset="-120"/>
              </a:rPr>
              <a:t>Omar opens it</a:t>
            </a:r>
            <a:endParaRPr lang="en-US" sz="1200" dirty="0"/>
          </a:p>
        </p:txBody>
      </p:sp>
      <p:sp>
        <p:nvSpPr>
          <p:cNvPr id="20" name="Text 18"/>
          <p:cNvSpPr txBox="1"/>
          <p:nvPr/>
        </p:nvSpPr>
        <p:spPr>
          <a:xfrm>
            <a:off x="9043416" y="2194560"/>
            <a:ext cx="2496312" cy="566928"/>
          </a:xfrm>
          <a:prstGeom prst="rect">
            <a:avLst/>
          </a:prstGeom>
          <a:noFill/>
          <a:ln/>
        </p:spPr>
        <p:txBody>
          <a:bodyPr wrap="square" lIns="0" tIns="0" rIns="0" bIns="0" rtlCol="0" anchor="t"/>
          <a:lstStyle/>
          <a:p>
            <a:pPr marL="0" indent="0">
              <a:buNone/>
            </a:pPr>
            <a:r>
              <a:rPr lang="en-US" sz="1050" dirty="0">
                <a:solidFill>
                  <a:srgbClr val="76737E"/>
                </a:solidFill>
                <a:latin typeface="Arial" pitchFamily="34" charset="0"/>
                <a:ea typeface="Arial" pitchFamily="34" charset="-122"/>
                <a:cs typeface="Arial" pitchFamily="34" charset="-120"/>
              </a:rPr>
              <a:t>Omar verifies Layla's share, then decrypts the document</a:t>
            </a:r>
            <a:endParaRPr lang="en-US" sz="1050" dirty="0"/>
          </a:p>
        </p:txBody>
      </p:sp>
      <p:sp>
        <p:nvSpPr>
          <p:cNvPr id="21" name="Shape 19"/>
          <p:cNvSpPr/>
          <p:nvPr/>
        </p:nvSpPr>
        <p:spPr>
          <a:xfrm>
            <a:off x="9043416" y="1883664"/>
            <a:ext cx="2496312" cy="0"/>
          </a:xfrm>
          <a:prstGeom prst="line">
            <a:avLst/>
          </a:prstGeom>
          <a:noFill/>
          <a:ln w="9525">
            <a:solidFill>
              <a:srgbClr val="DEDCE2"/>
            </a:solidFill>
            <a:prstDash val="solid"/>
          </a:ln>
        </p:spPr>
      </p:sp>
      <p:sp>
        <p:nvSpPr>
          <p:cNvPr id="22" name="Shape 20"/>
          <p:cNvSpPr/>
          <p:nvPr/>
        </p:nvSpPr>
        <p:spPr>
          <a:xfrm>
            <a:off x="621792" y="3017520"/>
            <a:ext cx="5577840" cy="1508760"/>
          </a:xfrm>
          <a:prstGeom prst="rect">
            <a:avLst/>
          </a:prstGeom>
          <a:solidFill>
            <a:srgbClr val="FFFFFF"/>
          </a:solidFill>
          <a:ln w="12700">
            <a:solidFill>
              <a:srgbClr val="DEDCE2"/>
            </a:solidFill>
            <a:prstDash val="solid"/>
          </a:ln>
        </p:spPr>
      </p:sp>
      <p:sp>
        <p:nvSpPr>
          <p:cNvPr id="23" name="Text 21"/>
          <p:cNvSpPr txBox="1"/>
          <p:nvPr/>
        </p:nvSpPr>
        <p:spPr>
          <a:xfrm>
            <a:off x="822960" y="3154680"/>
            <a:ext cx="5175504" cy="292608"/>
          </a:xfrm>
          <a:prstGeom prst="rect">
            <a:avLst/>
          </a:prstGeom>
          <a:noFill/>
          <a:ln/>
        </p:spPr>
        <p:txBody>
          <a:bodyPr wrap="square" lIns="0" tIns="0" rIns="0" bIns="0" rtlCol="0" anchor="ctr"/>
          <a:lstStyle/>
          <a:p>
            <a:pPr marL="0" indent="0">
              <a:buNone/>
            </a:pPr>
            <a:r>
              <a:rPr lang="en-US" sz="1150" b="1" kern="0" spc="40" dirty="0">
                <a:solidFill>
                  <a:srgbClr val="26242B"/>
                </a:solidFill>
                <a:latin typeface="Arial" pitchFamily="34" charset="0"/>
                <a:ea typeface="Arial" pitchFamily="34" charset="-122"/>
                <a:cs typeface="Arial" pitchFamily="34" charset="-120"/>
              </a:rPr>
              <a:t>The threat story</a:t>
            </a:r>
            <a:endParaRPr lang="en-US" sz="1150" dirty="0"/>
          </a:p>
        </p:txBody>
      </p:sp>
      <p:sp>
        <p:nvSpPr>
          <p:cNvPr id="24" name="Text 22"/>
          <p:cNvSpPr txBox="1"/>
          <p:nvPr/>
        </p:nvSpPr>
        <p:spPr>
          <a:xfrm>
            <a:off x="822960" y="3511296"/>
            <a:ext cx="5175504" cy="886968"/>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6242B"/>
                </a:solidFill>
                <a:latin typeface="Arial" pitchFamily="34" charset="0"/>
                <a:ea typeface="Arial" pitchFamily="34" charset="-122"/>
                <a:cs typeface="Arial" pitchFamily="34" charset="-120"/>
              </a:rPr>
              <a:t>The server stores every byte and must not read document contents</a:t>
            </a:r>
            <a:endParaRPr lang="en-US" sz="1050" dirty="0"/>
          </a:p>
          <a:p>
            <a:pPr marL="342900" indent="-342900">
              <a:spcAft>
                <a:spcPts val="400"/>
              </a:spcAft>
              <a:buSzPct val="100000"/>
              <a:buChar char="–"/>
            </a:pPr>
            <a:r>
              <a:rPr lang="en-US" sz="1050" dirty="0">
                <a:solidFill>
                  <a:srgbClr val="26242B"/>
                </a:solidFill>
                <a:latin typeface="Arial" pitchFamily="34" charset="0"/>
                <a:ea typeface="Arial" pitchFamily="34" charset="-122"/>
                <a:cs typeface="Arial" pitchFamily="34" charset="-120"/>
              </a:rPr>
              <a:t>A network attacker can modify or replay any message</a:t>
            </a:r>
            <a:endParaRPr lang="en-US" sz="1050" dirty="0"/>
          </a:p>
          <a:p>
            <a:pPr marL="342900" indent="-342900">
              <a:spcAft>
                <a:spcPts val="400"/>
              </a:spcAft>
              <a:buSzPct val="100000"/>
              <a:buChar char="–"/>
            </a:pPr>
            <a:r>
              <a:rPr lang="en-US" sz="1050" dirty="0">
                <a:solidFill>
                  <a:srgbClr val="26242B"/>
                </a:solidFill>
                <a:latin typeface="Arial" pitchFamily="34" charset="0"/>
                <a:ea typeface="Arial" pitchFamily="34" charset="-122"/>
                <a:cs typeface="Arial" pitchFamily="34" charset="-120"/>
              </a:rPr>
              <a:t>The server database may be stolen in full</a:t>
            </a:r>
            <a:endParaRPr lang="en-US" sz="1050" dirty="0"/>
          </a:p>
        </p:txBody>
      </p:sp>
      <p:sp>
        <p:nvSpPr>
          <p:cNvPr id="25" name="Shape 23"/>
          <p:cNvSpPr/>
          <p:nvPr/>
        </p:nvSpPr>
        <p:spPr>
          <a:xfrm>
            <a:off x="6565392" y="3017520"/>
            <a:ext cx="4974336" cy="1508760"/>
          </a:xfrm>
          <a:prstGeom prst="rect">
            <a:avLst/>
          </a:prstGeom>
          <a:solidFill>
            <a:srgbClr val="FFFFFF"/>
          </a:solidFill>
          <a:ln w="12700">
            <a:solidFill>
              <a:srgbClr val="DEDCE2"/>
            </a:solidFill>
            <a:prstDash val="solid"/>
          </a:ln>
        </p:spPr>
      </p:sp>
      <p:sp>
        <p:nvSpPr>
          <p:cNvPr id="26" name="Text 24"/>
          <p:cNvSpPr txBox="1"/>
          <p:nvPr/>
        </p:nvSpPr>
        <p:spPr>
          <a:xfrm>
            <a:off x="6766560" y="3154680"/>
            <a:ext cx="4572000" cy="292608"/>
          </a:xfrm>
          <a:prstGeom prst="rect">
            <a:avLst/>
          </a:prstGeom>
          <a:noFill/>
          <a:ln/>
        </p:spPr>
        <p:txBody>
          <a:bodyPr wrap="square" lIns="0" tIns="0" rIns="0" bIns="0" rtlCol="0" anchor="ctr"/>
          <a:lstStyle/>
          <a:p>
            <a:pPr marL="0" indent="0">
              <a:buNone/>
            </a:pPr>
            <a:r>
              <a:rPr lang="en-US" sz="1150" b="1" kern="0" spc="40" dirty="0">
                <a:solidFill>
                  <a:srgbClr val="26242B"/>
                </a:solidFill>
                <a:latin typeface="Arial" pitchFamily="34" charset="0"/>
                <a:ea typeface="Arial" pitchFamily="34" charset="-122"/>
                <a:cs typeface="Arial" pitchFamily="34" charset="-120"/>
              </a:rPr>
              <a:t>What we built</a:t>
            </a:r>
            <a:endParaRPr lang="en-US" sz="1150" dirty="0"/>
          </a:p>
        </p:txBody>
      </p:sp>
      <p:sp>
        <p:nvSpPr>
          <p:cNvPr id="27" name="Text 25"/>
          <p:cNvSpPr txBox="1"/>
          <p:nvPr/>
        </p:nvSpPr>
        <p:spPr>
          <a:xfrm>
            <a:off x="6766560" y="3511296"/>
            <a:ext cx="4572000" cy="886968"/>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6242B"/>
                </a:solidFill>
                <a:latin typeface="Arial" pitchFamily="34" charset="0"/>
                <a:ea typeface="Arial" pitchFamily="34" charset="-122"/>
                <a:cs typeface="Arial" pitchFamily="34" charset="-120"/>
              </a:rPr>
              <a:t>A command-line client and a server process</a:t>
            </a:r>
            <a:endParaRPr lang="en-US" sz="1050" dirty="0"/>
          </a:p>
          <a:p>
            <a:pPr marL="342900" indent="-342900">
              <a:spcAft>
                <a:spcPts val="400"/>
              </a:spcAft>
              <a:buSzPct val="100000"/>
              <a:buChar char="–"/>
            </a:pPr>
            <a:r>
              <a:rPr lang="en-US" sz="1050" dirty="0">
                <a:solidFill>
                  <a:srgbClr val="26242B"/>
                </a:solidFill>
                <a:latin typeface="Arial" pitchFamily="34" charset="0"/>
                <a:ea typeface="Arial" pitchFamily="34" charset="-122"/>
                <a:cs typeface="Arial" pitchFamily="34" charset="-120"/>
              </a:rPr>
              <a:t>A shared_network directory standing in for the network</a:t>
            </a:r>
            <a:endParaRPr lang="en-US" sz="1050" dirty="0"/>
          </a:p>
          <a:p>
            <a:pPr marL="342900" indent="-342900">
              <a:spcAft>
                <a:spcPts val="400"/>
              </a:spcAft>
              <a:buSzPct val="100000"/>
              <a:buChar char="–"/>
            </a:pPr>
            <a:r>
              <a:rPr lang="en-US" sz="1050" dirty="0">
                <a:solidFill>
                  <a:srgbClr val="26242B"/>
                </a:solidFill>
                <a:latin typeface="Arial" pitchFamily="34" charset="0"/>
                <a:ea typeface="Arial" pitchFamily="34" charset="-122"/>
                <a:cs typeface="Arial" pitchFamily="34" charset="-120"/>
              </a:rPr>
              <a:t>Every message is a file you can open during the demo</a:t>
            </a:r>
            <a:endParaRPr lang="en-US" sz="1050" dirty="0"/>
          </a:p>
        </p:txBody>
      </p:sp>
      <p:sp>
        <p:nvSpPr>
          <p:cNvPr id="28" name="Shape 26"/>
          <p:cNvSpPr/>
          <p:nvPr/>
        </p:nvSpPr>
        <p:spPr>
          <a:xfrm>
            <a:off x="621792" y="4709160"/>
            <a:ext cx="10917936" cy="1280160"/>
          </a:xfrm>
          <a:prstGeom prst="rect">
            <a:avLst/>
          </a:prstGeom>
          <a:solidFill>
            <a:srgbClr val="F7F5F6"/>
          </a:solidFill>
          <a:ln w="15875">
            <a:solidFill>
              <a:srgbClr val="C0392F"/>
            </a:solidFill>
            <a:prstDash val="solid"/>
          </a:ln>
        </p:spPr>
      </p:sp>
      <p:sp>
        <p:nvSpPr>
          <p:cNvPr id="29" name="Text 27"/>
          <p:cNvSpPr txBox="1"/>
          <p:nvPr/>
        </p:nvSpPr>
        <p:spPr>
          <a:xfrm>
            <a:off x="822960" y="4846320"/>
            <a:ext cx="10515600" cy="292608"/>
          </a:xfrm>
          <a:prstGeom prst="rect">
            <a:avLst/>
          </a:prstGeom>
          <a:noFill/>
          <a:ln/>
        </p:spPr>
        <p:txBody>
          <a:bodyPr wrap="square" lIns="0" tIns="0" rIns="0" bIns="0" rtlCol="0" anchor="ctr"/>
          <a:lstStyle/>
          <a:p>
            <a:pPr marL="0" indent="0">
              <a:buNone/>
            </a:pPr>
            <a:r>
              <a:rPr lang="en-US" sz="1150" b="1" kern="0" spc="40" dirty="0">
                <a:solidFill>
                  <a:srgbClr val="C0392F"/>
                </a:solidFill>
                <a:latin typeface="Arial" pitchFamily="34" charset="0"/>
                <a:ea typeface="Arial" pitchFamily="34" charset="-122"/>
                <a:cs typeface="Arial" pitchFamily="34" charset="-120"/>
              </a:rPr>
              <a:t>The boundary, stated once</a:t>
            </a:r>
            <a:endParaRPr lang="en-US" sz="1150" dirty="0"/>
          </a:p>
        </p:txBody>
      </p:sp>
      <p:sp>
        <p:nvSpPr>
          <p:cNvPr id="30" name="Text 28"/>
          <p:cNvSpPr txBox="1"/>
          <p:nvPr/>
        </p:nvSpPr>
        <p:spPr>
          <a:xfrm>
            <a:off x="822960" y="5184648"/>
            <a:ext cx="10515600" cy="676656"/>
          </a:xfrm>
          <a:prstGeom prst="rect">
            <a:avLst/>
          </a:prstGeom>
          <a:noFill/>
          <a:ln/>
        </p:spPr>
        <p:txBody>
          <a:bodyPr wrap="square" lIns="0" tIns="0" rIns="0" bIns="0" rtlCol="0" anchor="t"/>
          <a:lstStyle/>
          <a:p>
            <a:pPr marL="0" indent="0">
              <a:buNone/>
            </a:pPr>
            <a:r>
              <a:rPr lang="en-US" sz="1050" dirty="0">
                <a:solidFill>
                  <a:srgbClr val="26242B"/>
                </a:solidFill>
                <a:latin typeface="Arial" pitchFamily="34" charset="0"/>
                <a:ea typeface="Arial" pitchFamily="34" charset="-122"/>
                <a:cs typeface="Arial" pitchFamily="34" charset="-120"/>
              </a:rPr>
              <a:t>The specification allows a simulated network. We use a shared directory so the message flow is visible during the demo. Security does not depend on trusting the transport; the protected objects carry their own authentication.</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21792" y="329184"/>
            <a:ext cx="9820656" cy="237744"/>
          </a:xfrm>
          <a:prstGeom prst="rect">
            <a:avLst/>
          </a:prstGeom>
          <a:noFill/>
          <a:ln/>
        </p:spPr>
        <p:txBody>
          <a:bodyPr wrap="square" lIns="0" tIns="0" rIns="0" bIns="0" rtlCol="0" anchor="ctr"/>
          <a:lstStyle/>
          <a:p>
            <a:pPr marL="0" indent="0">
              <a:buNone/>
            </a:pPr>
            <a:r>
              <a:rPr lang="en-US" sz="950" b="1" kern="0" spc="250" dirty="0">
                <a:solidFill>
                  <a:srgbClr val="C0392F"/>
                </a:solidFill>
                <a:latin typeface="Arial" pitchFamily="34" charset="0"/>
                <a:ea typeface="Arial" pitchFamily="34" charset="-122"/>
                <a:cs typeface="Arial" pitchFamily="34" charset="-120"/>
              </a:rPr>
              <a:t>OVERVIEW</a:t>
            </a:r>
            <a:endParaRPr lang="en-US" sz="950" dirty="0"/>
          </a:p>
        </p:txBody>
      </p:sp>
      <p:sp>
        <p:nvSpPr>
          <p:cNvPr id="3" name="Text 1"/>
          <p:cNvSpPr txBox="1"/>
          <p:nvPr/>
        </p:nvSpPr>
        <p:spPr>
          <a:xfrm>
            <a:off x="621792" y="603504"/>
            <a:ext cx="10917936" cy="530352"/>
          </a:xfrm>
          <a:prstGeom prst="rect">
            <a:avLst/>
          </a:prstGeom>
          <a:noFill/>
          <a:ln/>
        </p:spPr>
        <p:txBody>
          <a:bodyPr wrap="square" lIns="0" tIns="0" rIns="0" bIns="0" rtlCol="0" anchor="ctr"/>
          <a:lstStyle/>
          <a:p>
            <a:pPr marL="0" indent="0">
              <a:buNone/>
            </a:pPr>
            <a:r>
              <a:rPr lang="en-US" sz="2500" b="1" dirty="0">
                <a:solidFill>
                  <a:srgbClr val="26242B"/>
                </a:solidFill>
                <a:latin typeface="Bookman Old Style" pitchFamily="34" charset="0"/>
                <a:ea typeface="Bookman Old Style" pitchFamily="34" charset="-122"/>
                <a:cs typeface="Bookman Old Style" pitchFamily="34" charset="-120"/>
              </a:rPr>
              <a:t>Threat model</a:t>
            </a:r>
            <a:endParaRPr lang="en-US" sz="2500" dirty="0"/>
          </a:p>
        </p:txBody>
      </p:sp>
      <p:sp>
        <p:nvSpPr>
          <p:cNvPr id="4" name="Text 2"/>
          <p:cNvSpPr txBox="1"/>
          <p:nvPr/>
        </p:nvSpPr>
        <p:spPr>
          <a:xfrm>
            <a:off x="621792" y="1133856"/>
            <a:ext cx="10917936" cy="274320"/>
          </a:xfrm>
          <a:prstGeom prst="rect">
            <a:avLst/>
          </a:prstGeom>
          <a:noFill/>
          <a:ln/>
        </p:spPr>
        <p:txBody>
          <a:bodyPr wrap="square" lIns="0" tIns="0" rIns="0" bIns="0" rtlCol="0" anchor="ctr"/>
          <a:lstStyle/>
          <a:p>
            <a:pPr marL="0" indent="0">
              <a:buNone/>
            </a:pPr>
            <a:r>
              <a:rPr lang="en-US" sz="1200" dirty="0">
                <a:solidFill>
                  <a:srgbClr val="76737E"/>
                </a:solidFill>
                <a:latin typeface="Arial" pitchFamily="34" charset="0"/>
                <a:ea typeface="Arial" pitchFamily="34" charset="-122"/>
                <a:cs typeface="Arial" pitchFamily="34" charset="-120"/>
              </a:rPr>
              <a:t>Who we defend against, and what we deliberately do not</a:t>
            </a:r>
            <a:endParaRPr lang="en-US" sz="1200" dirty="0"/>
          </a:p>
        </p:txBody>
      </p:sp>
      <p:sp>
        <p:nvSpPr>
          <p:cNvPr id="5" name="Text 3"/>
          <p:cNvSpPr txBox="1"/>
          <p:nvPr/>
        </p:nvSpPr>
        <p:spPr>
          <a:xfrm>
            <a:off x="10899648" y="310896"/>
            <a:ext cx="640080" cy="274320"/>
          </a:xfrm>
          <a:prstGeom prst="rect">
            <a:avLst/>
          </a:prstGeom>
          <a:noFill/>
          <a:ln/>
        </p:spPr>
        <p:txBody>
          <a:bodyPr wrap="square" lIns="0" tIns="0" rIns="0" bIns="0" rtlCol="0" anchor="ctr"/>
          <a:lstStyle/>
          <a:p>
            <a:pPr marL="0" indent="0" algn="r">
              <a:buNone/>
            </a:pPr>
            <a:r>
              <a:rPr lang="en-US" sz="1100" b="1" dirty="0">
                <a:solidFill>
                  <a:srgbClr val="DEDCE2"/>
                </a:solidFill>
                <a:latin typeface="Arial" pitchFamily="34" charset="0"/>
                <a:ea typeface="Arial" pitchFamily="34" charset="-122"/>
                <a:cs typeface="Arial" pitchFamily="34" charset="-120"/>
              </a:rPr>
              <a:t>03</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21792" y="1481328"/>
          <a:ext cx="10917936" cy="1013460"/>
        </p:xfrm>
        <a:graphic>
          <a:graphicData uri="http://schemas.openxmlformats.org/drawingml/2006/table">
            <a:tbl>
              <a:tblPr/>
              <a:tblGrid>
                <a:gridCol w="1920240">
                  <a:extLst>
                    <a:ext uri="{9D8B030D-6E8A-4147-A177-3AD203B41FA5}">
                      <a16:colId xmlns:a16="http://schemas.microsoft.com/office/drawing/2014/main" val="20000"/>
                    </a:ext>
                  </a:extLst>
                </a:gridCol>
                <a:gridCol w="8997696">
                  <a:extLst>
                    <a:ext uri="{9D8B030D-6E8A-4147-A177-3AD203B41FA5}">
                      <a16:colId xmlns:a16="http://schemas.microsoft.com/office/drawing/2014/main" val="20001"/>
                    </a:ext>
                  </a:extLst>
                </a:gridCol>
              </a:tblGrid>
              <a:tr h="0">
                <a:tc>
                  <a:txBody>
                    <a:bodyPr/>
                    <a:lstStyle/>
                    <a:p>
                      <a:pPr marL="0" indent="0">
                        <a:buNone/>
                      </a:pPr>
                      <a:r>
                        <a:rPr lang="en-US" sz="950" b="1" kern="0" spc="100" dirty="0">
                          <a:solidFill>
                            <a:srgbClr val="C0392F"/>
                          </a:solidFill>
                          <a:latin typeface="Arial" pitchFamily="34" charset="0"/>
                          <a:ea typeface="Arial" pitchFamily="34" charset="-122"/>
                          <a:cs typeface="Arial" pitchFamily="34" charset="-120"/>
                        </a:rPr>
                        <a:t>PARTY</a:t>
                      </a:r>
                      <a:endParaRPr lang="en-US" sz="95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7F5F6"/>
                    </a:solidFill>
                  </a:tcPr>
                </a:tc>
                <a:tc>
                  <a:txBody>
                    <a:bodyPr/>
                    <a:lstStyle/>
                    <a:p>
                      <a:pPr marL="0" indent="0">
                        <a:buNone/>
                      </a:pPr>
                      <a:r>
                        <a:rPr lang="en-US" sz="950" b="1" kern="0" spc="100" dirty="0">
                          <a:solidFill>
                            <a:srgbClr val="C0392F"/>
                          </a:solidFill>
                          <a:latin typeface="Arial" pitchFamily="34" charset="0"/>
                          <a:ea typeface="Arial" pitchFamily="34" charset="-122"/>
                          <a:cs typeface="Arial" pitchFamily="34" charset="-120"/>
                        </a:rPr>
                        <a:t>WHAT WE ASSUME THEY CAN DO</a:t>
                      </a:r>
                      <a:endParaRPr lang="en-US" sz="95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7F5F6"/>
                    </a:solidFill>
                  </a:tcPr>
                </a:tc>
                <a:extLst>
                  <a:ext uri="{0D108BD9-81ED-4DB2-BD59-A6C34878D82A}">
                    <a16:rowId xmlns:a16="http://schemas.microsoft.com/office/drawing/2014/main" val="10000"/>
                  </a:ext>
                </a:extLst>
              </a:tr>
              <a:tr h="0">
                <a:tc>
                  <a:txBody>
                    <a:bodyPr/>
                    <a:lstStyle/>
                    <a:p>
                      <a:pPr marL="0" indent="0">
                        <a:buNone/>
                      </a:pPr>
                      <a:r>
                        <a:rPr lang="en-US" sz="1100" dirty="0">
                          <a:solidFill>
                            <a:srgbClr val="26242B"/>
                          </a:solidFill>
                          <a:latin typeface="Arial" pitchFamily="34" charset="0"/>
                          <a:ea typeface="Arial" pitchFamily="34" charset="-122"/>
                          <a:cs typeface="Arial" pitchFamily="34" charset="-120"/>
                        </a:rPr>
                        <a:t>Users</a:t>
                      </a:r>
                      <a:endParaRPr lang="en-US" sz="110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tc>
                  <a:txBody>
                    <a:bodyPr/>
                    <a:lstStyle/>
                    <a:p>
                      <a:pPr marL="0" indent="0">
                        <a:buNone/>
                      </a:pPr>
                      <a:r>
                        <a:rPr lang="en-US" sz="1100" dirty="0">
                          <a:solidFill>
                            <a:srgbClr val="26242B"/>
                          </a:solidFill>
                          <a:latin typeface="Arial" pitchFamily="34" charset="0"/>
                          <a:ea typeface="Arial" pitchFamily="34" charset="-122"/>
                          <a:cs typeface="Arial" pitchFamily="34" charset="-120"/>
                        </a:rPr>
                        <a:t>Run our client on a trustworthy machine. An attacker cannot read an honest user's memory or disk.</a:t>
                      </a:r>
                      <a:endParaRPr lang="en-US" sz="110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100" dirty="0">
                          <a:solidFill>
                            <a:srgbClr val="26242B"/>
                          </a:solidFill>
                          <a:latin typeface="Arial" pitchFamily="34" charset="0"/>
                          <a:ea typeface="Arial" pitchFamily="34" charset="-122"/>
                          <a:cs typeface="Arial" pitchFamily="34" charset="-120"/>
                        </a:rPr>
                        <a:t>The server</a:t>
                      </a:r>
                      <a:endParaRPr lang="en-US" sz="110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tc>
                  <a:txBody>
                    <a:bodyPr/>
                    <a:lstStyle/>
                    <a:p>
                      <a:pPr marL="0" indent="0">
                        <a:buNone/>
                      </a:pPr>
                      <a:r>
                        <a:rPr lang="en-US" sz="1100" dirty="0">
                          <a:solidFill>
                            <a:srgbClr val="26242B"/>
                          </a:solidFill>
                          <a:latin typeface="Arial" pitchFamily="34" charset="0"/>
                          <a:ea typeface="Arial" pitchFamily="34" charset="-122"/>
                          <a:cs typeface="Arial" pitchFamily="34" charset="-120"/>
                        </a:rPr>
                        <a:t>Honest-but-curious: follows the protocol, never fabricates or deletes, reads everything it is given, and its whole database may be stolen.</a:t>
                      </a:r>
                      <a:endParaRPr lang="en-US" sz="110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buNone/>
                      </a:pPr>
                      <a:r>
                        <a:rPr lang="en-US" sz="1100" dirty="0">
                          <a:solidFill>
                            <a:srgbClr val="26242B"/>
                          </a:solidFill>
                          <a:latin typeface="Arial" pitchFamily="34" charset="0"/>
                          <a:ea typeface="Arial" pitchFamily="34" charset="-122"/>
                          <a:cs typeface="Arial" pitchFamily="34" charset="-120"/>
                        </a:rPr>
                        <a:t>The attacker</a:t>
                      </a:r>
                      <a:endParaRPr lang="en-US" sz="110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tc>
                  <a:txBody>
                    <a:bodyPr/>
                    <a:lstStyle/>
                    <a:p>
                      <a:pPr marL="0" indent="0">
                        <a:buNone/>
                      </a:pPr>
                      <a:r>
                        <a:rPr lang="en-US" sz="1100" dirty="0">
                          <a:solidFill>
                            <a:srgbClr val="26242B"/>
                          </a:solidFill>
                          <a:latin typeface="Arial" pitchFamily="34" charset="0"/>
                          <a:ea typeface="Arial" pitchFamily="34" charset="-122"/>
                          <a:cs typeface="Arial" pitchFamily="34" charset="-120"/>
                        </a:rPr>
                        <a:t>Observes and modifies all traffic, replays old messages, registers their own accounts, and may hold a full copy of server storage.</a:t>
                      </a:r>
                      <a:endParaRPr lang="en-US" sz="110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7" name="Shape 4"/>
          <p:cNvSpPr/>
          <p:nvPr/>
        </p:nvSpPr>
        <p:spPr>
          <a:xfrm>
            <a:off x="621792" y="3611880"/>
            <a:ext cx="5577840" cy="1371600"/>
          </a:xfrm>
          <a:prstGeom prst="rect">
            <a:avLst/>
          </a:prstGeom>
          <a:solidFill>
            <a:srgbClr val="FFFFFF"/>
          </a:solidFill>
          <a:ln w="12700">
            <a:solidFill>
              <a:srgbClr val="DEDCE2"/>
            </a:solidFill>
            <a:prstDash val="solid"/>
          </a:ln>
        </p:spPr>
      </p:sp>
      <p:sp>
        <p:nvSpPr>
          <p:cNvPr id="8" name="Text 5"/>
          <p:cNvSpPr txBox="1"/>
          <p:nvPr/>
        </p:nvSpPr>
        <p:spPr>
          <a:xfrm>
            <a:off x="822960" y="3749040"/>
            <a:ext cx="5175504" cy="292608"/>
          </a:xfrm>
          <a:prstGeom prst="rect">
            <a:avLst/>
          </a:prstGeom>
          <a:noFill/>
          <a:ln/>
        </p:spPr>
        <p:txBody>
          <a:bodyPr wrap="square" lIns="0" tIns="0" rIns="0" bIns="0" rtlCol="0" anchor="ctr"/>
          <a:lstStyle/>
          <a:p>
            <a:pPr marL="0" indent="0">
              <a:buNone/>
            </a:pPr>
            <a:r>
              <a:rPr lang="en-US" sz="1150" b="1" kern="0" spc="40" dirty="0">
                <a:solidFill>
                  <a:srgbClr val="26242B"/>
                </a:solidFill>
                <a:latin typeface="Arial" pitchFamily="34" charset="0"/>
                <a:ea typeface="Arial" pitchFamily="34" charset="-122"/>
                <a:cs typeface="Arial" pitchFamily="34" charset="-120"/>
              </a:rPr>
              <a:t>Out of scope, deliberately</a:t>
            </a:r>
            <a:endParaRPr lang="en-US" sz="1150" dirty="0"/>
          </a:p>
        </p:txBody>
      </p:sp>
      <p:sp>
        <p:nvSpPr>
          <p:cNvPr id="9" name="Text 6"/>
          <p:cNvSpPr txBox="1"/>
          <p:nvPr/>
        </p:nvSpPr>
        <p:spPr>
          <a:xfrm>
            <a:off x="822960" y="4105656"/>
            <a:ext cx="5175504" cy="749808"/>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6242B"/>
                </a:solidFill>
                <a:latin typeface="Arial" pitchFamily="34" charset="0"/>
                <a:ea typeface="Arial" pitchFamily="34" charset="-122"/>
                <a:cs typeface="Arial" pitchFamily="34" charset="-120"/>
              </a:rPr>
              <a:t>Malware on a user's own machine, and coercion of a user</a:t>
            </a:r>
            <a:endParaRPr lang="en-US" sz="1050" dirty="0"/>
          </a:p>
          <a:p>
            <a:pPr marL="342900" indent="-342900">
              <a:spcAft>
                <a:spcPts val="400"/>
              </a:spcAft>
              <a:buSzPct val="100000"/>
              <a:buChar char="–"/>
            </a:pPr>
            <a:r>
              <a:rPr lang="en-US" sz="1050" dirty="0">
                <a:solidFill>
                  <a:srgbClr val="26242B"/>
                </a:solidFill>
                <a:latin typeface="Arial" pitchFamily="34" charset="0"/>
                <a:ea typeface="Arial" pitchFamily="34" charset="-122"/>
                <a:cs typeface="Arial" pitchFamily="34" charset="-120"/>
              </a:rPr>
              <a:t>Traffic analysis of message sizes and timing</a:t>
            </a:r>
            <a:endParaRPr lang="en-US" sz="1050" dirty="0"/>
          </a:p>
          <a:p>
            <a:pPr marL="342900" indent="-342900">
              <a:spcAft>
                <a:spcPts val="400"/>
              </a:spcAft>
              <a:buSzPct val="100000"/>
              <a:buChar char="–"/>
            </a:pPr>
            <a:r>
              <a:rPr lang="en-US" sz="1050" dirty="0">
                <a:solidFill>
                  <a:srgbClr val="26242B"/>
                </a:solidFill>
                <a:latin typeface="Arial" pitchFamily="34" charset="0"/>
                <a:ea typeface="Arial" pitchFamily="34" charset="-122"/>
                <a:cs typeface="Arial" pitchFamily="34" charset="-120"/>
              </a:rPr>
              <a:t>Denial of service</a:t>
            </a:r>
            <a:endParaRPr lang="en-US" sz="1050" dirty="0"/>
          </a:p>
        </p:txBody>
      </p:sp>
      <p:sp>
        <p:nvSpPr>
          <p:cNvPr id="10" name="Shape 7"/>
          <p:cNvSpPr/>
          <p:nvPr/>
        </p:nvSpPr>
        <p:spPr>
          <a:xfrm>
            <a:off x="6565392" y="3611880"/>
            <a:ext cx="4974336" cy="1371600"/>
          </a:xfrm>
          <a:prstGeom prst="rect">
            <a:avLst/>
          </a:prstGeom>
          <a:solidFill>
            <a:srgbClr val="FFFFFF"/>
          </a:solidFill>
          <a:ln w="12700">
            <a:solidFill>
              <a:srgbClr val="DEDCE2"/>
            </a:solidFill>
            <a:prstDash val="solid"/>
          </a:ln>
        </p:spPr>
      </p:sp>
      <p:sp>
        <p:nvSpPr>
          <p:cNvPr id="11" name="Text 8"/>
          <p:cNvSpPr txBox="1"/>
          <p:nvPr/>
        </p:nvSpPr>
        <p:spPr>
          <a:xfrm>
            <a:off x="6766560" y="3749040"/>
            <a:ext cx="4572000" cy="292608"/>
          </a:xfrm>
          <a:prstGeom prst="rect">
            <a:avLst/>
          </a:prstGeom>
          <a:noFill/>
          <a:ln/>
        </p:spPr>
        <p:txBody>
          <a:bodyPr wrap="square" lIns="0" tIns="0" rIns="0" bIns="0" rtlCol="0" anchor="ctr"/>
          <a:lstStyle/>
          <a:p>
            <a:pPr marL="0" indent="0">
              <a:buNone/>
            </a:pPr>
            <a:r>
              <a:rPr lang="en-US" sz="1150" b="1" kern="0" spc="40" dirty="0">
                <a:solidFill>
                  <a:srgbClr val="26242B"/>
                </a:solidFill>
                <a:latin typeface="Arial" pitchFamily="34" charset="0"/>
                <a:ea typeface="Arial" pitchFamily="34" charset="-122"/>
                <a:cs typeface="Arial" pitchFamily="34" charset="-120"/>
              </a:rPr>
              <a:t>Why we can say that</a:t>
            </a:r>
            <a:endParaRPr lang="en-US" sz="1150" dirty="0"/>
          </a:p>
        </p:txBody>
      </p:sp>
      <p:sp>
        <p:nvSpPr>
          <p:cNvPr id="12" name="Text 9"/>
          <p:cNvSpPr txBox="1"/>
          <p:nvPr/>
        </p:nvSpPr>
        <p:spPr>
          <a:xfrm>
            <a:off x="6766560" y="4087368"/>
            <a:ext cx="4572000" cy="768096"/>
          </a:xfrm>
          <a:prstGeom prst="rect">
            <a:avLst/>
          </a:prstGeom>
          <a:noFill/>
          <a:ln/>
        </p:spPr>
        <p:txBody>
          <a:bodyPr wrap="square" lIns="0" tIns="0" rIns="0" bIns="0" rtlCol="0" anchor="t"/>
          <a:lstStyle/>
          <a:p>
            <a:pPr marL="0" indent="0">
              <a:buNone/>
            </a:pPr>
            <a:r>
              <a:rPr lang="en-US" sz="1050" dirty="0">
                <a:solidFill>
                  <a:srgbClr val="26242B"/>
                </a:solidFill>
                <a:latin typeface="Arial" pitchFamily="34" charset="0"/>
                <a:ea typeface="Arial" pitchFamily="34" charset="-122"/>
                <a:cs typeface="Arial" pitchFamily="34" charset="-120"/>
              </a:rPr>
              <a:t>These are the four the specification places out of scope. Naming them keeps every later claim precise: when we say something is protected, we mean against the attacker in the table above.</a:t>
            </a:r>
            <a:endParaRPr lang="en-US" sz="1050" dirty="0"/>
          </a:p>
        </p:txBody>
      </p:sp>
      <p:sp>
        <p:nvSpPr>
          <p:cNvPr id="13" name="Shape 10"/>
          <p:cNvSpPr/>
          <p:nvPr/>
        </p:nvSpPr>
        <p:spPr>
          <a:xfrm>
            <a:off x="621792" y="5166360"/>
            <a:ext cx="10917936" cy="822960"/>
          </a:xfrm>
          <a:prstGeom prst="rect">
            <a:avLst/>
          </a:prstGeom>
          <a:solidFill>
            <a:srgbClr val="3C4F3F"/>
          </a:solidFill>
          <a:ln w="12700">
            <a:solidFill>
              <a:srgbClr val="3C4F3F"/>
            </a:solidFill>
            <a:prstDash val="solid"/>
          </a:ln>
        </p:spPr>
      </p:sp>
      <p:sp>
        <p:nvSpPr>
          <p:cNvPr id="14" name="Text 11"/>
          <p:cNvSpPr txBox="1"/>
          <p:nvPr/>
        </p:nvSpPr>
        <p:spPr>
          <a:xfrm>
            <a:off x="822960" y="5303520"/>
            <a:ext cx="10515600" cy="292608"/>
          </a:xfrm>
          <a:prstGeom prst="rect">
            <a:avLst/>
          </a:prstGeom>
          <a:noFill/>
          <a:ln/>
        </p:spPr>
        <p:txBody>
          <a:bodyPr wrap="square" lIns="0" tIns="0" rIns="0" bIns="0" rtlCol="0" anchor="ctr"/>
          <a:lstStyle/>
          <a:p>
            <a:pPr marL="0" indent="0">
              <a:buNone/>
            </a:pPr>
            <a:r>
              <a:rPr lang="en-US" sz="1150" b="1" kern="0" spc="40" dirty="0">
                <a:solidFill>
                  <a:srgbClr val="FFFFFF"/>
                </a:solidFill>
                <a:latin typeface="Arial" pitchFamily="34" charset="0"/>
                <a:ea typeface="Arial" pitchFamily="34" charset="-122"/>
                <a:cs typeface="Arial" pitchFamily="34" charset="-120"/>
              </a:rPr>
              <a:t>The sentence that settled every later decision</a:t>
            </a:r>
            <a:endParaRPr lang="en-US" sz="1150" dirty="0"/>
          </a:p>
        </p:txBody>
      </p:sp>
      <p:sp>
        <p:nvSpPr>
          <p:cNvPr id="15" name="Text 12"/>
          <p:cNvSpPr txBox="1"/>
          <p:nvPr/>
        </p:nvSpPr>
        <p:spPr>
          <a:xfrm>
            <a:off x="822960" y="5641848"/>
            <a:ext cx="10515600" cy="320040"/>
          </a:xfrm>
          <a:prstGeom prst="rect">
            <a:avLst/>
          </a:prstGeom>
          <a:noFill/>
          <a:ln/>
        </p:spPr>
        <p:txBody>
          <a:bodyPr wrap="square" lIns="0" tIns="0" rIns="0" bIns="0" rtlCol="0" anchor="t"/>
          <a:lstStyle/>
          <a:p>
            <a:pPr marL="0" indent="0">
              <a:buNone/>
            </a:pPr>
            <a:r>
              <a:rPr lang="en-US" sz="1050" dirty="0">
                <a:solidFill>
                  <a:srgbClr val="DCE3DC"/>
                </a:solidFill>
                <a:latin typeface="Arial" pitchFamily="34" charset="0"/>
                <a:ea typeface="Arial" pitchFamily="34" charset="-122"/>
                <a:cs typeface="Arial" pitchFamily="34" charset="-120"/>
              </a:rPr>
              <a:t>The server is not a party we protect from outsiders  it is one of the parties we protect the user from. Whenever we had to decide where a value may live, that sentence decided it: if the server does not strictly need it, the server does not get it.</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21792" y="329184"/>
            <a:ext cx="9820656" cy="237744"/>
          </a:xfrm>
          <a:prstGeom prst="rect">
            <a:avLst/>
          </a:prstGeom>
          <a:noFill/>
          <a:ln/>
        </p:spPr>
        <p:txBody>
          <a:bodyPr wrap="square" lIns="0" tIns="0" rIns="0" bIns="0" rtlCol="0" anchor="ctr"/>
          <a:lstStyle/>
          <a:p>
            <a:pPr marL="0" indent="0">
              <a:buNone/>
            </a:pPr>
            <a:r>
              <a:rPr lang="en-US" sz="950" b="1" kern="0" spc="250" dirty="0">
                <a:solidFill>
                  <a:srgbClr val="C0392F"/>
                </a:solidFill>
                <a:latin typeface="Arial" pitchFamily="34" charset="0"/>
                <a:ea typeface="Arial" pitchFamily="34" charset="-122"/>
                <a:cs typeface="Arial" pitchFamily="34" charset="-120"/>
              </a:rPr>
              <a:t>OVERVIEW</a:t>
            </a:r>
            <a:endParaRPr lang="en-US" sz="950" dirty="0"/>
          </a:p>
        </p:txBody>
      </p:sp>
      <p:sp>
        <p:nvSpPr>
          <p:cNvPr id="3" name="Text 1"/>
          <p:cNvSpPr txBox="1"/>
          <p:nvPr/>
        </p:nvSpPr>
        <p:spPr>
          <a:xfrm>
            <a:off x="621792" y="603504"/>
            <a:ext cx="10917936" cy="530352"/>
          </a:xfrm>
          <a:prstGeom prst="rect">
            <a:avLst/>
          </a:prstGeom>
          <a:noFill/>
          <a:ln/>
        </p:spPr>
        <p:txBody>
          <a:bodyPr wrap="square" lIns="0" tIns="0" rIns="0" bIns="0" rtlCol="0" anchor="ctr"/>
          <a:lstStyle/>
          <a:p>
            <a:pPr marL="0" indent="0">
              <a:buNone/>
            </a:pPr>
            <a:r>
              <a:rPr lang="en-US" sz="2500" b="1" dirty="0">
                <a:solidFill>
                  <a:srgbClr val="26242B"/>
                </a:solidFill>
                <a:latin typeface="Bookman Old Style" pitchFamily="34" charset="0"/>
                <a:ea typeface="Bookman Old Style" pitchFamily="34" charset="-122"/>
                <a:cs typeface="Bookman Old Style" pitchFamily="34" charset="-120"/>
              </a:rPr>
              <a:t>Required property → mechanism</a:t>
            </a:r>
            <a:endParaRPr lang="en-US" sz="2500" dirty="0"/>
          </a:p>
        </p:txBody>
      </p:sp>
      <p:sp>
        <p:nvSpPr>
          <p:cNvPr id="4" name="Text 2"/>
          <p:cNvSpPr txBox="1"/>
          <p:nvPr/>
        </p:nvSpPr>
        <p:spPr>
          <a:xfrm>
            <a:off x="621792" y="1133856"/>
            <a:ext cx="10917936" cy="274320"/>
          </a:xfrm>
          <a:prstGeom prst="rect">
            <a:avLst/>
          </a:prstGeom>
          <a:noFill/>
          <a:ln/>
        </p:spPr>
        <p:txBody>
          <a:bodyPr wrap="square" lIns="0" tIns="0" rIns="0" bIns="0" rtlCol="0" anchor="ctr"/>
          <a:lstStyle/>
          <a:p>
            <a:pPr marL="0" indent="0">
              <a:buNone/>
            </a:pPr>
            <a:r>
              <a:rPr lang="en-US" sz="1200" dirty="0">
                <a:solidFill>
                  <a:srgbClr val="76737E"/>
                </a:solidFill>
                <a:latin typeface="Arial" pitchFamily="34" charset="0"/>
                <a:ea typeface="Arial" pitchFamily="34" charset="-122"/>
                <a:cs typeface="Arial" pitchFamily="34" charset="-120"/>
              </a:rPr>
              <a:t>The seven guarantees named in the specification, and where we provide each</a:t>
            </a:r>
            <a:endParaRPr lang="en-US" sz="1200" dirty="0"/>
          </a:p>
        </p:txBody>
      </p:sp>
      <p:sp>
        <p:nvSpPr>
          <p:cNvPr id="5" name="Text 3"/>
          <p:cNvSpPr txBox="1"/>
          <p:nvPr/>
        </p:nvSpPr>
        <p:spPr>
          <a:xfrm>
            <a:off x="10899648" y="310896"/>
            <a:ext cx="640080" cy="274320"/>
          </a:xfrm>
          <a:prstGeom prst="rect">
            <a:avLst/>
          </a:prstGeom>
          <a:noFill/>
          <a:ln/>
        </p:spPr>
        <p:txBody>
          <a:bodyPr wrap="square" lIns="0" tIns="0" rIns="0" bIns="0" rtlCol="0" anchor="ctr"/>
          <a:lstStyle/>
          <a:p>
            <a:pPr marL="0" indent="0" algn="r">
              <a:buNone/>
            </a:pPr>
            <a:r>
              <a:rPr lang="en-US" sz="1100" b="1" dirty="0">
                <a:solidFill>
                  <a:srgbClr val="DEDCE2"/>
                </a:solidFill>
                <a:latin typeface="Arial" pitchFamily="34" charset="0"/>
                <a:ea typeface="Arial" pitchFamily="34" charset="-122"/>
                <a:cs typeface="Arial" pitchFamily="34" charset="-120"/>
              </a:rPr>
              <a:t>04</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4181855014"/>
              </p:ext>
            </p:extLst>
          </p:nvPr>
        </p:nvGraphicFramePr>
        <p:xfrm>
          <a:off x="621792" y="1481328"/>
          <a:ext cx="10917936" cy="1996440"/>
        </p:xfrm>
        <a:graphic>
          <a:graphicData uri="http://schemas.openxmlformats.org/drawingml/2006/table">
            <a:tbl>
              <a:tblPr/>
              <a:tblGrid>
                <a:gridCol w="2194560">
                  <a:extLst>
                    <a:ext uri="{9D8B030D-6E8A-4147-A177-3AD203B41FA5}">
                      <a16:colId xmlns:a16="http://schemas.microsoft.com/office/drawing/2014/main" val="20000"/>
                    </a:ext>
                  </a:extLst>
                </a:gridCol>
                <a:gridCol w="7991856">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tblGrid>
              <a:tr h="0">
                <a:tc>
                  <a:txBody>
                    <a:bodyPr/>
                    <a:lstStyle/>
                    <a:p>
                      <a:pPr marL="0" indent="0">
                        <a:buNone/>
                      </a:pPr>
                      <a:r>
                        <a:rPr lang="en-US" sz="950" b="1" kern="0" spc="100" dirty="0">
                          <a:solidFill>
                            <a:srgbClr val="C0392F"/>
                          </a:solidFill>
                          <a:latin typeface="Arial" pitchFamily="34" charset="0"/>
                          <a:ea typeface="Arial" pitchFamily="34" charset="-122"/>
                          <a:cs typeface="Arial" pitchFamily="34" charset="-120"/>
                        </a:rPr>
                        <a:t>PROPERTY</a:t>
                      </a:r>
                      <a:endParaRPr lang="en-US" sz="95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7F5F6"/>
                    </a:solidFill>
                  </a:tcPr>
                </a:tc>
                <a:tc>
                  <a:txBody>
                    <a:bodyPr/>
                    <a:lstStyle/>
                    <a:p>
                      <a:pPr marL="0" indent="0">
                        <a:buNone/>
                      </a:pPr>
                      <a:r>
                        <a:rPr lang="en-US" sz="950" b="1" kern="0" spc="100" dirty="0">
                          <a:solidFill>
                            <a:srgbClr val="C0392F"/>
                          </a:solidFill>
                          <a:latin typeface="Arial" pitchFamily="34" charset="0"/>
                          <a:ea typeface="Arial" pitchFamily="34" charset="-122"/>
                          <a:cs typeface="Arial" pitchFamily="34" charset="-120"/>
                        </a:rPr>
                        <a:t>MECHANISM</a:t>
                      </a:r>
                      <a:endParaRPr lang="en-US" sz="95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7F5F6"/>
                    </a:solidFill>
                  </a:tcPr>
                </a:tc>
                <a:tc>
                  <a:txBody>
                    <a:bodyPr/>
                    <a:lstStyle/>
                    <a:p>
                      <a:pPr marL="0" indent="0">
                        <a:buNone/>
                      </a:pPr>
                      <a:r>
                        <a:rPr lang="en-US" sz="950" b="1" kern="0" spc="100" dirty="0">
                          <a:solidFill>
                            <a:srgbClr val="C0392F"/>
                          </a:solidFill>
                          <a:latin typeface="Arial" pitchFamily="34" charset="0"/>
                          <a:ea typeface="Arial" pitchFamily="34" charset="-122"/>
                          <a:cs typeface="Arial" pitchFamily="34" charset="-120"/>
                        </a:rPr>
                        <a:t>PART</a:t>
                      </a:r>
                      <a:endParaRPr lang="en-US" sz="95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7F5F6"/>
                    </a:solidFill>
                  </a:tcPr>
                </a:tc>
                <a:extLst>
                  <a:ext uri="{0D108BD9-81ED-4DB2-BD59-A6C34878D82A}">
                    <a16:rowId xmlns:a16="http://schemas.microsoft.com/office/drawing/2014/main" val="10000"/>
                  </a:ext>
                </a:extLst>
              </a:tr>
              <a:tr h="0">
                <a:tc>
                  <a:txBody>
                    <a:bodyPr/>
                    <a:lstStyle/>
                    <a:p>
                      <a:pPr marL="0" indent="0">
                        <a:buNone/>
                      </a:pPr>
                      <a:r>
                        <a:rPr lang="en-US" sz="1050" dirty="0">
                          <a:solidFill>
                            <a:srgbClr val="26242B"/>
                          </a:solidFill>
                          <a:latin typeface="Arial" pitchFamily="34" charset="0"/>
                          <a:ea typeface="Arial" pitchFamily="34" charset="-122"/>
                          <a:cs typeface="Arial" pitchFamily="34" charset="-120"/>
                        </a:rPr>
                        <a:t>Confidentiality</a:t>
                      </a:r>
                      <a:endParaRPr lang="en-US" sz="105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tc>
                  <a:txBody>
                    <a:bodyPr/>
                    <a:lstStyle/>
                    <a:p>
                      <a:pPr marL="0" indent="0">
                        <a:buNone/>
                      </a:pPr>
                      <a:r>
                        <a:rPr lang="en-US" sz="1050" dirty="0">
                          <a:solidFill>
                            <a:srgbClr val="26242B"/>
                          </a:solidFill>
                          <a:latin typeface="Arial" pitchFamily="34" charset="0"/>
                          <a:ea typeface="Arial" pitchFamily="34" charset="-122"/>
                          <a:cs typeface="Arial" pitchFamily="34" charset="-120"/>
                        </a:rPr>
                        <a:t>ChaCha20-Poly1305, fresh 32-byte key per document; the server never receives a key</a:t>
                      </a:r>
                      <a:endParaRPr lang="en-US" sz="105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tc>
                  <a:txBody>
                    <a:bodyPr/>
                    <a:lstStyle/>
                    <a:p>
                      <a:pPr marL="0" indent="0">
                        <a:buNone/>
                      </a:pPr>
                      <a:r>
                        <a:rPr lang="en-US" sz="1050" dirty="0">
                          <a:solidFill>
                            <a:srgbClr val="26242B"/>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050" dirty="0">
                          <a:solidFill>
                            <a:srgbClr val="26242B"/>
                          </a:solidFill>
                          <a:latin typeface="Arial" pitchFamily="34" charset="0"/>
                          <a:ea typeface="Arial" pitchFamily="34" charset="-122"/>
                          <a:cs typeface="Arial" pitchFamily="34" charset="-120"/>
                        </a:rPr>
                        <a:t>Integrity</a:t>
                      </a:r>
                      <a:endParaRPr lang="en-US" sz="105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tc>
                  <a:txBody>
                    <a:bodyPr/>
                    <a:lstStyle/>
                    <a:p>
                      <a:pPr marL="0" indent="0">
                        <a:buNone/>
                      </a:pPr>
                      <a:r>
                        <a:rPr lang="en-US" sz="1050" dirty="0">
                          <a:solidFill>
                            <a:srgbClr val="26242B"/>
                          </a:solidFill>
                          <a:latin typeface="Arial" pitchFamily="34" charset="0"/>
                          <a:ea typeface="Arial" pitchFamily="34" charset="-122"/>
                          <a:cs typeface="Arial" pitchFamily="34" charset="-120"/>
                        </a:rPr>
                        <a:t>The Poly1305 tag is checked before any plaintext is produced</a:t>
                      </a:r>
                      <a:endParaRPr lang="en-US" sz="105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tc>
                  <a:txBody>
                    <a:bodyPr/>
                    <a:lstStyle/>
                    <a:p>
                      <a:pPr marL="0" indent="0">
                        <a:buNone/>
                      </a:pPr>
                      <a:r>
                        <a:rPr lang="en-US" sz="1050" dirty="0">
                          <a:solidFill>
                            <a:srgbClr val="26242B"/>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buNone/>
                      </a:pPr>
                      <a:r>
                        <a:rPr lang="en-US" sz="1050" dirty="0">
                          <a:solidFill>
                            <a:srgbClr val="26242B"/>
                          </a:solidFill>
                          <a:latin typeface="Arial" pitchFamily="34" charset="0"/>
                          <a:ea typeface="Arial" pitchFamily="34" charset="-122"/>
                          <a:cs typeface="Arial" pitchFamily="34" charset="-120"/>
                        </a:rPr>
                        <a:t>Origin authentication</a:t>
                      </a:r>
                      <a:endParaRPr lang="en-US" sz="105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tc>
                  <a:txBody>
                    <a:bodyPr/>
                    <a:lstStyle/>
                    <a:p>
                      <a:pPr marL="0" indent="0">
                        <a:buNone/>
                      </a:pPr>
                      <a:r>
                        <a:rPr lang="en-US" sz="1050" dirty="0">
                          <a:solidFill>
                            <a:srgbClr val="26242B"/>
                          </a:solidFill>
                          <a:latin typeface="Arial" pitchFamily="34" charset="0"/>
                          <a:ea typeface="Arial" pitchFamily="34" charset="-122"/>
                          <a:cs typeface="Arial" pitchFamily="34" charset="-120"/>
                        </a:rPr>
                        <a:t>RSA-PSS signature by the sender over the share object</a:t>
                      </a:r>
                      <a:endParaRPr lang="en-US" sz="105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tc>
                  <a:txBody>
                    <a:bodyPr/>
                    <a:lstStyle/>
                    <a:p>
                      <a:pPr marL="0" indent="0">
                        <a:buNone/>
                      </a:pPr>
                      <a:r>
                        <a:rPr lang="en-US" sz="1050" dirty="0">
                          <a:solidFill>
                            <a:srgbClr val="26242B"/>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050" dirty="0">
                          <a:solidFill>
                            <a:srgbClr val="26242B"/>
                          </a:solidFill>
                          <a:latin typeface="Arial" pitchFamily="34" charset="0"/>
                          <a:ea typeface="Arial" pitchFamily="34" charset="-122"/>
                          <a:cs typeface="Arial" pitchFamily="34" charset="-120"/>
                        </a:rPr>
                        <a:t>Non-repudiation</a:t>
                      </a:r>
                      <a:endParaRPr lang="en-US" sz="105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tc>
                  <a:txBody>
                    <a:bodyPr/>
                    <a:lstStyle/>
                    <a:p>
                      <a:pPr marL="0" indent="0">
                        <a:buNone/>
                      </a:pPr>
                      <a:r>
                        <a:rPr lang="en-US" sz="1050" dirty="0">
                          <a:solidFill>
                            <a:srgbClr val="26242B"/>
                          </a:solidFill>
                          <a:latin typeface="Arial" pitchFamily="34" charset="0"/>
                          <a:ea typeface="Arial" pitchFamily="34" charset="-122"/>
                          <a:cs typeface="Arial" pitchFamily="34" charset="-120"/>
                        </a:rPr>
                        <a:t>The same signature , it covers the key grant, not yet the document bytes</a:t>
                      </a:r>
                      <a:endParaRPr lang="en-US" sz="105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tc>
                  <a:txBody>
                    <a:bodyPr/>
                    <a:lstStyle/>
                    <a:p>
                      <a:pPr marL="0" indent="0">
                        <a:buNone/>
                      </a:pPr>
                      <a:r>
                        <a:rPr lang="en-US" sz="1050" dirty="0">
                          <a:solidFill>
                            <a:srgbClr val="26242B"/>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0">
                <a:tc>
                  <a:txBody>
                    <a:bodyPr/>
                    <a:lstStyle/>
                    <a:p>
                      <a:pPr marL="0" indent="0">
                        <a:buNone/>
                      </a:pPr>
                      <a:r>
                        <a:rPr lang="en-US" sz="1050" dirty="0">
                          <a:solidFill>
                            <a:srgbClr val="26242B"/>
                          </a:solidFill>
                          <a:latin typeface="Arial" pitchFamily="34" charset="0"/>
                          <a:ea typeface="Arial" pitchFamily="34" charset="-122"/>
                          <a:cs typeface="Arial" pitchFamily="34" charset="-120"/>
                        </a:rPr>
                        <a:t>Credential protection</a:t>
                      </a:r>
                      <a:endParaRPr lang="en-US" sz="105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tc>
                  <a:txBody>
                    <a:bodyPr/>
                    <a:lstStyle/>
                    <a:p>
                      <a:pPr marL="0" indent="0">
                        <a:buNone/>
                      </a:pPr>
                      <a:r>
                        <a:rPr lang="en-US" sz="1050" dirty="0">
                          <a:solidFill>
                            <a:srgbClr val="26242B"/>
                          </a:solidFill>
                          <a:latin typeface="Arial" pitchFamily="34" charset="0"/>
                          <a:ea typeface="Arial" pitchFamily="34" charset="-122"/>
                          <a:cs typeface="Arial" pitchFamily="34" charset="-120"/>
                        </a:rPr>
                        <a:t>Argon2id at a measured work factor, fresh 16-byte salt per account</a:t>
                      </a:r>
                      <a:endParaRPr lang="en-US" sz="105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tc>
                  <a:txBody>
                    <a:bodyPr/>
                    <a:lstStyle/>
                    <a:p>
                      <a:pPr marL="0" indent="0">
                        <a:buNone/>
                      </a:pPr>
                      <a:r>
                        <a:rPr lang="en-US" sz="1050" dirty="0">
                          <a:solidFill>
                            <a:srgbClr val="26242B"/>
                          </a:solidFill>
                          <a:latin typeface="Arial" pitchFamily="34" charset="0"/>
                          <a:ea typeface="Arial" pitchFamily="34" charset="-122"/>
                          <a:cs typeface="Arial" pitchFamily="34" charset="-120"/>
                        </a:rPr>
                        <a:t>1</a:t>
                      </a:r>
                      <a:endParaRPr lang="en-US" sz="105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buNone/>
                      </a:pPr>
                      <a:r>
                        <a:rPr lang="en-US" sz="1050" dirty="0">
                          <a:solidFill>
                            <a:srgbClr val="26242B"/>
                          </a:solidFill>
                          <a:latin typeface="Arial" pitchFamily="34" charset="0"/>
                          <a:ea typeface="Arial" pitchFamily="34" charset="-122"/>
                          <a:cs typeface="Arial" pitchFamily="34" charset="-120"/>
                        </a:rPr>
                        <a:t>Freshness</a:t>
                      </a:r>
                      <a:endParaRPr lang="en-US" sz="105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tc>
                  <a:txBody>
                    <a:bodyPr/>
                    <a:lstStyle/>
                    <a:p>
                      <a:pPr marL="0" indent="0">
                        <a:buNone/>
                      </a:pPr>
                      <a:r>
                        <a:rPr lang="en-US" sz="1050" dirty="0">
                          <a:solidFill>
                            <a:srgbClr val="26242B"/>
                          </a:solidFill>
                          <a:latin typeface="Arial" pitchFamily="34" charset="0"/>
                          <a:ea typeface="Arial" pitchFamily="34" charset="-122"/>
                          <a:cs typeface="Arial" pitchFamily="34" charset="-120"/>
                        </a:rPr>
                        <a:t>One-time challenges and request IDs; sequence numbers and timestamps on shares</a:t>
                      </a:r>
                      <a:endParaRPr lang="en-US" sz="105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tc>
                  <a:txBody>
                    <a:bodyPr/>
                    <a:lstStyle/>
                    <a:p>
                      <a:pPr marL="0" indent="0">
                        <a:buNone/>
                      </a:pPr>
                      <a:r>
                        <a:rPr lang="en-US" sz="1050" dirty="0">
                          <a:solidFill>
                            <a:srgbClr val="26242B"/>
                          </a:solidFill>
                          <a:latin typeface="Arial" pitchFamily="34" charset="0"/>
                          <a:ea typeface="Arial" pitchFamily="34" charset="-122"/>
                          <a:cs typeface="Arial" pitchFamily="34" charset="-120"/>
                        </a:rPr>
                        <a:t>1, 3</a:t>
                      </a:r>
                      <a:endParaRPr lang="en-US" sz="105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0">
                <a:tc>
                  <a:txBody>
                    <a:bodyPr/>
                    <a:lstStyle/>
                    <a:p>
                      <a:pPr marL="0" indent="0">
                        <a:buNone/>
                      </a:pPr>
                      <a:r>
                        <a:rPr lang="en-US" sz="1050" dirty="0">
                          <a:solidFill>
                            <a:srgbClr val="26242B"/>
                          </a:solidFill>
                          <a:latin typeface="Arial" pitchFamily="34" charset="0"/>
                          <a:ea typeface="Arial" pitchFamily="34" charset="-122"/>
                          <a:cs typeface="Arial" pitchFamily="34" charset="-120"/>
                        </a:rPr>
                        <a:t>Metadata binding</a:t>
                      </a:r>
                      <a:endParaRPr lang="en-US" sz="105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tc>
                  <a:txBody>
                    <a:bodyPr/>
                    <a:lstStyle/>
                    <a:p>
                      <a:pPr marL="0" indent="0">
                        <a:buNone/>
                      </a:pPr>
                      <a:r>
                        <a:rPr lang="en-US" sz="1050" dirty="0">
                          <a:solidFill>
                            <a:srgbClr val="26242B"/>
                          </a:solidFill>
                          <a:latin typeface="Arial" pitchFamily="34" charset="0"/>
                          <a:ea typeface="Arial" pitchFamily="34" charset="-122"/>
                          <a:cs typeface="Arial" pitchFamily="34" charset="-120"/>
                        </a:rPr>
                        <a:t>Every cleartext field sits in the AEAD associated data or the signed bytes</a:t>
                      </a:r>
                      <a:endParaRPr lang="en-US" sz="105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tc>
                  <a:txBody>
                    <a:bodyPr/>
                    <a:lstStyle/>
                    <a:p>
                      <a:pPr marL="0" indent="0">
                        <a:buNone/>
                      </a:pPr>
                      <a:r>
                        <a:rPr lang="en-US" sz="1050" dirty="0">
                          <a:solidFill>
                            <a:srgbClr val="26242B"/>
                          </a:solidFill>
                          <a:latin typeface="Arial" pitchFamily="34" charset="0"/>
                          <a:ea typeface="Arial" pitchFamily="34" charset="-122"/>
                          <a:cs typeface="Arial" pitchFamily="34" charset="-120"/>
                        </a:rPr>
                        <a:t>2, 3</a:t>
                      </a:r>
                      <a:endParaRPr lang="en-US" sz="105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7" name="Shape 4"/>
          <p:cNvSpPr/>
          <p:nvPr/>
        </p:nvSpPr>
        <p:spPr>
          <a:xfrm>
            <a:off x="621792" y="4434840"/>
            <a:ext cx="5577840" cy="1554480"/>
          </a:xfrm>
          <a:prstGeom prst="rect">
            <a:avLst/>
          </a:prstGeom>
          <a:solidFill>
            <a:srgbClr val="FFFFFF"/>
          </a:solidFill>
          <a:ln w="12700">
            <a:solidFill>
              <a:srgbClr val="DEDCE2"/>
            </a:solidFill>
            <a:prstDash val="solid"/>
          </a:ln>
        </p:spPr>
      </p:sp>
      <p:sp>
        <p:nvSpPr>
          <p:cNvPr id="8" name="Text 5"/>
          <p:cNvSpPr txBox="1"/>
          <p:nvPr/>
        </p:nvSpPr>
        <p:spPr>
          <a:xfrm>
            <a:off x="822960" y="4572000"/>
            <a:ext cx="5175504" cy="292608"/>
          </a:xfrm>
          <a:prstGeom prst="rect">
            <a:avLst/>
          </a:prstGeom>
          <a:noFill/>
          <a:ln/>
        </p:spPr>
        <p:txBody>
          <a:bodyPr wrap="square" lIns="0" tIns="0" rIns="0" bIns="0" rtlCol="0" anchor="ctr"/>
          <a:lstStyle/>
          <a:p>
            <a:pPr marL="0" indent="0">
              <a:buNone/>
            </a:pPr>
            <a:r>
              <a:rPr lang="en-US" sz="1150" b="1" kern="0" spc="40" dirty="0">
                <a:solidFill>
                  <a:srgbClr val="26242B"/>
                </a:solidFill>
                <a:latin typeface="Arial" pitchFamily="34" charset="0"/>
                <a:ea typeface="Arial" pitchFamily="34" charset="-122"/>
                <a:cs typeface="Arial" pitchFamily="34" charset="-120"/>
              </a:rPr>
              <a:t>How they fit together</a:t>
            </a:r>
            <a:endParaRPr lang="en-US" sz="1150" dirty="0"/>
          </a:p>
        </p:txBody>
      </p:sp>
      <p:sp>
        <p:nvSpPr>
          <p:cNvPr id="9" name="Text 6"/>
          <p:cNvSpPr txBox="1"/>
          <p:nvPr/>
        </p:nvSpPr>
        <p:spPr>
          <a:xfrm>
            <a:off x="822960" y="4928616"/>
            <a:ext cx="5175504" cy="932688"/>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6242B"/>
                </a:solidFill>
                <a:latin typeface="Arial" pitchFamily="34" charset="0"/>
                <a:ea typeface="Arial" pitchFamily="34" charset="-122"/>
                <a:cs typeface="Arial" pitchFamily="34" charset="-120"/>
              </a:rPr>
              <a:t>Confidentiality and integrity come from one operation, so the order-of-operations mistake the specification warns about cannot occur</a:t>
            </a:r>
            <a:endParaRPr lang="en-US" sz="1050" dirty="0"/>
          </a:p>
          <a:p>
            <a:pPr marL="342900" indent="-342900">
              <a:spcAft>
                <a:spcPts val="400"/>
              </a:spcAft>
              <a:buSzPct val="100000"/>
              <a:buChar char="–"/>
            </a:pPr>
            <a:r>
              <a:rPr lang="en-US" sz="1050" dirty="0">
                <a:solidFill>
                  <a:srgbClr val="26242B"/>
                </a:solidFill>
                <a:latin typeface="Arial" pitchFamily="34" charset="0"/>
                <a:ea typeface="Arial" pitchFamily="34" charset="-122"/>
                <a:cs typeface="Arial" pitchFamily="34" charset="-120"/>
              </a:rPr>
              <a:t>Metadata binding is not a separate mechanism — it is what the associated data is for</a:t>
            </a:r>
            <a:endParaRPr lang="en-US" sz="1050" dirty="0"/>
          </a:p>
          <a:p>
            <a:pPr marL="342900" indent="-342900">
              <a:spcAft>
                <a:spcPts val="400"/>
              </a:spcAft>
              <a:buSzPct val="100000"/>
              <a:buChar char="–"/>
            </a:pPr>
            <a:r>
              <a:rPr lang="en-US" sz="1050" dirty="0">
                <a:solidFill>
                  <a:srgbClr val="26242B"/>
                </a:solidFill>
                <a:latin typeface="Arial" pitchFamily="34" charset="0"/>
                <a:ea typeface="Arial" pitchFamily="34" charset="-122"/>
                <a:cs typeface="Arial" pitchFamily="34" charset="-120"/>
              </a:rPr>
              <a:t>Freshness appears twice because replay looks different at each layer</a:t>
            </a:r>
            <a:endParaRPr lang="en-US" sz="1050" dirty="0"/>
          </a:p>
        </p:txBody>
      </p:sp>
      <p:sp>
        <p:nvSpPr>
          <p:cNvPr id="10" name="Shape 7"/>
          <p:cNvSpPr/>
          <p:nvPr/>
        </p:nvSpPr>
        <p:spPr>
          <a:xfrm>
            <a:off x="6565392" y="4434840"/>
            <a:ext cx="4974336" cy="1554480"/>
          </a:xfrm>
          <a:prstGeom prst="rect">
            <a:avLst/>
          </a:prstGeom>
          <a:solidFill>
            <a:srgbClr val="F7F5F6"/>
          </a:solidFill>
          <a:ln w="15875">
            <a:solidFill>
              <a:srgbClr val="C0392F"/>
            </a:solidFill>
            <a:prstDash val="solid"/>
          </a:ln>
        </p:spPr>
      </p:sp>
      <p:sp>
        <p:nvSpPr>
          <p:cNvPr id="11" name="Text 8"/>
          <p:cNvSpPr txBox="1"/>
          <p:nvPr/>
        </p:nvSpPr>
        <p:spPr>
          <a:xfrm>
            <a:off x="6766560" y="4572000"/>
            <a:ext cx="4572000" cy="292608"/>
          </a:xfrm>
          <a:prstGeom prst="rect">
            <a:avLst/>
          </a:prstGeom>
          <a:noFill/>
          <a:ln/>
        </p:spPr>
        <p:txBody>
          <a:bodyPr wrap="square" lIns="0" tIns="0" rIns="0" bIns="0" rtlCol="0" anchor="ctr"/>
          <a:lstStyle/>
          <a:p>
            <a:pPr marL="0" indent="0">
              <a:buNone/>
            </a:pPr>
            <a:r>
              <a:rPr lang="en-US" sz="1150" b="1" kern="0" spc="40" dirty="0">
                <a:solidFill>
                  <a:srgbClr val="C0392F"/>
                </a:solidFill>
                <a:latin typeface="Arial" pitchFamily="34" charset="0"/>
                <a:ea typeface="Arial" pitchFamily="34" charset="-122"/>
                <a:cs typeface="Arial" pitchFamily="34" charset="-120"/>
              </a:rPr>
              <a:t>The row we will not gloss over</a:t>
            </a:r>
            <a:endParaRPr lang="en-US" sz="1150" dirty="0"/>
          </a:p>
        </p:txBody>
      </p:sp>
      <p:sp>
        <p:nvSpPr>
          <p:cNvPr id="12" name="Text 9"/>
          <p:cNvSpPr txBox="1"/>
          <p:nvPr/>
        </p:nvSpPr>
        <p:spPr>
          <a:xfrm>
            <a:off x="6766560" y="4910328"/>
            <a:ext cx="4572000" cy="950976"/>
          </a:xfrm>
          <a:prstGeom prst="rect">
            <a:avLst/>
          </a:prstGeom>
          <a:noFill/>
          <a:ln/>
        </p:spPr>
        <p:txBody>
          <a:bodyPr wrap="square" lIns="0" tIns="0" rIns="0" bIns="0" rtlCol="0" anchor="t"/>
          <a:lstStyle/>
          <a:p>
            <a:pPr marL="0" indent="0">
              <a:buNone/>
            </a:pPr>
            <a:r>
              <a:rPr lang="en-US" sz="1050" dirty="0">
                <a:solidFill>
                  <a:srgbClr val="26242B"/>
                </a:solidFill>
                <a:latin typeface="Arial" pitchFamily="34" charset="0"/>
                <a:ea typeface="Arial" pitchFamily="34" charset="-122"/>
                <a:cs typeface="Arial" pitchFamily="34" charset="-120"/>
              </a:rPr>
              <a:t>Non-repudiation is the one property we do not fully deliver. Our signature proves who authorised a key for a document; it does not commit the sender to that document's bytes. We found this ourselves, we can demonstrate it, and Decision 7.5 explains why a MAC could never have given it either.</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21792" y="329184"/>
            <a:ext cx="9820656" cy="237744"/>
          </a:xfrm>
          <a:prstGeom prst="rect">
            <a:avLst/>
          </a:prstGeom>
          <a:noFill/>
          <a:ln/>
        </p:spPr>
        <p:txBody>
          <a:bodyPr wrap="square" lIns="0" tIns="0" rIns="0" bIns="0" rtlCol="0" anchor="ctr"/>
          <a:lstStyle/>
          <a:p>
            <a:pPr marL="0" indent="0">
              <a:buNone/>
            </a:pPr>
            <a:r>
              <a:rPr lang="en-US" sz="950" b="1" kern="0" spc="250" dirty="0">
                <a:solidFill>
                  <a:srgbClr val="C0392F"/>
                </a:solidFill>
                <a:latin typeface="Arial" pitchFamily="34" charset="0"/>
                <a:ea typeface="Arial" pitchFamily="34" charset="-122"/>
                <a:cs typeface="Arial" pitchFamily="34" charset="-120"/>
              </a:rPr>
              <a:t>OVERVIEW</a:t>
            </a:r>
            <a:endParaRPr lang="en-US" sz="950" dirty="0"/>
          </a:p>
        </p:txBody>
      </p:sp>
      <p:sp>
        <p:nvSpPr>
          <p:cNvPr id="3" name="Text 1"/>
          <p:cNvSpPr txBox="1"/>
          <p:nvPr/>
        </p:nvSpPr>
        <p:spPr>
          <a:xfrm>
            <a:off x="621792" y="603504"/>
            <a:ext cx="10917936" cy="530352"/>
          </a:xfrm>
          <a:prstGeom prst="rect">
            <a:avLst/>
          </a:prstGeom>
          <a:noFill/>
          <a:ln/>
        </p:spPr>
        <p:txBody>
          <a:bodyPr wrap="square" lIns="0" tIns="0" rIns="0" bIns="0" rtlCol="0" anchor="ctr"/>
          <a:lstStyle/>
          <a:p>
            <a:pPr marL="0" indent="0">
              <a:buNone/>
            </a:pPr>
            <a:r>
              <a:rPr lang="en-US" sz="2500" b="1" dirty="0">
                <a:solidFill>
                  <a:srgbClr val="26242B"/>
                </a:solidFill>
                <a:latin typeface="Bookman Old Style" pitchFamily="34" charset="0"/>
                <a:ea typeface="Bookman Old Style" pitchFamily="34" charset="-122"/>
                <a:cs typeface="Bookman Old Style" pitchFamily="34" charset="-120"/>
              </a:rPr>
              <a:t>How the work splits, and what holds it together</a:t>
            </a:r>
            <a:endParaRPr lang="en-US" sz="2500" dirty="0"/>
          </a:p>
        </p:txBody>
      </p:sp>
      <p:sp>
        <p:nvSpPr>
          <p:cNvPr id="4" name="Text 2"/>
          <p:cNvSpPr txBox="1"/>
          <p:nvPr/>
        </p:nvSpPr>
        <p:spPr>
          <a:xfrm>
            <a:off x="621792" y="1133856"/>
            <a:ext cx="10917936" cy="274320"/>
          </a:xfrm>
          <a:prstGeom prst="rect">
            <a:avLst/>
          </a:prstGeom>
          <a:noFill/>
          <a:ln/>
        </p:spPr>
        <p:txBody>
          <a:bodyPr wrap="square" lIns="0" tIns="0" rIns="0" bIns="0" rtlCol="0" anchor="ctr"/>
          <a:lstStyle/>
          <a:p>
            <a:pPr marL="0" indent="0">
              <a:buNone/>
            </a:pPr>
            <a:r>
              <a:rPr lang="en-US" sz="1200" dirty="0">
                <a:solidFill>
                  <a:srgbClr val="76737E"/>
                </a:solidFill>
                <a:latin typeface="Arial" pitchFamily="34" charset="0"/>
                <a:ea typeface="Arial" pitchFamily="34" charset="-122"/>
                <a:cs typeface="Arial" pitchFamily="34" charset="-120"/>
              </a:rPr>
              <a:t>Three connected parts, one shared contract</a:t>
            </a:r>
            <a:endParaRPr lang="en-US" sz="1200" dirty="0"/>
          </a:p>
        </p:txBody>
      </p:sp>
      <p:sp>
        <p:nvSpPr>
          <p:cNvPr id="5" name="Text 3"/>
          <p:cNvSpPr txBox="1"/>
          <p:nvPr/>
        </p:nvSpPr>
        <p:spPr>
          <a:xfrm>
            <a:off x="10899648" y="310896"/>
            <a:ext cx="640080" cy="274320"/>
          </a:xfrm>
          <a:prstGeom prst="rect">
            <a:avLst/>
          </a:prstGeom>
          <a:noFill/>
          <a:ln/>
        </p:spPr>
        <p:txBody>
          <a:bodyPr wrap="square" lIns="0" tIns="0" rIns="0" bIns="0" rtlCol="0" anchor="ctr"/>
          <a:lstStyle/>
          <a:p>
            <a:pPr marL="0" indent="0" algn="r">
              <a:buNone/>
            </a:pPr>
            <a:r>
              <a:rPr lang="en-US" sz="1100" b="1" dirty="0">
                <a:solidFill>
                  <a:srgbClr val="DEDCE2"/>
                </a:solidFill>
                <a:latin typeface="Arial" pitchFamily="34" charset="0"/>
                <a:ea typeface="Arial" pitchFamily="34" charset="-122"/>
                <a:cs typeface="Arial" pitchFamily="34" charset="-120"/>
              </a:rPr>
              <a:t>05</a:t>
            </a:r>
            <a:endParaRPr lang="en-US" sz="1100" dirty="0"/>
          </a:p>
        </p:txBody>
      </p:sp>
      <p:sp>
        <p:nvSpPr>
          <p:cNvPr id="6" name="Text 4"/>
          <p:cNvSpPr txBox="1"/>
          <p:nvPr/>
        </p:nvSpPr>
        <p:spPr>
          <a:xfrm>
            <a:off x="621792" y="1517904"/>
            <a:ext cx="3547872" cy="237744"/>
          </a:xfrm>
          <a:prstGeom prst="rect">
            <a:avLst/>
          </a:prstGeom>
          <a:noFill/>
          <a:ln/>
        </p:spPr>
        <p:txBody>
          <a:bodyPr wrap="square" lIns="0" tIns="0" rIns="0" bIns="0" rtlCol="0" anchor="ctr"/>
          <a:lstStyle/>
          <a:p>
            <a:pPr marL="0" indent="0">
              <a:buNone/>
            </a:pPr>
            <a:r>
              <a:rPr lang="en-US" sz="1000" b="1" kern="0" spc="200" dirty="0">
                <a:solidFill>
                  <a:srgbClr val="C0392F"/>
                </a:solidFill>
                <a:latin typeface="Arial" pitchFamily="34" charset="0"/>
                <a:ea typeface="Arial" pitchFamily="34" charset="-122"/>
                <a:cs typeface="Arial" pitchFamily="34" charset="-120"/>
              </a:rPr>
              <a:t>PART 1</a:t>
            </a:r>
            <a:endParaRPr lang="en-US" sz="1000" dirty="0"/>
          </a:p>
        </p:txBody>
      </p:sp>
      <p:sp>
        <p:nvSpPr>
          <p:cNvPr id="7" name="Text 5"/>
          <p:cNvSpPr txBox="1"/>
          <p:nvPr/>
        </p:nvSpPr>
        <p:spPr>
          <a:xfrm>
            <a:off x="621792" y="1773936"/>
            <a:ext cx="3547872" cy="329184"/>
          </a:xfrm>
          <a:prstGeom prst="rect">
            <a:avLst/>
          </a:prstGeom>
          <a:noFill/>
          <a:ln/>
        </p:spPr>
        <p:txBody>
          <a:bodyPr wrap="square" lIns="0" tIns="0" rIns="0" bIns="0" rtlCol="0" anchor="ctr"/>
          <a:lstStyle/>
          <a:p>
            <a:pPr marL="0" indent="0">
              <a:buNone/>
            </a:pPr>
            <a:r>
              <a:rPr lang="en-US" sz="1600" b="1" dirty="0">
                <a:solidFill>
                  <a:srgbClr val="26242B"/>
                </a:solidFill>
                <a:latin typeface="Bookman Old Style" pitchFamily="34" charset="0"/>
                <a:ea typeface="Bookman Old Style" pitchFamily="34" charset="-122"/>
                <a:cs typeface="Bookman Old Style" pitchFamily="34" charset="-120"/>
              </a:rPr>
              <a:t>Accounts</a:t>
            </a:r>
            <a:endParaRPr lang="en-US" sz="1600" dirty="0"/>
          </a:p>
        </p:txBody>
      </p:sp>
      <p:sp>
        <p:nvSpPr>
          <p:cNvPr id="8" name="Shape 6"/>
          <p:cNvSpPr/>
          <p:nvPr/>
        </p:nvSpPr>
        <p:spPr>
          <a:xfrm>
            <a:off x="621792" y="2176272"/>
            <a:ext cx="3547872" cy="0"/>
          </a:xfrm>
          <a:prstGeom prst="line">
            <a:avLst/>
          </a:prstGeom>
          <a:noFill/>
          <a:ln w="9525">
            <a:solidFill>
              <a:srgbClr val="DEDCE2"/>
            </a:solidFill>
            <a:prstDash val="solid"/>
          </a:ln>
        </p:spPr>
      </p:sp>
      <p:sp>
        <p:nvSpPr>
          <p:cNvPr id="9" name="Text 7"/>
          <p:cNvSpPr txBox="1"/>
          <p:nvPr/>
        </p:nvSpPr>
        <p:spPr>
          <a:xfrm>
            <a:off x="621792" y="2286000"/>
            <a:ext cx="3547872" cy="1737360"/>
          </a:xfrm>
          <a:prstGeom prst="rect">
            <a:avLst/>
          </a:prstGeom>
          <a:noFill/>
          <a:ln/>
        </p:spPr>
        <p:txBody>
          <a:bodyPr wrap="square" lIns="0" tIns="0" rIns="0" bIns="0" rtlCol="0" anchor="t"/>
          <a:lstStyle/>
          <a:p>
            <a:pPr marL="342900" indent="-342900">
              <a:spcAft>
                <a:spcPts val="500"/>
              </a:spcAft>
              <a:buSzPct val="100000"/>
              <a:buChar char="–"/>
            </a:pPr>
            <a:r>
              <a:rPr lang="en-US" sz="1100" dirty="0">
                <a:solidFill>
                  <a:srgbClr val="26242B"/>
                </a:solidFill>
                <a:latin typeface="Arial" pitchFamily="34" charset="0"/>
                <a:ea typeface="Arial" pitchFamily="34" charset="-122"/>
                <a:cs typeface="Arial" pitchFamily="34" charset="-120"/>
              </a:rPr>
              <a:t>RSA-3072 and RSA-PSS</a:t>
            </a:r>
            <a:endParaRPr lang="en-US" sz="1100" dirty="0"/>
          </a:p>
          <a:p>
            <a:pPr marL="342900" indent="-342900">
              <a:spcAft>
                <a:spcPts val="500"/>
              </a:spcAft>
              <a:buSzPct val="100000"/>
              <a:buChar char="–"/>
            </a:pPr>
            <a:r>
              <a:rPr lang="en-US" sz="1100" dirty="0">
                <a:solidFill>
                  <a:srgbClr val="26242B"/>
                </a:solidFill>
                <a:latin typeface="Arial" pitchFamily="34" charset="0"/>
                <a:ea typeface="Arial" pitchFamily="34" charset="-122"/>
                <a:cs typeface="Arial" pitchFamily="34" charset="-120"/>
              </a:rPr>
              <a:t>HMAC-SHA-256 and HKDF</a:t>
            </a:r>
            <a:endParaRPr lang="en-US" sz="1100" dirty="0"/>
          </a:p>
          <a:p>
            <a:pPr marL="342900" indent="-342900">
              <a:spcAft>
                <a:spcPts val="500"/>
              </a:spcAft>
              <a:buSzPct val="100000"/>
              <a:buChar char="–"/>
            </a:pPr>
            <a:r>
              <a:rPr lang="en-US" sz="1100" dirty="0">
                <a:solidFill>
                  <a:srgbClr val="26242B"/>
                </a:solidFill>
                <a:latin typeface="Arial" pitchFamily="34" charset="0"/>
                <a:ea typeface="Arial" pitchFamily="34" charset="-122"/>
                <a:cs typeface="Arial" pitchFamily="34" charset="-120"/>
              </a:rPr>
              <a:t>Argon2id account values</a:t>
            </a:r>
            <a:endParaRPr lang="en-US" sz="1100" dirty="0"/>
          </a:p>
          <a:p>
            <a:pPr marL="342900" indent="-342900">
              <a:spcAft>
                <a:spcPts val="500"/>
              </a:spcAft>
              <a:buSzPct val="100000"/>
              <a:buChar char="–"/>
            </a:pPr>
            <a:r>
              <a:rPr lang="en-US" sz="1100" dirty="0">
                <a:solidFill>
                  <a:srgbClr val="26242B"/>
                </a:solidFill>
                <a:latin typeface="Arial" pitchFamily="34" charset="0"/>
                <a:ea typeface="Arial" pitchFamily="34" charset="-122"/>
                <a:cs typeface="Arial" pitchFamily="34" charset="-120"/>
              </a:rPr>
              <a:t>Registration, login, sessions</a:t>
            </a:r>
            <a:endParaRPr lang="en-US" sz="1100" dirty="0"/>
          </a:p>
          <a:p>
            <a:pPr marL="342900" indent="-342900">
              <a:spcAft>
                <a:spcPts val="500"/>
              </a:spcAft>
              <a:buSzPct val="100000"/>
              <a:buChar char="–"/>
            </a:pPr>
            <a:r>
              <a:rPr lang="en-US" sz="1100" dirty="0">
                <a:solidFill>
                  <a:srgbClr val="26242B"/>
                </a:solidFill>
                <a:latin typeface="Arial" pitchFamily="34" charset="0"/>
                <a:ea typeface="Arial" pitchFamily="34" charset="-122"/>
                <a:cs typeface="Arial" pitchFamily="34" charset="-120"/>
              </a:rPr>
              <a:t>Private-key wrapping and recovery</a:t>
            </a:r>
            <a:endParaRPr lang="en-US" sz="1100" dirty="0"/>
          </a:p>
        </p:txBody>
      </p:sp>
      <p:sp>
        <p:nvSpPr>
          <p:cNvPr id="10" name="Text 8"/>
          <p:cNvSpPr txBox="1"/>
          <p:nvPr/>
        </p:nvSpPr>
        <p:spPr>
          <a:xfrm>
            <a:off x="4306824" y="1517904"/>
            <a:ext cx="3547872" cy="237744"/>
          </a:xfrm>
          <a:prstGeom prst="rect">
            <a:avLst/>
          </a:prstGeom>
          <a:noFill/>
          <a:ln/>
        </p:spPr>
        <p:txBody>
          <a:bodyPr wrap="square" lIns="0" tIns="0" rIns="0" bIns="0" rtlCol="0" anchor="ctr"/>
          <a:lstStyle/>
          <a:p>
            <a:pPr marL="0" indent="0">
              <a:buNone/>
            </a:pPr>
            <a:r>
              <a:rPr lang="en-US" sz="1000" b="1" kern="0" spc="200" dirty="0">
                <a:solidFill>
                  <a:srgbClr val="C0392F"/>
                </a:solidFill>
                <a:latin typeface="Arial" pitchFamily="34" charset="0"/>
                <a:ea typeface="Arial" pitchFamily="34" charset="-122"/>
                <a:cs typeface="Arial" pitchFamily="34" charset="-120"/>
              </a:rPr>
              <a:t>PART 2</a:t>
            </a:r>
            <a:endParaRPr lang="en-US" sz="1000" dirty="0"/>
          </a:p>
        </p:txBody>
      </p:sp>
      <p:sp>
        <p:nvSpPr>
          <p:cNvPr id="11" name="Text 9"/>
          <p:cNvSpPr txBox="1"/>
          <p:nvPr/>
        </p:nvSpPr>
        <p:spPr>
          <a:xfrm>
            <a:off x="4306824" y="1773936"/>
            <a:ext cx="3547872" cy="329184"/>
          </a:xfrm>
          <a:prstGeom prst="rect">
            <a:avLst/>
          </a:prstGeom>
          <a:noFill/>
          <a:ln/>
        </p:spPr>
        <p:txBody>
          <a:bodyPr wrap="square" lIns="0" tIns="0" rIns="0" bIns="0" rtlCol="0" anchor="ctr"/>
          <a:lstStyle/>
          <a:p>
            <a:pPr marL="0" indent="0">
              <a:buNone/>
            </a:pPr>
            <a:r>
              <a:rPr lang="en-US" sz="1600" b="1" dirty="0">
                <a:solidFill>
                  <a:srgbClr val="26242B"/>
                </a:solidFill>
                <a:latin typeface="Bookman Old Style" pitchFamily="34" charset="0"/>
                <a:ea typeface="Bookman Old Style" pitchFamily="34" charset="-122"/>
                <a:cs typeface="Bookman Old Style" pitchFamily="34" charset="-120"/>
              </a:rPr>
              <a:t>Application and AEAD</a:t>
            </a:r>
            <a:endParaRPr lang="en-US" sz="1600" dirty="0"/>
          </a:p>
        </p:txBody>
      </p:sp>
      <p:sp>
        <p:nvSpPr>
          <p:cNvPr id="12" name="Shape 10"/>
          <p:cNvSpPr/>
          <p:nvPr/>
        </p:nvSpPr>
        <p:spPr>
          <a:xfrm>
            <a:off x="4306824" y="2176272"/>
            <a:ext cx="3547872" cy="0"/>
          </a:xfrm>
          <a:prstGeom prst="line">
            <a:avLst/>
          </a:prstGeom>
          <a:noFill/>
          <a:ln w="9525">
            <a:solidFill>
              <a:srgbClr val="DEDCE2"/>
            </a:solidFill>
            <a:prstDash val="solid"/>
          </a:ln>
        </p:spPr>
      </p:sp>
      <p:sp>
        <p:nvSpPr>
          <p:cNvPr id="13" name="Text 11"/>
          <p:cNvSpPr txBox="1"/>
          <p:nvPr/>
        </p:nvSpPr>
        <p:spPr>
          <a:xfrm>
            <a:off x="4306824" y="2286000"/>
            <a:ext cx="3547872" cy="1737360"/>
          </a:xfrm>
          <a:prstGeom prst="rect">
            <a:avLst/>
          </a:prstGeom>
          <a:noFill/>
          <a:ln/>
        </p:spPr>
        <p:txBody>
          <a:bodyPr wrap="square" lIns="0" tIns="0" rIns="0" bIns="0" rtlCol="0" anchor="t"/>
          <a:lstStyle/>
          <a:p>
            <a:pPr marL="342900" indent="-342900">
              <a:spcAft>
                <a:spcPts val="500"/>
              </a:spcAft>
              <a:buSzPct val="100000"/>
              <a:buChar char="–"/>
            </a:pPr>
            <a:r>
              <a:rPr lang="en-US" sz="1100" dirty="0">
                <a:solidFill>
                  <a:srgbClr val="26242B"/>
                </a:solidFill>
                <a:latin typeface="Arial" pitchFamily="34" charset="0"/>
                <a:ea typeface="Arial" pitchFamily="34" charset="-122"/>
                <a:cs typeface="Arial" pitchFamily="34" charset="-120"/>
              </a:rPr>
              <a:t>SHA-256</a:t>
            </a:r>
            <a:endParaRPr lang="en-US" sz="1100" dirty="0"/>
          </a:p>
          <a:p>
            <a:pPr marL="342900" indent="-342900">
              <a:spcAft>
                <a:spcPts val="500"/>
              </a:spcAft>
              <a:buSzPct val="100000"/>
              <a:buChar char="–"/>
            </a:pPr>
            <a:r>
              <a:rPr lang="en-US" sz="1100" dirty="0">
                <a:solidFill>
                  <a:srgbClr val="26242B"/>
                </a:solidFill>
                <a:latin typeface="Arial" pitchFamily="34" charset="0"/>
                <a:ea typeface="Arial" pitchFamily="34" charset="-122"/>
                <a:cs typeface="Arial" pitchFamily="34" charset="-120"/>
              </a:rPr>
              <a:t>ChaCha20, Poly1305, AEAD</a:t>
            </a:r>
            <a:endParaRPr lang="en-US" sz="1100" dirty="0"/>
          </a:p>
          <a:p>
            <a:pPr marL="342900" indent="-342900">
              <a:spcAft>
                <a:spcPts val="500"/>
              </a:spcAft>
              <a:buSzPct val="100000"/>
              <a:buChar char="–"/>
            </a:pPr>
            <a:r>
              <a:rPr lang="en-US" sz="1100" dirty="0">
                <a:solidFill>
                  <a:srgbClr val="26242B"/>
                </a:solidFill>
                <a:latin typeface="Arial" pitchFamily="34" charset="0"/>
                <a:ea typeface="Arial" pitchFamily="34" charset="-122"/>
                <a:cs typeface="Arial" pitchFamily="34" charset="-120"/>
              </a:rPr>
              <a:t>Byte-level object formats</a:t>
            </a:r>
            <a:endParaRPr lang="en-US" sz="1100" dirty="0"/>
          </a:p>
          <a:p>
            <a:pPr marL="342900" indent="-342900">
              <a:spcAft>
                <a:spcPts val="500"/>
              </a:spcAft>
              <a:buSzPct val="100000"/>
              <a:buChar char="–"/>
            </a:pPr>
            <a:r>
              <a:rPr lang="en-US" sz="1100" dirty="0">
                <a:solidFill>
                  <a:srgbClr val="26242B"/>
                </a:solidFill>
                <a:latin typeface="Arial" pitchFamily="34" charset="0"/>
                <a:ea typeface="Arial" pitchFamily="34" charset="-122"/>
                <a:cs typeface="Arial" pitchFamily="34" charset="-120"/>
              </a:rPr>
              <a:t>Shared-directory transport</a:t>
            </a:r>
            <a:endParaRPr lang="en-US" sz="1100" dirty="0"/>
          </a:p>
          <a:p>
            <a:pPr marL="342900" indent="-342900">
              <a:spcAft>
                <a:spcPts val="500"/>
              </a:spcAft>
              <a:buSzPct val="100000"/>
              <a:buChar char="–"/>
            </a:pPr>
            <a:r>
              <a:rPr lang="en-US" sz="1100" dirty="0">
                <a:solidFill>
                  <a:srgbClr val="26242B"/>
                </a:solidFill>
                <a:latin typeface="Arial" pitchFamily="34" charset="0"/>
                <a:ea typeface="Arial" pitchFamily="34" charset="-122"/>
                <a:cs typeface="Arial" pitchFamily="34" charset="-120"/>
              </a:rPr>
              <a:t>Client and server dispatch</a:t>
            </a:r>
            <a:endParaRPr lang="en-US" sz="1100" dirty="0"/>
          </a:p>
        </p:txBody>
      </p:sp>
      <p:sp>
        <p:nvSpPr>
          <p:cNvPr id="14" name="Text 12"/>
          <p:cNvSpPr txBox="1"/>
          <p:nvPr/>
        </p:nvSpPr>
        <p:spPr>
          <a:xfrm>
            <a:off x="7991856" y="1517904"/>
            <a:ext cx="3547872" cy="237744"/>
          </a:xfrm>
          <a:prstGeom prst="rect">
            <a:avLst/>
          </a:prstGeom>
          <a:noFill/>
          <a:ln/>
        </p:spPr>
        <p:txBody>
          <a:bodyPr wrap="square" lIns="0" tIns="0" rIns="0" bIns="0" rtlCol="0" anchor="ctr"/>
          <a:lstStyle/>
          <a:p>
            <a:pPr marL="0" indent="0">
              <a:buNone/>
            </a:pPr>
            <a:r>
              <a:rPr lang="en-US" sz="1000" b="1" kern="0" spc="200" dirty="0">
                <a:solidFill>
                  <a:srgbClr val="C0392F"/>
                </a:solidFill>
                <a:latin typeface="Arial" pitchFamily="34" charset="0"/>
                <a:ea typeface="Arial" pitchFamily="34" charset="-122"/>
                <a:cs typeface="Arial" pitchFamily="34" charset="-120"/>
              </a:rPr>
              <a:t>PART 3</a:t>
            </a:r>
            <a:endParaRPr lang="en-US" sz="1000" dirty="0"/>
          </a:p>
        </p:txBody>
      </p:sp>
      <p:sp>
        <p:nvSpPr>
          <p:cNvPr id="15" name="Text 13"/>
          <p:cNvSpPr txBox="1"/>
          <p:nvPr/>
        </p:nvSpPr>
        <p:spPr>
          <a:xfrm>
            <a:off x="7991856" y="1773936"/>
            <a:ext cx="3547872" cy="329184"/>
          </a:xfrm>
          <a:prstGeom prst="rect">
            <a:avLst/>
          </a:prstGeom>
          <a:noFill/>
          <a:ln/>
        </p:spPr>
        <p:txBody>
          <a:bodyPr wrap="square" lIns="0" tIns="0" rIns="0" bIns="0" rtlCol="0" anchor="ctr"/>
          <a:lstStyle/>
          <a:p>
            <a:pPr marL="0" indent="0">
              <a:buNone/>
            </a:pPr>
            <a:r>
              <a:rPr lang="en-US" sz="1600" b="1" dirty="0">
                <a:solidFill>
                  <a:srgbClr val="26242B"/>
                </a:solidFill>
                <a:latin typeface="Bookman Old Style" pitchFamily="34" charset="0"/>
                <a:ea typeface="Bookman Old Style" pitchFamily="34" charset="-122"/>
                <a:cs typeface="Bookman Old Style" pitchFamily="34" charset="-120"/>
              </a:rPr>
              <a:t>Sharing</a:t>
            </a:r>
            <a:endParaRPr lang="en-US" sz="1600" dirty="0"/>
          </a:p>
        </p:txBody>
      </p:sp>
      <p:sp>
        <p:nvSpPr>
          <p:cNvPr id="16" name="Shape 14"/>
          <p:cNvSpPr/>
          <p:nvPr/>
        </p:nvSpPr>
        <p:spPr>
          <a:xfrm>
            <a:off x="7991856" y="2176272"/>
            <a:ext cx="3547872" cy="0"/>
          </a:xfrm>
          <a:prstGeom prst="line">
            <a:avLst/>
          </a:prstGeom>
          <a:noFill/>
          <a:ln w="9525">
            <a:solidFill>
              <a:srgbClr val="DEDCE2"/>
            </a:solidFill>
            <a:prstDash val="solid"/>
          </a:ln>
        </p:spPr>
      </p:sp>
      <p:sp>
        <p:nvSpPr>
          <p:cNvPr id="17" name="Text 15"/>
          <p:cNvSpPr txBox="1"/>
          <p:nvPr/>
        </p:nvSpPr>
        <p:spPr>
          <a:xfrm>
            <a:off x="7991856" y="2286000"/>
            <a:ext cx="3547872" cy="1737360"/>
          </a:xfrm>
          <a:prstGeom prst="rect">
            <a:avLst/>
          </a:prstGeom>
          <a:noFill/>
          <a:ln/>
        </p:spPr>
        <p:txBody>
          <a:bodyPr wrap="square" lIns="0" tIns="0" rIns="0" bIns="0" rtlCol="0" anchor="t"/>
          <a:lstStyle/>
          <a:p>
            <a:pPr marL="342900" indent="-342900">
              <a:spcAft>
                <a:spcPts val="500"/>
              </a:spcAft>
              <a:buSzPct val="100000"/>
              <a:buChar char="–"/>
            </a:pPr>
            <a:r>
              <a:rPr lang="en-US" sz="1100" dirty="0">
                <a:solidFill>
                  <a:srgbClr val="26242B"/>
                </a:solidFill>
                <a:latin typeface="Arial" pitchFamily="34" charset="0"/>
                <a:ea typeface="Arial" pitchFamily="34" charset="-122"/>
                <a:cs typeface="Arial" pitchFamily="34" charset="-120"/>
              </a:rPr>
              <a:t>P-256 arithmetic and ECDH</a:t>
            </a:r>
            <a:endParaRPr lang="en-US" sz="1100" dirty="0"/>
          </a:p>
          <a:p>
            <a:pPr marL="342900" indent="-342900">
              <a:spcAft>
                <a:spcPts val="500"/>
              </a:spcAft>
              <a:buSzPct val="100000"/>
              <a:buChar char="–"/>
            </a:pPr>
            <a:r>
              <a:rPr lang="en-US" sz="1100" dirty="0">
                <a:solidFill>
                  <a:srgbClr val="26242B"/>
                </a:solidFill>
                <a:latin typeface="Arial" pitchFamily="34" charset="0"/>
                <a:ea typeface="Arial" pitchFamily="34" charset="-122"/>
                <a:cs typeface="Arial" pitchFamily="34" charset="-120"/>
              </a:rPr>
              <a:t>Trust-on-first-use fingerprints</a:t>
            </a:r>
            <a:endParaRPr lang="en-US" sz="1100" dirty="0"/>
          </a:p>
          <a:p>
            <a:pPr marL="342900" indent="-342900">
              <a:spcAft>
                <a:spcPts val="500"/>
              </a:spcAft>
              <a:buSzPct val="100000"/>
              <a:buChar char="–"/>
            </a:pPr>
            <a:r>
              <a:rPr lang="en-US" sz="1100" dirty="0">
                <a:solidFill>
                  <a:srgbClr val="26242B"/>
                </a:solidFill>
                <a:latin typeface="Arial" pitchFamily="34" charset="0"/>
                <a:ea typeface="Arial" pitchFamily="34" charset="-122"/>
                <a:cs typeface="Arial" pitchFamily="34" charset="-120"/>
              </a:rPr>
              <a:t>Share creation and recovery</a:t>
            </a:r>
            <a:endParaRPr lang="en-US" sz="1100" dirty="0"/>
          </a:p>
          <a:p>
            <a:pPr marL="342900" indent="-342900">
              <a:spcAft>
                <a:spcPts val="500"/>
              </a:spcAft>
              <a:buSzPct val="100000"/>
              <a:buChar char="–"/>
            </a:pPr>
            <a:r>
              <a:rPr lang="en-US" sz="1100" dirty="0">
                <a:solidFill>
                  <a:srgbClr val="26242B"/>
                </a:solidFill>
                <a:latin typeface="Arial" pitchFamily="34" charset="0"/>
                <a:ea typeface="Arial" pitchFamily="34" charset="-122"/>
                <a:cs typeface="Arial" pitchFamily="34" charset="-120"/>
              </a:rPr>
              <a:t>Freshness and replay checks</a:t>
            </a:r>
            <a:endParaRPr lang="en-US" sz="1100" dirty="0"/>
          </a:p>
          <a:p>
            <a:pPr marL="342900" indent="-342900">
              <a:spcAft>
                <a:spcPts val="500"/>
              </a:spcAft>
              <a:buSzPct val="100000"/>
              <a:buChar char="–"/>
            </a:pPr>
            <a:r>
              <a:rPr lang="en-US" sz="1100" dirty="0">
                <a:solidFill>
                  <a:srgbClr val="26242B"/>
                </a:solidFill>
                <a:latin typeface="Arial" pitchFamily="34" charset="0"/>
                <a:ea typeface="Arial" pitchFamily="34" charset="-122"/>
                <a:cs typeface="Arial" pitchFamily="34" charset="-120"/>
              </a:rPr>
              <a:t>Persisted trust and freshness state</a:t>
            </a:r>
            <a:endParaRPr lang="en-US" sz="1100" dirty="0"/>
          </a:p>
        </p:txBody>
      </p:sp>
      <p:sp>
        <p:nvSpPr>
          <p:cNvPr id="18" name="Shape 16"/>
          <p:cNvSpPr/>
          <p:nvPr/>
        </p:nvSpPr>
        <p:spPr>
          <a:xfrm>
            <a:off x="621792" y="4160520"/>
            <a:ext cx="10917936" cy="960120"/>
          </a:xfrm>
          <a:prstGeom prst="rect">
            <a:avLst/>
          </a:prstGeom>
          <a:solidFill>
            <a:srgbClr val="3C4F3F"/>
          </a:solidFill>
          <a:ln w="12700">
            <a:solidFill>
              <a:srgbClr val="3C4F3F"/>
            </a:solidFill>
            <a:prstDash val="solid"/>
          </a:ln>
        </p:spPr>
      </p:sp>
      <p:sp>
        <p:nvSpPr>
          <p:cNvPr id="19" name="Text 17"/>
          <p:cNvSpPr txBox="1"/>
          <p:nvPr/>
        </p:nvSpPr>
        <p:spPr>
          <a:xfrm>
            <a:off x="822960" y="4297680"/>
            <a:ext cx="10515600" cy="292608"/>
          </a:xfrm>
          <a:prstGeom prst="rect">
            <a:avLst/>
          </a:prstGeom>
          <a:noFill/>
          <a:ln/>
        </p:spPr>
        <p:txBody>
          <a:bodyPr wrap="square" lIns="0" tIns="0" rIns="0" bIns="0" rtlCol="0" anchor="ctr"/>
          <a:lstStyle/>
          <a:p>
            <a:pPr marL="0" indent="0">
              <a:buNone/>
            </a:pPr>
            <a:r>
              <a:rPr lang="en-US" sz="1150" b="1" kern="0" spc="40" dirty="0">
                <a:solidFill>
                  <a:srgbClr val="FFFFFF"/>
                </a:solidFill>
                <a:latin typeface="Arial" pitchFamily="34" charset="0"/>
                <a:ea typeface="Arial" pitchFamily="34" charset="-122"/>
                <a:cs typeface="Arial" pitchFamily="34" charset="-120"/>
              </a:rPr>
              <a:t>The contract all three parts share</a:t>
            </a:r>
            <a:endParaRPr lang="en-US" sz="1150" dirty="0"/>
          </a:p>
        </p:txBody>
      </p:sp>
      <p:sp>
        <p:nvSpPr>
          <p:cNvPr id="20" name="Text 18"/>
          <p:cNvSpPr txBox="1"/>
          <p:nvPr/>
        </p:nvSpPr>
        <p:spPr>
          <a:xfrm>
            <a:off x="822960" y="4636008"/>
            <a:ext cx="10515600" cy="356616"/>
          </a:xfrm>
          <a:prstGeom prst="rect">
            <a:avLst/>
          </a:prstGeom>
          <a:noFill/>
          <a:ln/>
        </p:spPr>
        <p:txBody>
          <a:bodyPr wrap="square" lIns="0" tIns="0" rIns="0" bIns="0" rtlCol="0" anchor="t"/>
          <a:lstStyle/>
          <a:p>
            <a:pPr marL="0" indent="0">
              <a:buNone/>
            </a:pPr>
            <a:r>
              <a:rPr lang="en-US" sz="1050" dirty="0">
                <a:solidFill>
                  <a:srgbClr val="DCE3DC"/>
                </a:solidFill>
                <a:latin typeface="Arial" pitchFamily="34" charset="0"/>
                <a:ea typeface="Arial" pitchFamily="34" charset="-122"/>
                <a:cs typeface="Arial" pitchFamily="34" charset="-120"/>
              </a:rPr>
              <a:t>The byte-level object formats, one definition of a public-key fingerprint, and the exact bytes every AEAD tag and every signature covers. If any of the three drifts, verification fails silently  which is why the interfaces are documented in docs/account_interfaces.md and tested across module boundaries, not only inside each module.</a:t>
            </a:r>
            <a:endParaRPr lang="en-US" sz="1050" dirty="0"/>
          </a:p>
        </p:txBody>
      </p:sp>
      <p:sp>
        <p:nvSpPr>
          <p:cNvPr id="21" name="Shape 19"/>
          <p:cNvSpPr/>
          <p:nvPr/>
        </p:nvSpPr>
        <p:spPr>
          <a:xfrm>
            <a:off x="621792" y="5285232"/>
            <a:ext cx="10917936" cy="704088"/>
          </a:xfrm>
          <a:prstGeom prst="rect">
            <a:avLst/>
          </a:prstGeom>
          <a:solidFill>
            <a:srgbClr val="F7F5F6"/>
          </a:solidFill>
          <a:ln w="15875">
            <a:solidFill>
              <a:srgbClr val="C0392F"/>
            </a:solidFill>
            <a:prstDash val="solid"/>
          </a:ln>
        </p:spPr>
      </p:sp>
      <p:sp>
        <p:nvSpPr>
          <p:cNvPr id="22" name="Text 20"/>
          <p:cNvSpPr txBox="1"/>
          <p:nvPr/>
        </p:nvSpPr>
        <p:spPr>
          <a:xfrm>
            <a:off x="822960" y="5422392"/>
            <a:ext cx="10515600" cy="292608"/>
          </a:xfrm>
          <a:prstGeom prst="rect">
            <a:avLst/>
          </a:prstGeom>
          <a:noFill/>
          <a:ln/>
        </p:spPr>
        <p:txBody>
          <a:bodyPr wrap="square" lIns="0" tIns="0" rIns="0" bIns="0" rtlCol="0" anchor="ctr"/>
          <a:lstStyle/>
          <a:p>
            <a:pPr marL="0" indent="0">
              <a:buNone/>
            </a:pPr>
            <a:r>
              <a:rPr lang="en-US" sz="1150" b="1" kern="0" spc="40" dirty="0">
                <a:solidFill>
                  <a:srgbClr val="C0392F"/>
                </a:solidFill>
                <a:latin typeface="Arial" pitchFamily="34" charset="0"/>
                <a:ea typeface="Arial" pitchFamily="34" charset="-122"/>
                <a:cs typeface="Arial" pitchFamily="34" charset="-120"/>
              </a:rPr>
              <a:t>And it did drift once</a:t>
            </a:r>
            <a:endParaRPr lang="en-US" sz="1150" dirty="0"/>
          </a:p>
        </p:txBody>
      </p:sp>
      <p:sp>
        <p:nvSpPr>
          <p:cNvPr id="23" name="Text 21"/>
          <p:cNvSpPr txBox="1"/>
          <p:nvPr/>
        </p:nvSpPr>
        <p:spPr>
          <a:xfrm>
            <a:off x="822960" y="5626367"/>
            <a:ext cx="10515600" cy="320040"/>
          </a:xfrm>
          <a:prstGeom prst="rect">
            <a:avLst/>
          </a:prstGeom>
          <a:noFill/>
          <a:ln/>
        </p:spPr>
        <p:txBody>
          <a:bodyPr wrap="square" lIns="0" tIns="0" rIns="0" bIns="0" rtlCol="0" anchor="t"/>
          <a:lstStyle/>
          <a:p>
            <a:pPr marL="0" indent="0">
              <a:buNone/>
            </a:pPr>
            <a:r>
              <a:rPr lang="en-US" sz="1050" dirty="0"/>
              <a:t>We had an integration bug where two parts hashed different byte layouts for the public-key fingerprint. We fixed it by making both sides hash the same canonical </a:t>
            </a:r>
            <a:r>
              <a:rPr lang="en-US" sz="1050" dirty="0" err="1"/>
              <a:t>PublicKey</a:t>
            </a:r>
            <a:r>
              <a:rPr lang="en-US" sz="1050" dirty="0"/>
              <a:t> encoding, and we kept a cross-boundary test to prevent the definitions from drifting again.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C1B1F"/>
        </a:solidFill>
        <a:effectLst/>
      </p:bgPr>
    </p:bg>
    <p:spTree>
      <p:nvGrpSpPr>
        <p:cNvPr id="1" name=""/>
        <p:cNvGrpSpPr/>
        <p:nvPr/>
      </p:nvGrpSpPr>
      <p:grpSpPr>
        <a:xfrm>
          <a:off x="0" y="0"/>
          <a:ext cx="0" cy="0"/>
          <a:chOff x="0" y="0"/>
          <a:chExt cx="0" cy="0"/>
        </a:xfrm>
      </p:grpSpPr>
      <p:sp>
        <p:nvSpPr>
          <p:cNvPr id="2" name="Text 0"/>
          <p:cNvSpPr txBox="1"/>
          <p:nvPr/>
        </p:nvSpPr>
        <p:spPr>
          <a:xfrm>
            <a:off x="621792" y="1828800"/>
            <a:ext cx="10917936" cy="274320"/>
          </a:xfrm>
          <a:prstGeom prst="rect">
            <a:avLst/>
          </a:prstGeom>
          <a:noFill/>
          <a:ln/>
        </p:spPr>
        <p:txBody>
          <a:bodyPr wrap="square" lIns="0" tIns="0" rIns="0" bIns="0" rtlCol="0" anchor="ctr"/>
          <a:lstStyle/>
          <a:p>
            <a:pPr marL="0" indent="0">
              <a:buNone/>
            </a:pPr>
            <a:r>
              <a:rPr lang="en-US" sz="1100" b="1" kern="0" spc="300" dirty="0">
                <a:solidFill>
                  <a:srgbClr val="C0392F"/>
                </a:solidFill>
                <a:latin typeface="Arial" pitchFamily="34" charset="0"/>
                <a:ea typeface="Arial" pitchFamily="34" charset="-122"/>
                <a:cs typeface="Arial" pitchFamily="34" charset="-120"/>
              </a:rPr>
              <a:t>PART ONE</a:t>
            </a:r>
            <a:endParaRPr lang="en-US" sz="1100" dirty="0"/>
          </a:p>
        </p:txBody>
      </p:sp>
      <p:sp>
        <p:nvSpPr>
          <p:cNvPr id="3" name="Text 1"/>
          <p:cNvSpPr txBox="1"/>
          <p:nvPr/>
        </p:nvSpPr>
        <p:spPr>
          <a:xfrm>
            <a:off x="621792" y="2212848"/>
            <a:ext cx="9089136" cy="1005840"/>
          </a:xfrm>
          <a:prstGeom prst="rect">
            <a:avLst/>
          </a:prstGeom>
          <a:noFill/>
          <a:ln/>
        </p:spPr>
        <p:txBody>
          <a:bodyPr wrap="square" lIns="0" tIns="0" rIns="0" bIns="0" rtlCol="0" anchor="ctr"/>
          <a:lstStyle/>
          <a:p>
            <a:pPr marL="0" indent="0">
              <a:buNone/>
            </a:pPr>
            <a:r>
              <a:rPr lang="en-US" sz="3600" b="1" dirty="0">
                <a:solidFill>
                  <a:srgbClr val="FFFFFF"/>
                </a:solidFill>
                <a:latin typeface="Bookman Old Style" pitchFamily="34" charset="0"/>
                <a:ea typeface="Bookman Old Style" pitchFamily="34" charset="-122"/>
                <a:cs typeface="Bookman Old Style" pitchFamily="34" charset="-120"/>
              </a:rPr>
              <a:t>Accounts and key hierarchy</a:t>
            </a:r>
            <a:endParaRPr lang="en-US" sz="3600" dirty="0"/>
          </a:p>
        </p:txBody>
      </p:sp>
      <p:sp>
        <p:nvSpPr>
          <p:cNvPr id="4" name="Text 2"/>
          <p:cNvSpPr txBox="1"/>
          <p:nvPr/>
        </p:nvSpPr>
        <p:spPr>
          <a:xfrm>
            <a:off x="621792" y="3310128"/>
            <a:ext cx="8174736" cy="457200"/>
          </a:xfrm>
          <a:prstGeom prst="rect">
            <a:avLst/>
          </a:prstGeom>
          <a:noFill/>
          <a:ln/>
        </p:spPr>
        <p:txBody>
          <a:bodyPr wrap="square" lIns="0" tIns="0" rIns="0" bIns="0" rtlCol="0" anchor="ctr"/>
          <a:lstStyle/>
          <a:p>
            <a:pPr marL="0" indent="0">
              <a:buNone/>
            </a:pPr>
            <a:r>
              <a:rPr lang="en-US" sz="1350" dirty="0">
                <a:solidFill>
                  <a:srgbClr val="A6A2AE"/>
                </a:solidFill>
                <a:latin typeface="Arial" pitchFamily="34" charset="0"/>
                <a:ea typeface="Arial" pitchFamily="34" charset="-122"/>
                <a:cs typeface="Arial" pitchFamily="34" charset="-120"/>
              </a:rPr>
              <a:t>From one password to account records, sessions and key recovery</a:t>
            </a:r>
            <a:endParaRPr lang="en-US" sz="1350" dirty="0"/>
          </a:p>
        </p:txBody>
      </p:sp>
      <p:sp>
        <p:nvSpPr>
          <p:cNvPr id="5" name="Shape 3"/>
          <p:cNvSpPr/>
          <p:nvPr/>
        </p:nvSpPr>
        <p:spPr>
          <a:xfrm>
            <a:off x="621792" y="4069080"/>
            <a:ext cx="10917936" cy="0"/>
          </a:xfrm>
          <a:prstGeom prst="line">
            <a:avLst/>
          </a:prstGeom>
          <a:noFill/>
          <a:ln w="9525">
            <a:solidFill>
              <a:srgbClr val="4A4653"/>
            </a:solidFill>
            <a:prstDash val="solid"/>
          </a:ln>
        </p:spPr>
      </p:sp>
      <p:sp>
        <p:nvSpPr>
          <p:cNvPr id="6" name="Text 4"/>
          <p:cNvSpPr txBox="1"/>
          <p:nvPr/>
        </p:nvSpPr>
        <p:spPr>
          <a:xfrm>
            <a:off x="621792" y="4224528"/>
            <a:ext cx="548640" cy="274320"/>
          </a:xfrm>
          <a:prstGeom prst="rect">
            <a:avLst/>
          </a:prstGeom>
          <a:noFill/>
          <a:ln/>
        </p:spPr>
        <p:txBody>
          <a:bodyPr wrap="square" lIns="0" tIns="0" rIns="0" bIns="0" rtlCol="0" anchor="ctr"/>
          <a:lstStyle/>
          <a:p>
            <a:pPr marL="0" indent="0">
              <a:buNone/>
            </a:pPr>
            <a:r>
              <a:rPr lang="en-US" sz="1100" b="1" dirty="0">
                <a:solidFill>
                  <a:srgbClr val="C0392F"/>
                </a:solidFill>
                <a:latin typeface="Arial" pitchFamily="34" charset="0"/>
                <a:ea typeface="Arial" pitchFamily="34" charset="-122"/>
                <a:cs typeface="Arial" pitchFamily="34" charset="-120"/>
              </a:rPr>
              <a:t>01</a:t>
            </a:r>
            <a:endParaRPr lang="en-US" sz="1100" dirty="0"/>
          </a:p>
        </p:txBody>
      </p:sp>
      <p:sp>
        <p:nvSpPr>
          <p:cNvPr id="7" name="Text 5"/>
          <p:cNvSpPr txBox="1"/>
          <p:nvPr/>
        </p:nvSpPr>
        <p:spPr>
          <a:xfrm>
            <a:off x="621792" y="4517136"/>
            <a:ext cx="3273552" cy="640080"/>
          </a:xfrm>
          <a:prstGeom prst="rect">
            <a:avLst/>
          </a:prstGeom>
          <a:noFill/>
          <a:ln/>
        </p:spPr>
        <p:txBody>
          <a:bodyPr wrap="square" lIns="0" tIns="0" rIns="0" bIns="0" rtlCol="0" anchor="t"/>
          <a:lstStyle/>
          <a:p>
            <a:pPr marL="0" indent="0">
              <a:buNone/>
            </a:pPr>
            <a:r>
              <a:rPr lang="en-US" sz="1150" dirty="0">
                <a:solidFill>
                  <a:srgbClr val="C6C2CC"/>
                </a:solidFill>
                <a:latin typeface="Arial" pitchFamily="34" charset="0"/>
                <a:ea typeface="Arial" pitchFamily="34" charset="-122"/>
                <a:cs typeface="Arial" pitchFamily="34" charset="-120"/>
              </a:rPr>
              <a:t>Password derivation and Decision 7.1</a:t>
            </a:r>
            <a:endParaRPr lang="en-US" sz="1150" dirty="0"/>
          </a:p>
        </p:txBody>
      </p:sp>
      <p:sp>
        <p:nvSpPr>
          <p:cNvPr id="8" name="Text 6"/>
          <p:cNvSpPr txBox="1"/>
          <p:nvPr/>
        </p:nvSpPr>
        <p:spPr>
          <a:xfrm>
            <a:off x="4261104" y="4224528"/>
            <a:ext cx="548640" cy="274320"/>
          </a:xfrm>
          <a:prstGeom prst="rect">
            <a:avLst/>
          </a:prstGeom>
          <a:noFill/>
          <a:ln/>
        </p:spPr>
        <p:txBody>
          <a:bodyPr wrap="square" lIns="0" tIns="0" rIns="0" bIns="0" rtlCol="0" anchor="ctr"/>
          <a:lstStyle/>
          <a:p>
            <a:pPr marL="0" indent="0">
              <a:buNone/>
            </a:pPr>
            <a:r>
              <a:rPr lang="en-US" sz="1100" b="1" dirty="0">
                <a:solidFill>
                  <a:srgbClr val="C0392F"/>
                </a:solidFill>
                <a:latin typeface="Arial" pitchFamily="34" charset="0"/>
                <a:ea typeface="Arial" pitchFamily="34" charset="-122"/>
                <a:cs typeface="Arial" pitchFamily="34" charset="-120"/>
              </a:rPr>
              <a:t>02</a:t>
            </a:r>
            <a:endParaRPr lang="en-US" sz="1100" dirty="0"/>
          </a:p>
        </p:txBody>
      </p:sp>
      <p:sp>
        <p:nvSpPr>
          <p:cNvPr id="9" name="Text 7"/>
          <p:cNvSpPr txBox="1"/>
          <p:nvPr/>
        </p:nvSpPr>
        <p:spPr>
          <a:xfrm>
            <a:off x="4261104" y="4517136"/>
            <a:ext cx="3273552" cy="640080"/>
          </a:xfrm>
          <a:prstGeom prst="rect">
            <a:avLst/>
          </a:prstGeom>
          <a:noFill/>
          <a:ln/>
        </p:spPr>
        <p:txBody>
          <a:bodyPr wrap="square" lIns="0" tIns="0" rIns="0" bIns="0" rtlCol="0" anchor="t"/>
          <a:lstStyle/>
          <a:p>
            <a:pPr marL="0" indent="0">
              <a:buNone/>
            </a:pPr>
            <a:r>
              <a:rPr lang="en-US" sz="1150" dirty="0">
                <a:solidFill>
                  <a:srgbClr val="C6C2CC"/>
                </a:solidFill>
                <a:latin typeface="Arial" pitchFamily="34" charset="0"/>
                <a:ea typeface="Arial" pitchFamily="34" charset="-122"/>
                <a:cs typeface="Arial" pitchFamily="34" charset="-120"/>
              </a:rPr>
              <a:t>Registration and login</a:t>
            </a:r>
            <a:endParaRPr lang="en-US" sz="1150" dirty="0"/>
          </a:p>
        </p:txBody>
      </p:sp>
      <p:sp>
        <p:nvSpPr>
          <p:cNvPr id="10" name="Text 8"/>
          <p:cNvSpPr txBox="1"/>
          <p:nvPr/>
        </p:nvSpPr>
        <p:spPr>
          <a:xfrm>
            <a:off x="7900416" y="4224528"/>
            <a:ext cx="548640" cy="274320"/>
          </a:xfrm>
          <a:prstGeom prst="rect">
            <a:avLst/>
          </a:prstGeom>
          <a:noFill/>
          <a:ln/>
        </p:spPr>
        <p:txBody>
          <a:bodyPr wrap="square" lIns="0" tIns="0" rIns="0" bIns="0" rtlCol="0" anchor="ctr"/>
          <a:lstStyle/>
          <a:p>
            <a:pPr marL="0" indent="0">
              <a:buNone/>
            </a:pPr>
            <a:r>
              <a:rPr lang="en-US" sz="1100" b="1" dirty="0">
                <a:solidFill>
                  <a:srgbClr val="C0392F"/>
                </a:solidFill>
                <a:latin typeface="Arial" pitchFamily="34" charset="0"/>
                <a:ea typeface="Arial" pitchFamily="34" charset="-122"/>
                <a:cs typeface="Arial" pitchFamily="34" charset="-120"/>
              </a:rPr>
              <a:t>03</a:t>
            </a:r>
            <a:endParaRPr lang="en-US" sz="1100" dirty="0"/>
          </a:p>
        </p:txBody>
      </p:sp>
      <p:sp>
        <p:nvSpPr>
          <p:cNvPr id="11" name="Text 9"/>
          <p:cNvSpPr txBox="1"/>
          <p:nvPr/>
        </p:nvSpPr>
        <p:spPr>
          <a:xfrm>
            <a:off x="7900416" y="4517136"/>
            <a:ext cx="3273552" cy="640080"/>
          </a:xfrm>
          <a:prstGeom prst="rect">
            <a:avLst/>
          </a:prstGeom>
          <a:noFill/>
          <a:ln/>
        </p:spPr>
        <p:txBody>
          <a:bodyPr wrap="square" lIns="0" tIns="0" rIns="0" bIns="0" rtlCol="0" anchor="t"/>
          <a:lstStyle/>
          <a:p>
            <a:pPr marL="0" indent="0">
              <a:buNone/>
            </a:pPr>
            <a:r>
              <a:rPr lang="en-US" sz="1150" dirty="0">
                <a:solidFill>
                  <a:srgbClr val="C6C2CC"/>
                </a:solidFill>
                <a:latin typeface="Arial" pitchFamily="34" charset="0"/>
                <a:ea typeface="Arial" pitchFamily="34" charset="-122"/>
                <a:cs typeface="Arial" pitchFamily="34" charset="-120"/>
              </a:rPr>
              <a:t>Sessions, password change, evidence</a:t>
            </a:r>
            <a:endParaRPr lang="en-US" sz="1150" dirty="0"/>
          </a:p>
        </p:txBody>
      </p:sp>
      <p:sp>
        <p:nvSpPr>
          <p:cNvPr id="12" name="Text 10"/>
          <p:cNvSpPr txBox="1"/>
          <p:nvPr/>
        </p:nvSpPr>
        <p:spPr>
          <a:xfrm>
            <a:off x="10899648" y="6355080"/>
            <a:ext cx="640080" cy="274320"/>
          </a:xfrm>
          <a:prstGeom prst="rect">
            <a:avLst/>
          </a:prstGeom>
          <a:noFill/>
          <a:ln/>
        </p:spPr>
        <p:txBody>
          <a:bodyPr wrap="square" lIns="0" tIns="0" rIns="0" bIns="0" rtlCol="0" anchor="ctr"/>
          <a:lstStyle/>
          <a:p>
            <a:pPr marL="0" indent="0" algn="r">
              <a:buNone/>
            </a:pPr>
            <a:r>
              <a:rPr lang="en-US" sz="1100" b="1" dirty="0">
                <a:solidFill>
                  <a:srgbClr val="4A4653"/>
                </a:solidFill>
                <a:latin typeface="Arial" pitchFamily="34" charset="0"/>
                <a:ea typeface="Arial" pitchFamily="34" charset="-122"/>
                <a:cs typeface="Arial"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21792" y="329184"/>
            <a:ext cx="9820656" cy="237744"/>
          </a:xfrm>
          <a:prstGeom prst="rect">
            <a:avLst/>
          </a:prstGeom>
          <a:noFill/>
          <a:ln/>
        </p:spPr>
        <p:txBody>
          <a:bodyPr wrap="square" lIns="0" tIns="0" rIns="0" bIns="0" rtlCol="0" anchor="ctr"/>
          <a:lstStyle/>
          <a:p>
            <a:pPr marL="0" indent="0">
              <a:buNone/>
            </a:pPr>
            <a:r>
              <a:rPr lang="en-US" sz="950" b="1" kern="0" spc="250" dirty="0">
                <a:solidFill>
                  <a:srgbClr val="C0392F"/>
                </a:solidFill>
                <a:latin typeface="Arial" pitchFamily="34" charset="0"/>
                <a:ea typeface="Arial" pitchFamily="34" charset="-122"/>
                <a:cs typeface="Arial" pitchFamily="34" charset="-120"/>
              </a:rPr>
              <a:t>PART 1 · ACCOUNTS</a:t>
            </a:r>
            <a:endParaRPr lang="en-US" sz="950" dirty="0"/>
          </a:p>
        </p:txBody>
      </p:sp>
      <p:sp>
        <p:nvSpPr>
          <p:cNvPr id="3" name="Text 1"/>
          <p:cNvSpPr txBox="1"/>
          <p:nvPr/>
        </p:nvSpPr>
        <p:spPr>
          <a:xfrm>
            <a:off x="621792" y="603504"/>
            <a:ext cx="10917936" cy="530352"/>
          </a:xfrm>
          <a:prstGeom prst="rect">
            <a:avLst/>
          </a:prstGeom>
          <a:noFill/>
          <a:ln/>
        </p:spPr>
        <p:txBody>
          <a:bodyPr wrap="square" lIns="0" tIns="0" rIns="0" bIns="0" rtlCol="0" anchor="ctr"/>
          <a:lstStyle/>
          <a:p>
            <a:pPr marL="0" indent="0">
              <a:buNone/>
            </a:pPr>
            <a:r>
              <a:rPr lang="en-US" sz="2500" b="1" dirty="0">
                <a:solidFill>
                  <a:srgbClr val="26242B"/>
                </a:solidFill>
                <a:latin typeface="Bookman Old Style" pitchFamily="34" charset="0"/>
                <a:ea typeface="Bookman Old Style" pitchFamily="34" charset="-122"/>
                <a:cs typeface="Bookman Old Style" pitchFamily="34" charset="-120"/>
              </a:rPr>
              <a:t>Part 1 — password derivation</a:t>
            </a:r>
            <a:endParaRPr lang="en-US" sz="2500" dirty="0"/>
          </a:p>
        </p:txBody>
      </p:sp>
      <p:sp>
        <p:nvSpPr>
          <p:cNvPr id="4" name="Text 2"/>
          <p:cNvSpPr txBox="1"/>
          <p:nvPr/>
        </p:nvSpPr>
        <p:spPr>
          <a:xfrm>
            <a:off x="621792" y="1133856"/>
            <a:ext cx="10917936" cy="274320"/>
          </a:xfrm>
          <a:prstGeom prst="rect">
            <a:avLst/>
          </a:prstGeom>
          <a:noFill/>
          <a:ln/>
        </p:spPr>
        <p:txBody>
          <a:bodyPr wrap="square" lIns="0" tIns="0" rIns="0" bIns="0" rtlCol="0" anchor="ctr"/>
          <a:lstStyle/>
          <a:p>
            <a:pPr marL="0" indent="0">
              <a:buNone/>
            </a:pPr>
            <a:r>
              <a:rPr lang="en-US" sz="1200" dirty="0">
                <a:solidFill>
                  <a:srgbClr val="76737E"/>
                </a:solidFill>
                <a:latin typeface="Arial" pitchFamily="34" charset="0"/>
                <a:ea typeface="Arial" pitchFamily="34" charset="-122"/>
                <a:cs typeface="Arial" pitchFamily="34" charset="-120"/>
              </a:rPr>
              <a:t>One password becomes two separated secrets</a:t>
            </a:r>
            <a:endParaRPr lang="en-US" sz="1200" dirty="0"/>
          </a:p>
        </p:txBody>
      </p:sp>
      <p:sp>
        <p:nvSpPr>
          <p:cNvPr id="5" name="Text 3"/>
          <p:cNvSpPr txBox="1"/>
          <p:nvPr/>
        </p:nvSpPr>
        <p:spPr>
          <a:xfrm>
            <a:off x="10899648" y="310896"/>
            <a:ext cx="640080" cy="274320"/>
          </a:xfrm>
          <a:prstGeom prst="rect">
            <a:avLst/>
          </a:prstGeom>
          <a:noFill/>
          <a:ln/>
        </p:spPr>
        <p:txBody>
          <a:bodyPr wrap="square" lIns="0" tIns="0" rIns="0" bIns="0" rtlCol="0" anchor="ctr"/>
          <a:lstStyle/>
          <a:p>
            <a:pPr marL="0" indent="0" algn="r">
              <a:buNone/>
            </a:pPr>
            <a:r>
              <a:rPr lang="en-US" sz="1100" b="1" dirty="0">
                <a:solidFill>
                  <a:srgbClr val="DEDCE2"/>
                </a:solidFill>
                <a:latin typeface="Arial" pitchFamily="34" charset="0"/>
                <a:ea typeface="Arial" pitchFamily="34" charset="-122"/>
                <a:cs typeface="Arial" pitchFamily="34" charset="-120"/>
              </a:rPr>
              <a:t>07</a:t>
            </a:r>
            <a:endParaRPr lang="en-US" sz="1100" dirty="0"/>
          </a:p>
        </p:txBody>
      </p:sp>
      <p:sp>
        <p:nvSpPr>
          <p:cNvPr id="6" name="Text 4"/>
          <p:cNvSpPr txBox="1"/>
          <p:nvPr/>
        </p:nvSpPr>
        <p:spPr>
          <a:xfrm>
            <a:off x="621792" y="1481328"/>
            <a:ext cx="822960" cy="402336"/>
          </a:xfrm>
          <a:prstGeom prst="rect">
            <a:avLst/>
          </a:prstGeom>
          <a:noFill/>
          <a:ln/>
        </p:spPr>
        <p:txBody>
          <a:bodyPr wrap="square" lIns="0" tIns="0" rIns="0" bIns="0" rtlCol="0" anchor="ctr"/>
          <a:lstStyle/>
          <a:p>
            <a:pPr marL="0" indent="0">
              <a:buNone/>
            </a:pPr>
            <a:r>
              <a:rPr lang="en-US" sz="2200" b="1" dirty="0">
                <a:solidFill>
                  <a:srgbClr val="C0392F"/>
                </a:solidFill>
                <a:latin typeface="Bookman Old Style" pitchFamily="34" charset="0"/>
                <a:ea typeface="Bookman Old Style" pitchFamily="34" charset="-122"/>
                <a:cs typeface="Bookman Old Style" pitchFamily="34" charset="-120"/>
              </a:rPr>
              <a:t>01</a:t>
            </a:r>
            <a:endParaRPr lang="en-US" sz="2200" dirty="0"/>
          </a:p>
        </p:txBody>
      </p:sp>
      <p:sp>
        <p:nvSpPr>
          <p:cNvPr id="7" name="Text 5"/>
          <p:cNvSpPr txBox="1"/>
          <p:nvPr/>
        </p:nvSpPr>
        <p:spPr>
          <a:xfrm>
            <a:off x="621792" y="1883664"/>
            <a:ext cx="2496312" cy="274320"/>
          </a:xfrm>
          <a:prstGeom prst="rect">
            <a:avLst/>
          </a:prstGeom>
          <a:noFill/>
          <a:ln/>
        </p:spPr>
        <p:txBody>
          <a:bodyPr wrap="square" lIns="0" tIns="0" rIns="0" bIns="0" rtlCol="0" anchor="ctr"/>
          <a:lstStyle/>
          <a:p>
            <a:pPr marL="0" indent="0">
              <a:buNone/>
            </a:pPr>
            <a:r>
              <a:rPr lang="en-US" sz="1200" b="1" dirty="0">
                <a:solidFill>
                  <a:srgbClr val="26242B"/>
                </a:solidFill>
                <a:latin typeface="Arial" pitchFamily="34" charset="0"/>
                <a:ea typeface="Arial" pitchFamily="34" charset="-122"/>
                <a:cs typeface="Arial" pitchFamily="34" charset="-120"/>
              </a:rPr>
              <a:t>Password</a:t>
            </a:r>
            <a:endParaRPr lang="en-US" sz="1200" dirty="0"/>
          </a:p>
        </p:txBody>
      </p:sp>
      <p:sp>
        <p:nvSpPr>
          <p:cNvPr id="8" name="Text 6"/>
          <p:cNvSpPr txBox="1"/>
          <p:nvPr/>
        </p:nvSpPr>
        <p:spPr>
          <a:xfrm>
            <a:off x="621792" y="2157984"/>
            <a:ext cx="2496312" cy="566928"/>
          </a:xfrm>
          <a:prstGeom prst="rect">
            <a:avLst/>
          </a:prstGeom>
          <a:noFill/>
          <a:ln/>
        </p:spPr>
        <p:txBody>
          <a:bodyPr wrap="square" lIns="0" tIns="0" rIns="0" bIns="0" rtlCol="0" anchor="t"/>
          <a:lstStyle/>
          <a:p>
            <a:pPr marL="0" indent="0">
              <a:buNone/>
            </a:pPr>
            <a:r>
              <a:rPr lang="en-US" sz="1050" dirty="0">
                <a:solidFill>
                  <a:srgbClr val="76737E"/>
                </a:solidFill>
                <a:latin typeface="Arial" pitchFamily="34" charset="0"/>
                <a:ea typeface="Arial" pitchFamily="34" charset="-122"/>
                <a:cs typeface="Arial" pitchFamily="34" charset="-120"/>
              </a:rPr>
              <a:t>UTF-8 string; never leaves the client</a:t>
            </a:r>
            <a:endParaRPr lang="en-US" sz="1050" dirty="0"/>
          </a:p>
        </p:txBody>
      </p:sp>
      <p:sp>
        <p:nvSpPr>
          <p:cNvPr id="9" name="Shape 7"/>
          <p:cNvSpPr/>
          <p:nvPr/>
        </p:nvSpPr>
        <p:spPr>
          <a:xfrm>
            <a:off x="621792" y="1847088"/>
            <a:ext cx="2496312" cy="0"/>
          </a:xfrm>
          <a:prstGeom prst="line">
            <a:avLst/>
          </a:prstGeom>
          <a:noFill/>
          <a:ln w="9525">
            <a:solidFill>
              <a:srgbClr val="DEDCE2"/>
            </a:solidFill>
            <a:prstDash val="solid"/>
          </a:ln>
        </p:spPr>
      </p:sp>
      <p:sp>
        <p:nvSpPr>
          <p:cNvPr id="10" name="Text 8"/>
          <p:cNvSpPr txBox="1"/>
          <p:nvPr/>
        </p:nvSpPr>
        <p:spPr>
          <a:xfrm>
            <a:off x="3429000" y="1481328"/>
            <a:ext cx="822960" cy="402336"/>
          </a:xfrm>
          <a:prstGeom prst="rect">
            <a:avLst/>
          </a:prstGeom>
          <a:noFill/>
          <a:ln/>
        </p:spPr>
        <p:txBody>
          <a:bodyPr wrap="square" lIns="0" tIns="0" rIns="0" bIns="0" rtlCol="0" anchor="ctr"/>
          <a:lstStyle/>
          <a:p>
            <a:pPr marL="0" indent="0">
              <a:buNone/>
            </a:pPr>
            <a:r>
              <a:rPr lang="en-US" sz="2200" b="1" dirty="0">
                <a:solidFill>
                  <a:srgbClr val="C0392F"/>
                </a:solidFill>
                <a:latin typeface="Bookman Old Style" pitchFamily="34" charset="0"/>
                <a:ea typeface="Bookman Old Style" pitchFamily="34" charset="-122"/>
                <a:cs typeface="Bookman Old Style" pitchFamily="34" charset="-120"/>
              </a:rPr>
              <a:t>02</a:t>
            </a:r>
            <a:endParaRPr lang="en-US" sz="2200" dirty="0"/>
          </a:p>
        </p:txBody>
      </p:sp>
      <p:sp>
        <p:nvSpPr>
          <p:cNvPr id="11" name="Text 9"/>
          <p:cNvSpPr txBox="1"/>
          <p:nvPr/>
        </p:nvSpPr>
        <p:spPr>
          <a:xfrm>
            <a:off x="3429000" y="1883664"/>
            <a:ext cx="2496312" cy="274320"/>
          </a:xfrm>
          <a:prstGeom prst="rect">
            <a:avLst/>
          </a:prstGeom>
          <a:noFill/>
          <a:ln/>
        </p:spPr>
        <p:txBody>
          <a:bodyPr wrap="square" lIns="0" tIns="0" rIns="0" bIns="0" rtlCol="0" anchor="ctr"/>
          <a:lstStyle/>
          <a:p>
            <a:pPr marL="0" indent="0">
              <a:buNone/>
            </a:pPr>
            <a:r>
              <a:rPr lang="en-US" sz="1200" b="1" dirty="0">
                <a:solidFill>
                  <a:srgbClr val="26242B"/>
                </a:solidFill>
                <a:latin typeface="Arial" pitchFamily="34" charset="0"/>
                <a:ea typeface="Arial" pitchFamily="34" charset="-122"/>
                <a:cs typeface="Arial" pitchFamily="34" charset="-120"/>
              </a:rPr>
              <a:t>Argon2id</a:t>
            </a:r>
            <a:endParaRPr lang="en-US" sz="1200" dirty="0"/>
          </a:p>
        </p:txBody>
      </p:sp>
      <p:sp>
        <p:nvSpPr>
          <p:cNvPr id="12" name="Text 10"/>
          <p:cNvSpPr txBox="1"/>
          <p:nvPr/>
        </p:nvSpPr>
        <p:spPr>
          <a:xfrm>
            <a:off x="3429000" y="2157984"/>
            <a:ext cx="2496312" cy="566928"/>
          </a:xfrm>
          <a:prstGeom prst="rect">
            <a:avLst/>
          </a:prstGeom>
          <a:noFill/>
          <a:ln/>
        </p:spPr>
        <p:txBody>
          <a:bodyPr wrap="square" lIns="0" tIns="0" rIns="0" bIns="0" rtlCol="0" anchor="t"/>
          <a:lstStyle/>
          <a:p>
            <a:pPr marL="0" indent="0">
              <a:buNone/>
            </a:pPr>
            <a:r>
              <a:rPr lang="en-US" sz="1050" dirty="0">
                <a:solidFill>
                  <a:srgbClr val="76737E"/>
                </a:solidFill>
                <a:latin typeface="Arial" pitchFamily="34" charset="0"/>
                <a:ea typeface="Arial" pitchFamily="34" charset="-122"/>
                <a:cs typeface="Arial" pitchFamily="34" charset="-120"/>
              </a:rPr>
              <a:t>16-byte salt · 128 MiB · t=3 · p=1</a:t>
            </a:r>
            <a:endParaRPr lang="en-US" sz="1050" dirty="0"/>
          </a:p>
        </p:txBody>
      </p:sp>
      <p:sp>
        <p:nvSpPr>
          <p:cNvPr id="13" name="Shape 11"/>
          <p:cNvSpPr/>
          <p:nvPr/>
        </p:nvSpPr>
        <p:spPr>
          <a:xfrm>
            <a:off x="3429000" y="1847088"/>
            <a:ext cx="2496312" cy="0"/>
          </a:xfrm>
          <a:prstGeom prst="line">
            <a:avLst/>
          </a:prstGeom>
          <a:noFill/>
          <a:ln w="9525">
            <a:solidFill>
              <a:srgbClr val="DEDCE2"/>
            </a:solidFill>
            <a:prstDash val="solid"/>
          </a:ln>
        </p:spPr>
      </p:sp>
      <p:sp>
        <p:nvSpPr>
          <p:cNvPr id="14" name="Text 12"/>
          <p:cNvSpPr txBox="1"/>
          <p:nvPr/>
        </p:nvSpPr>
        <p:spPr>
          <a:xfrm>
            <a:off x="6236208" y="1481328"/>
            <a:ext cx="822960" cy="402336"/>
          </a:xfrm>
          <a:prstGeom prst="rect">
            <a:avLst/>
          </a:prstGeom>
          <a:noFill/>
          <a:ln/>
        </p:spPr>
        <p:txBody>
          <a:bodyPr wrap="square" lIns="0" tIns="0" rIns="0" bIns="0" rtlCol="0" anchor="ctr"/>
          <a:lstStyle/>
          <a:p>
            <a:pPr marL="0" indent="0">
              <a:buNone/>
            </a:pPr>
            <a:r>
              <a:rPr lang="en-US" sz="2200" b="1" dirty="0">
                <a:solidFill>
                  <a:srgbClr val="C0392F"/>
                </a:solidFill>
                <a:latin typeface="Bookman Old Style" pitchFamily="34" charset="0"/>
                <a:ea typeface="Bookman Old Style" pitchFamily="34" charset="-122"/>
                <a:cs typeface="Bookman Old Style" pitchFamily="34" charset="-120"/>
              </a:rPr>
              <a:t>03</a:t>
            </a:r>
            <a:endParaRPr lang="en-US" sz="2200" dirty="0"/>
          </a:p>
        </p:txBody>
      </p:sp>
      <p:sp>
        <p:nvSpPr>
          <p:cNvPr id="15" name="Text 13"/>
          <p:cNvSpPr txBox="1"/>
          <p:nvPr/>
        </p:nvSpPr>
        <p:spPr>
          <a:xfrm>
            <a:off x="6236208" y="1883664"/>
            <a:ext cx="2496312" cy="274320"/>
          </a:xfrm>
          <a:prstGeom prst="rect">
            <a:avLst/>
          </a:prstGeom>
          <a:noFill/>
          <a:ln/>
        </p:spPr>
        <p:txBody>
          <a:bodyPr wrap="square" lIns="0" tIns="0" rIns="0" bIns="0" rtlCol="0" anchor="ctr"/>
          <a:lstStyle/>
          <a:p>
            <a:pPr marL="0" indent="0">
              <a:buNone/>
            </a:pPr>
            <a:r>
              <a:rPr lang="en-US" sz="1200" b="1" dirty="0">
                <a:solidFill>
                  <a:srgbClr val="26242B"/>
                </a:solidFill>
                <a:latin typeface="Arial" pitchFamily="34" charset="0"/>
                <a:ea typeface="Arial" pitchFamily="34" charset="-122"/>
                <a:cs typeface="Arial" pitchFamily="34" charset="-120"/>
              </a:rPr>
              <a:t>Two HKDF labels</a:t>
            </a:r>
            <a:endParaRPr lang="en-US" sz="1200" dirty="0"/>
          </a:p>
        </p:txBody>
      </p:sp>
      <p:sp>
        <p:nvSpPr>
          <p:cNvPr id="16" name="Text 14"/>
          <p:cNvSpPr txBox="1"/>
          <p:nvPr/>
        </p:nvSpPr>
        <p:spPr>
          <a:xfrm>
            <a:off x="6236208" y="2157984"/>
            <a:ext cx="2496312" cy="566928"/>
          </a:xfrm>
          <a:prstGeom prst="rect">
            <a:avLst/>
          </a:prstGeom>
          <a:noFill/>
          <a:ln/>
        </p:spPr>
        <p:txBody>
          <a:bodyPr wrap="square" lIns="0" tIns="0" rIns="0" bIns="0" rtlCol="0" anchor="t"/>
          <a:lstStyle/>
          <a:p>
            <a:pPr marL="0" indent="0">
              <a:buNone/>
            </a:pPr>
            <a:r>
              <a:rPr lang="en-US" sz="1050" dirty="0">
                <a:solidFill>
                  <a:srgbClr val="76737E"/>
                </a:solidFill>
                <a:latin typeface="Arial" pitchFamily="34" charset="0"/>
                <a:ea typeface="Arial" pitchFamily="34" charset="-122"/>
                <a:cs typeface="Arial" pitchFamily="34" charset="-120"/>
              </a:rPr>
              <a:t>securevault:v1:auth and securevault:v1:wrap</a:t>
            </a:r>
            <a:endParaRPr lang="en-US" sz="1050" dirty="0"/>
          </a:p>
        </p:txBody>
      </p:sp>
      <p:sp>
        <p:nvSpPr>
          <p:cNvPr id="17" name="Shape 15"/>
          <p:cNvSpPr/>
          <p:nvPr/>
        </p:nvSpPr>
        <p:spPr>
          <a:xfrm>
            <a:off x="6236208" y="1847088"/>
            <a:ext cx="2496312" cy="0"/>
          </a:xfrm>
          <a:prstGeom prst="line">
            <a:avLst/>
          </a:prstGeom>
          <a:noFill/>
          <a:ln w="9525">
            <a:solidFill>
              <a:srgbClr val="DEDCE2"/>
            </a:solidFill>
            <a:prstDash val="solid"/>
          </a:ln>
        </p:spPr>
      </p:sp>
      <p:sp>
        <p:nvSpPr>
          <p:cNvPr id="18" name="Text 16"/>
          <p:cNvSpPr txBox="1"/>
          <p:nvPr/>
        </p:nvSpPr>
        <p:spPr>
          <a:xfrm>
            <a:off x="9043416" y="1481328"/>
            <a:ext cx="822960" cy="402336"/>
          </a:xfrm>
          <a:prstGeom prst="rect">
            <a:avLst/>
          </a:prstGeom>
          <a:noFill/>
          <a:ln/>
        </p:spPr>
        <p:txBody>
          <a:bodyPr wrap="square" lIns="0" tIns="0" rIns="0" bIns="0" rtlCol="0" anchor="ctr"/>
          <a:lstStyle/>
          <a:p>
            <a:pPr marL="0" indent="0">
              <a:buNone/>
            </a:pPr>
            <a:r>
              <a:rPr lang="en-US" sz="2200" b="1" dirty="0">
                <a:solidFill>
                  <a:srgbClr val="C0392F"/>
                </a:solidFill>
                <a:latin typeface="Bookman Old Style" pitchFamily="34" charset="0"/>
                <a:ea typeface="Bookman Old Style" pitchFamily="34" charset="-122"/>
                <a:cs typeface="Bookman Old Style" pitchFamily="34" charset="-120"/>
              </a:rPr>
              <a:t>04</a:t>
            </a:r>
            <a:endParaRPr lang="en-US" sz="2200" dirty="0"/>
          </a:p>
        </p:txBody>
      </p:sp>
      <p:sp>
        <p:nvSpPr>
          <p:cNvPr id="19" name="Text 17"/>
          <p:cNvSpPr txBox="1"/>
          <p:nvPr/>
        </p:nvSpPr>
        <p:spPr>
          <a:xfrm>
            <a:off x="9043416" y="1883664"/>
            <a:ext cx="2496312" cy="274320"/>
          </a:xfrm>
          <a:prstGeom prst="rect">
            <a:avLst/>
          </a:prstGeom>
          <a:noFill/>
          <a:ln/>
        </p:spPr>
        <p:txBody>
          <a:bodyPr wrap="square" lIns="0" tIns="0" rIns="0" bIns="0" rtlCol="0" anchor="ctr"/>
          <a:lstStyle/>
          <a:p>
            <a:pPr marL="0" indent="0">
              <a:buNone/>
            </a:pPr>
            <a:r>
              <a:rPr lang="en-US" sz="1200" b="1" dirty="0">
                <a:solidFill>
                  <a:srgbClr val="26242B"/>
                </a:solidFill>
                <a:latin typeface="Arial" pitchFamily="34" charset="0"/>
                <a:ea typeface="Arial" pitchFamily="34" charset="-122"/>
                <a:cs typeface="Arial" pitchFamily="34" charset="-120"/>
              </a:rPr>
              <a:t>Two 32-byte outputs</a:t>
            </a:r>
            <a:endParaRPr lang="en-US" sz="1200" dirty="0"/>
          </a:p>
        </p:txBody>
      </p:sp>
      <p:sp>
        <p:nvSpPr>
          <p:cNvPr id="20" name="Text 18"/>
          <p:cNvSpPr txBox="1"/>
          <p:nvPr/>
        </p:nvSpPr>
        <p:spPr>
          <a:xfrm>
            <a:off x="9043416" y="2157984"/>
            <a:ext cx="2496312" cy="566928"/>
          </a:xfrm>
          <a:prstGeom prst="rect">
            <a:avLst/>
          </a:prstGeom>
          <a:noFill/>
          <a:ln/>
        </p:spPr>
        <p:txBody>
          <a:bodyPr wrap="square" lIns="0" tIns="0" rIns="0" bIns="0" rtlCol="0" anchor="t"/>
          <a:lstStyle/>
          <a:p>
            <a:pPr marL="0" indent="0">
              <a:buNone/>
            </a:pPr>
            <a:r>
              <a:rPr lang="en-US" sz="1050" dirty="0">
                <a:solidFill>
                  <a:srgbClr val="76737E"/>
                </a:solidFill>
                <a:latin typeface="Arial" pitchFamily="34" charset="0"/>
                <a:ea typeface="Arial" pitchFamily="34" charset="-122"/>
                <a:cs typeface="Arial" pitchFamily="34" charset="-120"/>
              </a:rPr>
              <a:t>auth value and wrap key</a:t>
            </a:r>
            <a:endParaRPr lang="en-US" sz="1050" dirty="0"/>
          </a:p>
        </p:txBody>
      </p:sp>
      <p:sp>
        <p:nvSpPr>
          <p:cNvPr id="21" name="Shape 19"/>
          <p:cNvSpPr/>
          <p:nvPr/>
        </p:nvSpPr>
        <p:spPr>
          <a:xfrm>
            <a:off x="9043416" y="1847088"/>
            <a:ext cx="2496312" cy="0"/>
          </a:xfrm>
          <a:prstGeom prst="line">
            <a:avLst/>
          </a:prstGeom>
          <a:noFill/>
          <a:ln w="9525">
            <a:solidFill>
              <a:srgbClr val="DEDCE2"/>
            </a:solidFill>
            <a:prstDash val="solid"/>
          </a:ln>
        </p:spPr>
      </p:sp>
      <p:sp>
        <p:nvSpPr>
          <p:cNvPr id="22" name="Shape 20"/>
          <p:cNvSpPr/>
          <p:nvPr/>
        </p:nvSpPr>
        <p:spPr>
          <a:xfrm>
            <a:off x="621792" y="2926080"/>
            <a:ext cx="3794760" cy="1600200"/>
          </a:xfrm>
          <a:prstGeom prst="rect">
            <a:avLst/>
          </a:prstGeom>
          <a:solidFill>
            <a:srgbClr val="FFFFFF"/>
          </a:solidFill>
          <a:ln w="12700">
            <a:solidFill>
              <a:srgbClr val="DEDCE2"/>
            </a:solidFill>
            <a:prstDash val="solid"/>
          </a:ln>
        </p:spPr>
      </p:sp>
      <p:sp>
        <p:nvSpPr>
          <p:cNvPr id="23" name="Text 21"/>
          <p:cNvSpPr txBox="1"/>
          <p:nvPr/>
        </p:nvSpPr>
        <p:spPr>
          <a:xfrm>
            <a:off x="822960" y="3063240"/>
            <a:ext cx="3392424" cy="292608"/>
          </a:xfrm>
          <a:prstGeom prst="rect">
            <a:avLst/>
          </a:prstGeom>
          <a:noFill/>
          <a:ln/>
        </p:spPr>
        <p:txBody>
          <a:bodyPr wrap="square" lIns="0" tIns="0" rIns="0" bIns="0" rtlCol="0" anchor="ctr"/>
          <a:lstStyle/>
          <a:p>
            <a:pPr marL="0" indent="0">
              <a:buNone/>
            </a:pPr>
            <a:r>
              <a:rPr lang="en-US" sz="1150" b="1" kern="0" spc="40" dirty="0">
                <a:solidFill>
                  <a:srgbClr val="26242B"/>
                </a:solidFill>
                <a:latin typeface="Arial" pitchFamily="34" charset="0"/>
                <a:ea typeface="Arial" pitchFamily="34" charset="-122"/>
                <a:cs typeface="Arial" pitchFamily="34" charset="-120"/>
              </a:rPr>
              <a:t>Decision 7.1 — what we rejected</a:t>
            </a:r>
            <a:endParaRPr lang="en-US" sz="1150" dirty="0"/>
          </a:p>
        </p:txBody>
      </p:sp>
      <p:sp>
        <p:nvSpPr>
          <p:cNvPr id="24" name="Text 22"/>
          <p:cNvSpPr txBox="1"/>
          <p:nvPr/>
        </p:nvSpPr>
        <p:spPr>
          <a:xfrm>
            <a:off x="822960" y="3419856"/>
            <a:ext cx="3392424" cy="978408"/>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6242B"/>
                </a:solidFill>
                <a:latin typeface="Arial" pitchFamily="34" charset="0"/>
                <a:ea typeface="Arial" pitchFamily="34" charset="-122"/>
                <a:cs typeface="Arial" pitchFamily="34" charset="-120"/>
              </a:rPr>
              <a:t>PBKDF2 and bcrypt: not memory-hard enough for our threat model</a:t>
            </a:r>
            <a:endParaRPr lang="en-US" sz="1050" dirty="0"/>
          </a:p>
          <a:p>
            <a:pPr marL="342900" indent="-342900">
              <a:spcAft>
                <a:spcPts val="400"/>
              </a:spcAft>
              <a:buSzPct val="100000"/>
              <a:buChar char="–"/>
            </a:pPr>
            <a:r>
              <a:rPr lang="en-US" sz="1050" dirty="0">
                <a:solidFill>
                  <a:srgbClr val="26242B"/>
                </a:solidFill>
                <a:latin typeface="Arial" pitchFamily="34" charset="0"/>
                <a:ea typeface="Arial" pitchFamily="34" charset="-122"/>
                <a:cs typeface="Arial" pitchFamily="34" charset="-120"/>
              </a:rPr>
              <a:t>scrypt: considered; Argon2id is the current recommendation</a:t>
            </a:r>
            <a:endParaRPr lang="en-US" sz="1050" dirty="0"/>
          </a:p>
          <a:p>
            <a:pPr marL="342900" indent="-342900">
              <a:spcAft>
                <a:spcPts val="400"/>
              </a:spcAft>
              <a:buSzPct val="100000"/>
              <a:buChar char="–"/>
            </a:pPr>
            <a:r>
              <a:rPr lang="en-US" sz="1050" dirty="0">
                <a:solidFill>
                  <a:srgbClr val="26242B"/>
                </a:solidFill>
                <a:latin typeface="Arial" pitchFamily="34" charset="0"/>
                <a:ea typeface="Arial" pitchFamily="34" charset="-122"/>
                <a:cs typeface="Arial" pitchFamily="34" charset="-120"/>
              </a:rPr>
              <a:t>Parameters chosen by measuring eight candidates; median closest to 0.25 s was 0.2301 s</a:t>
            </a:r>
            <a:endParaRPr lang="en-US" sz="1050" dirty="0"/>
          </a:p>
        </p:txBody>
      </p:sp>
      <p:sp>
        <p:nvSpPr>
          <p:cNvPr id="25" name="Shape 23"/>
          <p:cNvSpPr/>
          <p:nvPr/>
        </p:nvSpPr>
        <p:spPr>
          <a:xfrm>
            <a:off x="4645152" y="2926080"/>
            <a:ext cx="3794760" cy="1600200"/>
          </a:xfrm>
          <a:prstGeom prst="rect">
            <a:avLst/>
          </a:prstGeom>
          <a:solidFill>
            <a:srgbClr val="FFFFFF"/>
          </a:solidFill>
          <a:ln w="12700">
            <a:solidFill>
              <a:srgbClr val="DEDCE2"/>
            </a:solidFill>
            <a:prstDash val="solid"/>
          </a:ln>
        </p:spPr>
      </p:sp>
      <p:sp>
        <p:nvSpPr>
          <p:cNvPr id="26" name="Text 24"/>
          <p:cNvSpPr txBox="1"/>
          <p:nvPr/>
        </p:nvSpPr>
        <p:spPr>
          <a:xfrm>
            <a:off x="4846320" y="3063240"/>
            <a:ext cx="3392424" cy="292608"/>
          </a:xfrm>
          <a:prstGeom prst="rect">
            <a:avLst/>
          </a:prstGeom>
          <a:noFill/>
          <a:ln/>
        </p:spPr>
        <p:txBody>
          <a:bodyPr wrap="square" lIns="0" tIns="0" rIns="0" bIns="0" rtlCol="0" anchor="ctr"/>
          <a:lstStyle/>
          <a:p>
            <a:pPr marL="0" indent="0">
              <a:buNone/>
            </a:pPr>
            <a:r>
              <a:rPr lang="en-US" sz="1150" b="1" kern="0" spc="40" dirty="0">
                <a:solidFill>
                  <a:srgbClr val="26242B"/>
                </a:solidFill>
                <a:latin typeface="Arial" pitchFamily="34" charset="0"/>
                <a:ea typeface="Arial" pitchFamily="34" charset="-122"/>
                <a:cs typeface="Arial" pitchFamily="34" charset="-120"/>
              </a:rPr>
              <a:t>Why split with two labels</a:t>
            </a:r>
            <a:endParaRPr lang="en-US" sz="1150" dirty="0"/>
          </a:p>
        </p:txBody>
      </p:sp>
      <p:sp>
        <p:nvSpPr>
          <p:cNvPr id="27" name="Text 25"/>
          <p:cNvSpPr txBox="1"/>
          <p:nvPr/>
        </p:nvSpPr>
        <p:spPr>
          <a:xfrm>
            <a:off x="4846320" y="3419856"/>
            <a:ext cx="3392424" cy="978408"/>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6242B"/>
                </a:solidFill>
                <a:latin typeface="Arial" pitchFamily="34" charset="0"/>
                <a:ea typeface="Arial" pitchFamily="34" charset="-122"/>
                <a:cs typeface="Arial" pitchFamily="34" charset="-120"/>
              </a:rPr>
              <a:t>The auth side may be stored on the server</a:t>
            </a:r>
            <a:endParaRPr lang="en-US" sz="1050" dirty="0"/>
          </a:p>
          <a:p>
            <a:pPr marL="342900" indent="-342900">
              <a:spcAft>
                <a:spcPts val="400"/>
              </a:spcAft>
              <a:buSzPct val="100000"/>
              <a:buChar char="–"/>
            </a:pPr>
            <a:r>
              <a:rPr lang="en-US" sz="1050" dirty="0">
                <a:solidFill>
                  <a:srgbClr val="26242B"/>
                </a:solidFill>
                <a:latin typeface="Arial" pitchFamily="34" charset="0"/>
                <a:ea typeface="Arial" pitchFamily="34" charset="-122"/>
                <a:cs typeface="Arial" pitchFamily="34" charset="-120"/>
              </a:rPr>
              <a:t>The wrap side must never reach it</a:t>
            </a:r>
            <a:endParaRPr lang="en-US" sz="1050" dirty="0"/>
          </a:p>
          <a:p>
            <a:pPr marL="342900" indent="-342900">
              <a:spcAft>
                <a:spcPts val="400"/>
              </a:spcAft>
              <a:buSzPct val="100000"/>
              <a:buChar char="–"/>
            </a:pPr>
            <a:r>
              <a:rPr lang="en-US" sz="1050" dirty="0">
                <a:solidFill>
                  <a:srgbClr val="26242B"/>
                </a:solidFill>
                <a:latin typeface="Arial" pitchFamily="34" charset="0"/>
                <a:ea typeface="Arial" pitchFamily="34" charset="-122"/>
                <a:cs typeface="Arial" pitchFamily="34" charset="-120"/>
              </a:rPr>
              <a:t>Distinct HKDF labels mean knowing the stored value tells you nothing about the wrapping key</a:t>
            </a:r>
            <a:endParaRPr lang="en-US" sz="1050" dirty="0"/>
          </a:p>
        </p:txBody>
      </p:sp>
      <p:sp>
        <p:nvSpPr>
          <p:cNvPr id="28" name="Shape 26"/>
          <p:cNvSpPr/>
          <p:nvPr/>
        </p:nvSpPr>
        <p:spPr>
          <a:xfrm>
            <a:off x="8668512" y="2926080"/>
            <a:ext cx="2871216" cy="1600200"/>
          </a:xfrm>
          <a:prstGeom prst="rect">
            <a:avLst/>
          </a:prstGeom>
          <a:solidFill>
            <a:srgbClr val="3C4F3F"/>
          </a:solidFill>
          <a:ln w="12700">
            <a:solidFill>
              <a:srgbClr val="3C4F3F"/>
            </a:solidFill>
            <a:prstDash val="solid"/>
          </a:ln>
        </p:spPr>
      </p:sp>
      <p:sp>
        <p:nvSpPr>
          <p:cNvPr id="29" name="Text 27"/>
          <p:cNvSpPr txBox="1"/>
          <p:nvPr/>
        </p:nvSpPr>
        <p:spPr>
          <a:xfrm>
            <a:off x="8869680" y="3063240"/>
            <a:ext cx="2468880" cy="292608"/>
          </a:xfrm>
          <a:prstGeom prst="rect">
            <a:avLst/>
          </a:prstGeom>
          <a:noFill/>
          <a:ln/>
        </p:spPr>
        <p:txBody>
          <a:bodyPr wrap="square" lIns="0" tIns="0" rIns="0" bIns="0" rtlCol="0" anchor="ctr"/>
          <a:lstStyle/>
          <a:p>
            <a:pPr marL="0" indent="0">
              <a:buNone/>
            </a:pPr>
            <a:r>
              <a:rPr lang="en-US" sz="1150" b="1" kern="0" spc="40" dirty="0">
                <a:solidFill>
                  <a:srgbClr val="FFFFFF"/>
                </a:solidFill>
                <a:latin typeface="Arial" pitchFamily="34" charset="0"/>
                <a:ea typeface="Arial" pitchFamily="34" charset="-122"/>
                <a:cs typeface="Arial" pitchFamily="34" charset="-120"/>
              </a:rPr>
              <a:t>What a change breaks</a:t>
            </a:r>
            <a:endParaRPr lang="en-US" sz="1150" dirty="0"/>
          </a:p>
        </p:txBody>
      </p:sp>
      <p:sp>
        <p:nvSpPr>
          <p:cNvPr id="30" name="Text 28"/>
          <p:cNvSpPr txBox="1"/>
          <p:nvPr/>
        </p:nvSpPr>
        <p:spPr>
          <a:xfrm>
            <a:off x="8869680" y="3419856"/>
            <a:ext cx="2468880" cy="978408"/>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DCE3DC"/>
                </a:solidFill>
                <a:latin typeface="Arial" pitchFamily="34" charset="0"/>
                <a:ea typeface="Arial" pitchFamily="34" charset="-122"/>
                <a:cs typeface="Arial" pitchFamily="34" charset="-120"/>
              </a:rPr>
              <a:t>The wrap key changes, so the bundle is re-wrapped</a:t>
            </a:r>
            <a:endParaRPr lang="en-US" sz="1050" dirty="0"/>
          </a:p>
          <a:p>
            <a:pPr marL="342900" indent="-342900">
              <a:spcAft>
                <a:spcPts val="400"/>
              </a:spcAft>
              <a:buSzPct val="100000"/>
              <a:buChar char="–"/>
            </a:pPr>
            <a:r>
              <a:rPr lang="en-US" sz="1050" dirty="0">
                <a:solidFill>
                  <a:srgbClr val="DCE3DC"/>
                </a:solidFill>
                <a:latin typeface="Arial" pitchFamily="34" charset="0"/>
                <a:ea typeface="Arial" pitchFamily="34" charset="-122"/>
                <a:cs typeface="Arial" pitchFamily="34" charset="-120"/>
              </a:rPr>
              <a:t>The verifier changes, so every live session key dies</a:t>
            </a:r>
            <a:endParaRPr lang="en-US" sz="1050" dirty="0"/>
          </a:p>
          <a:p>
            <a:pPr marL="342900" indent="-342900">
              <a:spcAft>
                <a:spcPts val="400"/>
              </a:spcAft>
              <a:buSzPct val="100000"/>
              <a:buChar char="–"/>
            </a:pPr>
            <a:r>
              <a:rPr lang="en-US" sz="1050" dirty="0">
                <a:solidFill>
                  <a:srgbClr val="DCE3DC"/>
                </a:solidFill>
                <a:latin typeface="Arial" pitchFamily="34" charset="0"/>
                <a:ea typeface="Arial" pitchFamily="34" charset="-122"/>
                <a:cs typeface="Arial" pitchFamily="34" charset="-120"/>
              </a:rPr>
              <a:t>Both happen in one transaction; the identity keys are never regenerated</a:t>
            </a:r>
            <a:endParaRPr lang="en-US" sz="1050" dirty="0"/>
          </a:p>
        </p:txBody>
      </p:sp>
      <p:sp>
        <p:nvSpPr>
          <p:cNvPr id="31" name="Text 29"/>
          <p:cNvSpPr txBox="1"/>
          <p:nvPr/>
        </p:nvSpPr>
        <p:spPr>
          <a:xfrm>
            <a:off x="621792" y="4718304"/>
            <a:ext cx="10917936" cy="256032"/>
          </a:xfrm>
          <a:prstGeom prst="rect">
            <a:avLst/>
          </a:prstGeom>
          <a:noFill/>
          <a:ln/>
        </p:spPr>
        <p:txBody>
          <a:bodyPr wrap="square" lIns="0" tIns="0" rIns="0" bIns="0" rtlCol="0" anchor="ctr"/>
          <a:lstStyle/>
          <a:p>
            <a:pPr marL="0" indent="0">
              <a:buNone/>
            </a:pPr>
            <a:r>
              <a:rPr lang="en-US" sz="1100" b="1" dirty="0">
                <a:solidFill>
                  <a:srgbClr val="26242B"/>
                </a:solidFill>
                <a:latin typeface="Arial" pitchFamily="34" charset="0"/>
                <a:ea typeface="Arial" pitchFamily="34" charset="-122"/>
                <a:cs typeface="Arial" pitchFamily="34" charset="-120"/>
              </a:rPr>
              <a:t>What a stolen credential store is worth — 8-character alphanumeric, 62⁸ ≈ 2.18 × 10¹⁴ candidates, half that on average</a:t>
            </a:r>
            <a:endParaRPr lang="en-US" sz="1100" dirty="0"/>
          </a:p>
        </p:txBody>
      </p:sp>
      <p:sp>
        <p:nvSpPr>
          <p:cNvPr id="32" name="Shape 30"/>
          <p:cNvSpPr/>
          <p:nvPr/>
        </p:nvSpPr>
        <p:spPr>
          <a:xfrm>
            <a:off x="621792" y="4992624"/>
            <a:ext cx="10917936" cy="0"/>
          </a:xfrm>
          <a:prstGeom prst="line">
            <a:avLst/>
          </a:prstGeom>
          <a:noFill/>
          <a:ln w="9525">
            <a:solidFill>
              <a:srgbClr val="DEDCE2"/>
            </a:solidFill>
            <a:prstDash val="solid"/>
          </a:ln>
        </p:spPr>
      </p:sp>
      <p:sp>
        <p:nvSpPr>
          <p:cNvPr id="33" name="Text 31"/>
          <p:cNvSpPr txBox="1"/>
          <p:nvPr/>
        </p:nvSpPr>
        <p:spPr>
          <a:xfrm>
            <a:off x="621792" y="5102352"/>
            <a:ext cx="2455164" cy="384048"/>
          </a:xfrm>
          <a:prstGeom prst="rect">
            <a:avLst/>
          </a:prstGeom>
          <a:noFill/>
          <a:ln/>
        </p:spPr>
        <p:txBody>
          <a:bodyPr wrap="square" lIns="0" tIns="0" rIns="0" bIns="0" rtlCol="0" anchor="ctr"/>
          <a:lstStyle/>
          <a:p>
            <a:pPr marL="0" indent="0">
              <a:buNone/>
            </a:pPr>
            <a:r>
              <a:rPr lang="en-US" sz="1900" b="1" dirty="0">
                <a:solidFill>
                  <a:srgbClr val="C0392F"/>
                </a:solidFill>
                <a:latin typeface="Bookman Old Style" pitchFamily="34" charset="0"/>
                <a:ea typeface="Bookman Old Style" pitchFamily="34" charset="-122"/>
                <a:cs typeface="Bookman Old Style" pitchFamily="34" charset="-120"/>
              </a:rPr>
              <a:t>3 hours</a:t>
            </a:r>
            <a:endParaRPr lang="en-US" sz="1900" dirty="0"/>
          </a:p>
        </p:txBody>
      </p:sp>
      <p:sp>
        <p:nvSpPr>
          <p:cNvPr id="34" name="Text 32"/>
          <p:cNvSpPr txBox="1"/>
          <p:nvPr/>
        </p:nvSpPr>
        <p:spPr>
          <a:xfrm>
            <a:off x="621792" y="5486400"/>
            <a:ext cx="2455164" cy="548640"/>
          </a:xfrm>
          <a:prstGeom prst="rect">
            <a:avLst/>
          </a:prstGeom>
          <a:noFill/>
          <a:ln/>
        </p:spPr>
        <p:txBody>
          <a:bodyPr wrap="square" lIns="0" tIns="0" rIns="0" bIns="0" rtlCol="0" anchor="t"/>
          <a:lstStyle/>
          <a:p>
            <a:pPr marL="0" indent="0">
              <a:buNone/>
            </a:pPr>
            <a:r>
              <a:rPr lang="en-US" sz="950" dirty="0">
                <a:solidFill>
                  <a:srgbClr val="76737E"/>
                </a:solidFill>
                <a:latin typeface="Arial" pitchFamily="34" charset="0"/>
                <a:ea typeface="Arial" pitchFamily="34" charset="-122"/>
                <a:cs typeface="Arial" pitchFamily="34" charset="-120"/>
              </a:rPr>
              <a:t>with a bare SHA-256, on one high-end GPU  the design we rejected</a:t>
            </a:r>
            <a:endParaRPr lang="en-US" sz="950" dirty="0"/>
          </a:p>
        </p:txBody>
      </p:sp>
      <p:sp>
        <p:nvSpPr>
          <p:cNvPr id="35" name="Text 33"/>
          <p:cNvSpPr txBox="1"/>
          <p:nvPr/>
        </p:nvSpPr>
        <p:spPr>
          <a:xfrm>
            <a:off x="3351276" y="5102352"/>
            <a:ext cx="2455164" cy="384048"/>
          </a:xfrm>
          <a:prstGeom prst="rect">
            <a:avLst/>
          </a:prstGeom>
          <a:noFill/>
          <a:ln/>
        </p:spPr>
        <p:txBody>
          <a:bodyPr wrap="square" lIns="0" tIns="0" rIns="0" bIns="0" rtlCol="0" anchor="ctr"/>
          <a:lstStyle/>
          <a:p>
            <a:pPr marL="0" indent="0">
              <a:buNone/>
            </a:pPr>
            <a:r>
              <a:rPr lang="en-US" sz="1900" b="1" dirty="0">
                <a:solidFill>
                  <a:srgbClr val="3C4F3F"/>
                </a:solidFill>
                <a:latin typeface="Bookman Old Style" pitchFamily="34" charset="0"/>
                <a:ea typeface="Bookman Old Style" pitchFamily="34" charset="-122"/>
                <a:cs typeface="Bookman Old Style" pitchFamily="34" charset="-120"/>
              </a:rPr>
              <a:t>≈4,100 years</a:t>
            </a:r>
            <a:endParaRPr lang="en-US" sz="1900" dirty="0"/>
          </a:p>
        </p:txBody>
      </p:sp>
      <p:sp>
        <p:nvSpPr>
          <p:cNvPr id="36" name="Text 34"/>
          <p:cNvSpPr txBox="1"/>
          <p:nvPr/>
        </p:nvSpPr>
        <p:spPr>
          <a:xfrm>
            <a:off x="3351276" y="5486400"/>
            <a:ext cx="2455164" cy="548640"/>
          </a:xfrm>
          <a:prstGeom prst="rect">
            <a:avLst/>
          </a:prstGeom>
          <a:noFill/>
          <a:ln/>
        </p:spPr>
        <p:txBody>
          <a:bodyPr wrap="square" lIns="0" tIns="0" rIns="0" bIns="0" rtlCol="0" anchor="t"/>
          <a:lstStyle/>
          <a:p>
            <a:pPr marL="0" indent="0">
              <a:buNone/>
            </a:pPr>
            <a:r>
              <a:rPr lang="en-US" sz="950" dirty="0">
                <a:solidFill>
                  <a:srgbClr val="76737E"/>
                </a:solidFill>
                <a:latin typeface="Arial" pitchFamily="34" charset="0"/>
                <a:ea typeface="Arial" pitchFamily="34" charset="-122"/>
                <a:cs typeface="Arial" pitchFamily="34" charset="-120"/>
              </a:rPr>
              <a:t>illustrative 24 GB GPU estimate: 128 MiB allows about 190 parallel guesses</a:t>
            </a:r>
            <a:endParaRPr lang="en-US" sz="950" dirty="0"/>
          </a:p>
        </p:txBody>
      </p:sp>
      <p:sp>
        <p:nvSpPr>
          <p:cNvPr id="37" name="Text 35"/>
          <p:cNvSpPr txBox="1"/>
          <p:nvPr/>
        </p:nvSpPr>
        <p:spPr>
          <a:xfrm>
            <a:off x="6080760" y="5102352"/>
            <a:ext cx="2455164" cy="384048"/>
          </a:xfrm>
          <a:prstGeom prst="rect">
            <a:avLst/>
          </a:prstGeom>
          <a:noFill/>
          <a:ln/>
        </p:spPr>
        <p:txBody>
          <a:bodyPr wrap="square" lIns="0" tIns="0" rIns="0" bIns="0" rtlCol="0" anchor="ctr"/>
          <a:lstStyle/>
          <a:p>
            <a:pPr marL="0" indent="0">
              <a:buNone/>
            </a:pPr>
            <a:r>
              <a:rPr lang="en-US" sz="1900" b="1" dirty="0">
                <a:solidFill>
                  <a:srgbClr val="3C4F3F"/>
                </a:solidFill>
                <a:latin typeface="Bookman Old Style" pitchFamily="34" charset="0"/>
                <a:ea typeface="Bookman Old Style" pitchFamily="34" charset="-122"/>
                <a:cs typeface="Bookman Old Style" pitchFamily="34" charset="-120"/>
              </a:rPr>
              <a:t>800,000 years</a:t>
            </a:r>
            <a:endParaRPr lang="en-US" sz="1900" dirty="0"/>
          </a:p>
        </p:txBody>
      </p:sp>
      <p:sp>
        <p:nvSpPr>
          <p:cNvPr id="38" name="Text 36"/>
          <p:cNvSpPr txBox="1"/>
          <p:nvPr/>
        </p:nvSpPr>
        <p:spPr>
          <a:xfrm>
            <a:off x="6080760" y="5486400"/>
            <a:ext cx="2455164" cy="548640"/>
          </a:xfrm>
          <a:prstGeom prst="rect">
            <a:avLst/>
          </a:prstGeom>
          <a:noFill/>
          <a:ln/>
        </p:spPr>
        <p:txBody>
          <a:bodyPr wrap="square" lIns="0" tIns="0" rIns="0" bIns="0" rtlCol="0" anchor="t"/>
          <a:lstStyle/>
          <a:p>
            <a:pPr marL="0" indent="0">
              <a:buNone/>
            </a:pPr>
            <a:r>
              <a:rPr lang="en-US" sz="950" dirty="0">
                <a:solidFill>
                  <a:srgbClr val="76737E"/>
                </a:solidFill>
                <a:latin typeface="Arial" pitchFamily="34" charset="0"/>
                <a:ea typeface="Arial" pitchFamily="34" charset="-122"/>
                <a:cs typeface="Arial" pitchFamily="34" charset="-120"/>
              </a:rPr>
              <a:t>on a single CPU core at our measured 0.2301 s</a:t>
            </a:r>
            <a:endParaRPr lang="en-US" sz="950" dirty="0"/>
          </a:p>
        </p:txBody>
      </p:sp>
      <p:sp>
        <p:nvSpPr>
          <p:cNvPr id="39" name="Text 37"/>
          <p:cNvSpPr txBox="1"/>
          <p:nvPr/>
        </p:nvSpPr>
        <p:spPr>
          <a:xfrm>
            <a:off x="8810244" y="5102352"/>
            <a:ext cx="2455164" cy="384048"/>
          </a:xfrm>
          <a:prstGeom prst="rect">
            <a:avLst/>
          </a:prstGeom>
          <a:noFill/>
          <a:ln/>
        </p:spPr>
        <p:txBody>
          <a:bodyPr wrap="square" lIns="0" tIns="0" rIns="0" bIns="0" rtlCol="0" anchor="ctr"/>
          <a:lstStyle/>
          <a:p>
            <a:pPr marL="0" indent="0">
              <a:buNone/>
            </a:pPr>
            <a:r>
              <a:rPr lang="en-US" sz="1900" b="1" dirty="0">
                <a:solidFill>
                  <a:srgbClr val="C0392F"/>
                </a:solidFill>
                <a:latin typeface="Bookman Old Style" pitchFamily="34" charset="0"/>
                <a:ea typeface="Bookman Old Style" pitchFamily="34" charset="-122"/>
                <a:cs typeface="Bookman Old Style" pitchFamily="34" charset="-120"/>
              </a:rPr>
              <a:t>Still weak</a:t>
            </a:r>
            <a:endParaRPr lang="en-US" sz="1900" dirty="0"/>
          </a:p>
        </p:txBody>
      </p:sp>
      <p:sp>
        <p:nvSpPr>
          <p:cNvPr id="40" name="Text 38"/>
          <p:cNvSpPr txBox="1"/>
          <p:nvPr/>
        </p:nvSpPr>
        <p:spPr>
          <a:xfrm>
            <a:off x="8810244" y="5486400"/>
            <a:ext cx="2455164" cy="548640"/>
          </a:xfrm>
          <a:prstGeom prst="rect">
            <a:avLst/>
          </a:prstGeom>
          <a:noFill/>
          <a:ln/>
        </p:spPr>
        <p:txBody>
          <a:bodyPr wrap="square" lIns="0" tIns="0" rIns="0" bIns="0" rtlCol="0" anchor="t"/>
          <a:lstStyle/>
          <a:p>
            <a:pPr marL="0" indent="0">
              <a:buNone/>
            </a:pPr>
            <a:r>
              <a:rPr lang="en-US" sz="950" dirty="0">
                <a:solidFill>
                  <a:srgbClr val="76737E"/>
                </a:solidFill>
                <a:latin typeface="Arial" pitchFamily="34" charset="0"/>
                <a:ea typeface="Arial" pitchFamily="34" charset="-122"/>
                <a:cs typeface="Arial" pitchFamily="34" charset="-120"/>
              </a:rPr>
              <a:t>a password from a common word list falls in days  the space collapses, not the hash</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21792" y="329184"/>
            <a:ext cx="9820656" cy="237744"/>
          </a:xfrm>
          <a:prstGeom prst="rect">
            <a:avLst/>
          </a:prstGeom>
          <a:noFill/>
          <a:ln/>
        </p:spPr>
        <p:txBody>
          <a:bodyPr wrap="square" lIns="0" tIns="0" rIns="0" bIns="0" rtlCol="0" anchor="ctr"/>
          <a:lstStyle/>
          <a:p>
            <a:pPr marL="0" indent="0">
              <a:buNone/>
            </a:pPr>
            <a:r>
              <a:rPr lang="en-US" sz="950" b="1" kern="0" spc="250" dirty="0">
                <a:solidFill>
                  <a:srgbClr val="C0392F"/>
                </a:solidFill>
                <a:latin typeface="Arial" pitchFamily="34" charset="0"/>
                <a:ea typeface="Arial" pitchFamily="34" charset="-122"/>
                <a:cs typeface="Arial" pitchFamily="34" charset="-120"/>
              </a:rPr>
              <a:t>PART 1 · ACCOUNTS</a:t>
            </a:r>
            <a:endParaRPr lang="en-US" sz="950" dirty="0"/>
          </a:p>
        </p:txBody>
      </p:sp>
      <p:sp>
        <p:nvSpPr>
          <p:cNvPr id="3" name="Text 1"/>
          <p:cNvSpPr txBox="1"/>
          <p:nvPr/>
        </p:nvSpPr>
        <p:spPr>
          <a:xfrm>
            <a:off x="621792" y="603504"/>
            <a:ext cx="10917936" cy="530352"/>
          </a:xfrm>
          <a:prstGeom prst="rect">
            <a:avLst/>
          </a:prstGeom>
          <a:noFill/>
          <a:ln/>
        </p:spPr>
        <p:txBody>
          <a:bodyPr wrap="square" lIns="0" tIns="0" rIns="0" bIns="0" rtlCol="0" anchor="ctr"/>
          <a:lstStyle/>
          <a:p>
            <a:pPr marL="0" indent="0">
              <a:buNone/>
            </a:pPr>
            <a:r>
              <a:rPr lang="en-US" sz="2500" b="1" dirty="0">
                <a:solidFill>
                  <a:srgbClr val="26242B"/>
                </a:solidFill>
                <a:latin typeface="Bookman Old Style" pitchFamily="34" charset="0"/>
                <a:ea typeface="Bookman Old Style" pitchFamily="34" charset="-122"/>
                <a:cs typeface="Bookman Old Style" pitchFamily="34" charset="-120"/>
              </a:rPr>
              <a:t>Part 1 — registration and login</a:t>
            </a:r>
            <a:endParaRPr lang="en-US" sz="2500" dirty="0"/>
          </a:p>
        </p:txBody>
      </p:sp>
      <p:sp>
        <p:nvSpPr>
          <p:cNvPr id="4" name="Text 2"/>
          <p:cNvSpPr txBox="1"/>
          <p:nvPr/>
        </p:nvSpPr>
        <p:spPr>
          <a:xfrm>
            <a:off x="621792" y="1133856"/>
            <a:ext cx="10917936" cy="274320"/>
          </a:xfrm>
          <a:prstGeom prst="rect">
            <a:avLst/>
          </a:prstGeom>
          <a:noFill/>
          <a:ln/>
        </p:spPr>
        <p:txBody>
          <a:bodyPr wrap="square" lIns="0" tIns="0" rIns="0" bIns="0" rtlCol="0" anchor="ctr"/>
          <a:lstStyle/>
          <a:p>
            <a:pPr marL="0" indent="0">
              <a:buNone/>
            </a:pPr>
            <a:r>
              <a:rPr lang="en-US" sz="1200" dirty="0">
                <a:solidFill>
                  <a:srgbClr val="76737E"/>
                </a:solidFill>
                <a:latin typeface="Arial" pitchFamily="34" charset="0"/>
                <a:ea typeface="Arial" pitchFamily="34" charset="-122"/>
                <a:cs typeface="Arial" pitchFamily="34" charset="-120"/>
              </a:rPr>
              <a:t>The server can verify access without ever receiving private material</a:t>
            </a:r>
            <a:endParaRPr lang="en-US" sz="1200" dirty="0"/>
          </a:p>
        </p:txBody>
      </p:sp>
      <p:sp>
        <p:nvSpPr>
          <p:cNvPr id="5" name="Text 3"/>
          <p:cNvSpPr txBox="1"/>
          <p:nvPr/>
        </p:nvSpPr>
        <p:spPr>
          <a:xfrm>
            <a:off x="10899648" y="310896"/>
            <a:ext cx="640080" cy="274320"/>
          </a:xfrm>
          <a:prstGeom prst="rect">
            <a:avLst/>
          </a:prstGeom>
          <a:noFill/>
          <a:ln/>
        </p:spPr>
        <p:txBody>
          <a:bodyPr wrap="square" lIns="0" tIns="0" rIns="0" bIns="0" rtlCol="0" anchor="ctr"/>
          <a:lstStyle/>
          <a:p>
            <a:pPr marL="0" indent="0" algn="r">
              <a:buNone/>
            </a:pPr>
            <a:r>
              <a:rPr lang="en-US" sz="1100" b="1" dirty="0">
                <a:solidFill>
                  <a:srgbClr val="DEDCE2"/>
                </a:solidFill>
                <a:latin typeface="Arial" pitchFamily="34" charset="0"/>
                <a:ea typeface="Arial" pitchFamily="34" charset="-122"/>
                <a:cs typeface="Arial" pitchFamily="34" charset="-120"/>
              </a:rPr>
              <a:t>08</a:t>
            </a:r>
            <a:endParaRPr lang="en-US" sz="1100" dirty="0"/>
          </a:p>
        </p:txBody>
      </p:sp>
      <p:sp>
        <p:nvSpPr>
          <p:cNvPr id="6" name="Shape 4"/>
          <p:cNvSpPr/>
          <p:nvPr/>
        </p:nvSpPr>
        <p:spPr>
          <a:xfrm>
            <a:off x="621792" y="1481328"/>
            <a:ext cx="5577840" cy="1554480"/>
          </a:xfrm>
          <a:prstGeom prst="rect">
            <a:avLst/>
          </a:prstGeom>
          <a:solidFill>
            <a:srgbClr val="FFFFFF"/>
          </a:solidFill>
          <a:ln w="12700">
            <a:solidFill>
              <a:srgbClr val="DEDCE2"/>
            </a:solidFill>
            <a:prstDash val="solid"/>
          </a:ln>
        </p:spPr>
      </p:sp>
      <p:sp>
        <p:nvSpPr>
          <p:cNvPr id="7" name="Text 5"/>
          <p:cNvSpPr txBox="1"/>
          <p:nvPr/>
        </p:nvSpPr>
        <p:spPr>
          <a:xfrm>
            <a:off x="822960" y="1618488"/>
            <a:ext cx="5175504" cy="292608"/>
          </a:xfrm>
          <a:prstGeom prst="rect">
            <a:avLst/>
          </a:prstGeom>
          <a:noFill/>
          <a:ln/>
        </p:spPr>
        <p:txBody>
          <a:bodyPr wrap="square" lIns="0" tIns="0" rIns="0" bIns="0" rtlCol="0" anchor="ctr"/>
          <a:lstStyle/>
          <a:p>
            <a:pPr marL="0" indent="0">
              <a:buNone/>
            </a:pPr>
            <a:r>
              <a:rPr lang="en-US" sz="1150" b="1" kern="0" spc="40" dirty="0">
                <a:solidFill>
                  <a:srgbClr val="26242B"/>
                </a:solidFill>
                <a:latin typeface="Arial" pitchFamily="34" charset="0"/>
                <a:ea typeface="Arial" pitchFamily="34" charset="-122"/>
                <a:cs typeface="Arial" pitchFamily="34" charset="-120"/>
              </a:rPr>
              <a:t>Registration</a:t>
            </a:r>
            <a:endParaRPr lang="en-US" sz="1150" dirty="0"/>
          </a:p>
        </p:txBody>
      </p:sp>
      <p:sp>
        <p:nvSpPr>
          <p:cNvPr id="8" name="Text 6"/>
          <p:cNvSpPr txBox="1"/>
          <p:nvPr/>
        </p:nvSpPr>
        <p:spPr>
          <a:xfrm>
            <a:off x="822960" y="1975104"/>
            <a:ext cx="5175504" cy="932688"/>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6242B"/>
                </a:solidFill>
                <a:latin typeface="Arial" pitchFamily="34" charset="0"/>
                <a:ea typeface="Arial" pitchFamily="34" charset="-122"/>
                <a:cs typeface="Arial" pitchFamily="34" charset="-120"/>
              </a:rPr>
              <a:t>Client derives auth and wrap values with a fresh salt</a:t>
            </a:r>
            <a:endParaRPr lang="en-US" sz="1050" dirty="0"/>
          </a:p>
          <a:p>
            <a:pPr marL="342900" indent="-342900">
              <a:spcAft>
                <a:spcPts val="400"/>
              </a:spcAft>
              <a:buSzPct val="100000"/>
              <a:buChar char="–"/>
            </a:pPr>
            <a:r>
              <a:rPr lang="en-US" sz="1050" dirty="0">
                <a:solidFill>
                  <a:srgbClr val="26242B"/>
                </a:solidFill>
                <a:latin typeface="Arial" pitchFamily="34" charset="0"/>
                <a:ea typeface="Arial" pitchFamily="34" charset="-122"/>
                <a:cs typeface="Arial" pitchFamily="34" charset="-120"/>
              </a:rPr>
              <a:t>Client generates the RSA-3072 and P-256 identity keys</a:t>
            </a:r>
            <a:endParaRPr lang="en-US" sz="1050" dirty="0"/>
          </a:p>
          <a:p>
            <a:pPr marL="342900" indent="-342900">
              <a:spcAft>
                <a:spcPts val="400"/>
              </a:spcAft>
              <a:buSzPct val="100000"/>
              <a:buChar char="–"/>
            </a:pPr>
            <a:r>
              <a:rPr lang="en-US" sz="1050" dirty="0">
                <a:solidFill>
                  <a:srgbClr val="26242B"/>
                </a:solidFill>
                <a:latin typeface="Arial" pitchFamily="34" charset="0"/>
                <a:ea typeface="Arial" pitchFamily="34" charset="-122"/>
                <a:cs typeface="Arial" pitchFamily="34" charset="-120"/>
              </a:rPr>
              <a:t>Server stores Credential, PublicKey and WrappedPrivateKey in one transaction</a:t>
            </a:r>
            <a:endParaRPr lang="en-US" sz="1050" dirty="0"/>
          </a:p>
        </p:txBody>
      </p:sp>
      <p:sp>
        <p:nvSpPr>
          <p:cNvPr id="9" name="Shape 7"/>
          <p:cNvSpPr/>
          <p:nvPr/>
        </p:nvSpPr>
        <p:spPr>
          <a:xfrm>
            <a:off x="6565392" y="1481328"/>
            <a:ext cx="4974336" cy="1554480"/>
          </a:xfrm>
          <a:prstGeom prst="rect">
            <a:avLst/>
          </a:prstGeom>
          <a:solidFill>
            <a:srgbClr val="3C4F3F"/>
          </a:solidFill>
          <a:ln w="12700">
            <a:solidFill>
              <a:srgbClr val="3C4F3F"/>
            </a:solidFill>
            <a:prstDash val="solid"/>
          </a:ln>
        </p:spPr>
      </p:sp>
      <p:sp>
        <p:nvSpPr>
          <p:cNvPr id="10" name="Text 8"/>
          <p:cNvSpPr txBox="1"/>
          <p:nvPr/>
        </p:nvSpPr>
        <p:spPr>
          <a:xfrm>
            <a:off x="6766560" y="1618488"/>
            <a:ext cx="4572000" cy="292608"/>
          </a:xfrm>
          <a:prstGeom prst="rect">
            <a:avLst/>
          </a:prstGeom>
          <a:noFill/>
          <a:ln/>
        </p:spPr>
        <p:txBody>
          <a:bodyPr wrap="square" lIns="0" tIns="0" rIns="0" bIns="0" rtlCol="0" anchor="ctr"/>
          <a:lstStyle/>
          <a:p>
            <a:pPr marL="0" indent="0">
              <a:buNone/>
            </a:pPr>
            <a:r>
              <a:rPr lang="en-US" sz="1150" b="1" kern="0" spc="40" dirty="0">
                <a:solidFill>
                  <a:srgbClr val="FFFFFF"/>
                </a:solidFill>
                <a:latin typeface="Arial" pitchFamily="34" charset="0"/>
                <a:ea typeface="Arial" pitchFamily="34" charset="-122"/>
                <a:cs typeface="Arial" pitchFamily="34" charset="-120"/>
              </a:rPr>
              <a:t>What never crosses the boundary</a:t>
            </a:r>
            <a:endParaRPr lang="en-US" sz="1150" dirty="0"/>
          </a:p>
        </p:txBody>
      </p:sp>
      <p:sp>
        <p:nvSpPr>
          <p:cNvPr id="11" name="Text 9"/>
          <p:cNvSpPr txBox="1"/>
          <p:nvPr/>
        </p:nvSpPr>
        <p:spPr>
          <a:xfrm>
            <a:off x="6766560" y="1975104"/>
            <a:ext cx="4572000" cy="932688"/>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DCE3DC"/>
                </a:solidFill>
                <a:latin typeface="Arial" pitchFamily="34" charset="0"/>
                <a:ea typeface="Arial" pitchFamily="34" charset="-122"/>
                <a:cs typeface="Arial" pitchFamily="34" charset="-120"/>
              </a:rPr>
              <a:t>The password, and the Argon2id output</a:t>
            </a:r>
            <a:endParaRPr lang="en-US" sz="1050" dirty="0"/>
          </a:p>
          <a:p>
            <a:pPr marL="342900" indent="-342900">
              <a:spcAft>
                <a:spcPts val="400"/>
              </a:spcAft>
              <a:buSzPct val="100000"/>
              <a:buChar char="–"/>
            </a:pPr>
            <a:r>
              <a:rPr lang="en-US" sz="1050" dirty="0">
                <a:solidFill>
                  <a:srgbClr val="DCE3DC"/>
                </a:solidFill>
                <a:latin typeface="Arial" pitchFamily="34" charset="0"/>
                <a:ea typeface="Arial" pitchFamily="34" charset="-122"/>
                <a:cs typeface="Arial" pitchFamily="34" charset="-120"/>
              </a:rPr>
              <a:t>The wrap key</a:t>
            </a:r>
            <a:endParaRPr lang="en-US" sz="1050" dirty="0"/>
          </a:p>
          <a:p>
            <a:pPr marL="342900" indent="-342900">
              <a:spcAft>
                <a:spcPts val="400"/>
              </a:spcAft>
              <a:buSzPct val="100000"/>
              <a:buChar char="–"/>
            </a:pPr>
            <a:r>
              <a:rPr lang="en-US" sz="1050" dirty="0">
                <a:solidFill>
                  <a:srgbClr val="DCE3DC"/>
                </a:solidFill>
                <a:latin typeface="Arial" pitchFamily="34" charset="0"/>
                <a:ea typeface="Arial" pitchFamily="34" charset="-122"/>
                <a:cs typeface="Arial" pitchFamily="34" charset="-120"/>
              </a:rPr>
              <a:t>The auth value itself — only its SHA-256 is stored</a:t>
            </a:r>
            <a:endParaRPr lang="en-US" sz="1050" dirty="0"/>
          </a:p>
          <a:p>
            <a:pPr marL="342900" indent="-342900">
              <a:spcAft>
                <a:spcPts val="400"/>
              </a:spcAft>
              <a:buSzPct val="100000"/>
              <a:buChar char="–"/>
            </a:pPr>
            <a:r>
              <a:rPr lang="en-US" sz="1050" dirty="0">
                <a:solidFill>
                  <a:srgbClr val="DCE3DC"/>
                </a:solidFill>
                <a:latin typeface="Arial" pitchFamily="34" charset="0"/>
                <a:ea typeface="Arial" pitchFamily="34" charset="-122"/>
                <a:cs typeface="Arial" pitchFamily="34" charset="-120"/>
              </a:rPr>
              <a:t>Any private key in the clear</a:t>
            </a:r>
            <a:endParaRPr lang="en-US" sz="1050" dirty="0"/>
          </a:p>
        </p:txBody>
      </p:sp>
      <p:sp>
        <p:nvSpPr>
          <p:cNvPr id="12" name="Shape 10"/>
          <p:cNvSpPr/>
          <p:nvPr/>
        </p:nvSpPr>
        <p:spPr>
          <a:xfrm>
            <a:off x="621792" y="3200400"/>
            <a:ext cx="5577840" cy="1691640"/>
          </a:xfrm>
          <a:prstGeom prst="rect">
            <a:avLst/>
          </a:prstGeom>
          <a:solidFill>
            <a:srgbClr val="FFFFFF"/>
          </a:solidFill>
          <a:ln w="12700">
            <a:solidFill>
              <a:srgbClr val="DEDCE2"/>
            </a:solidFill>
            <a:prstDash val="solid"/>
          </a:ln>
        </p:spPr>
      </p:sp>
      <p:sp>
        <p:nvSpPr>
          <p:cNvPr id="13" name="Text 11"/>
          <p:cNvSpPr txBox="1"/>
          <p:nvPr/>
        </p:nvSpPr>
        <p:spPr>
          <a:xfrm>
            <a:off x="822960" y="3337560"/>
            <a:ext cx="5175504" cy="292608"/>
          </a:xfrm>
          <a:prstGeom prst="rect">
            <a:avLst/>
          </a:prstGeom>
          <a:noFill/>
          <a:ln/>
        </p:spPr>
        <p:txBody>
          <a:bodyPr wrap="square" lIns="0" tIns="0" rIns="0" bIns="0" rtlCol="0" anchor="ctr"/>
          <a:lstStyle/>
          <a:p>
            <a:pPr marL="0" indent="0">
              <a:buNone/>
            </a:pPr>
            <a:r>
              <a:rPr lang="en-US" sz="1150" b="1" kern="0" spc="40" dirty="0">
                <a:solidFill>
                  <a:srgbClr val="26242B"/>
                </a:solidFill>
                <a:latin typeface="Arial" pitchFamily="34" charset="0"/>
                <a:ea typeface="Arial" pitchFamily="34" charset="-122"/>
                <a:cs typeface="Arial" pitchFamily="34" charset="-120"/>
              </a:rPr>
              <a:t>Login</a:t>
            </a:r>
            <a:endParaRPr lang="en-US" sz="1150" dirty="0"/>
          </a:p>
        </p:txBody>
      </p:sp>
      <p:sp>
        <p:nvSpPr>
          <p:cNvPr id="14" name="Text 12"/>
          <p:cNvSpPr txBox="1"/>
          <p:nvPr/>
        </p:nvSpPr>
        <p:spPr>
          <a:xfrm>
            <a:off x="822960" y="3694176"/>
            <a:ext cx="5175504" cy="1069848"/>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6242B"/>
                </a:solidFill>
                <a:latin typeface="Arial" pitchFamily="34" charset="0"/>
                <a:ea typeface="Arial" pitchFamily="34" charset="-122"/>
                <a:cs typeface="Arial" pitchFamily="34" charset="-120"/>
              </a:rPr>
              <a:t>begin_login returns a one-time challenge, the salt and the parameters</a:t>
            </a:r>
            <a:endParaRPr lang="en-US" sz="1050" dirty="0"/>
          </a:p>
          <a:p>
            <a:pPr marL="342900" indent="-342900">
              <a:spcAft>
                <a:spcPts val="400"/>
              </a:spcAft>
              <a:buSzPct val="100000"/>
              <a:buChar char="–"/>
            </a:pPr>
            <a:r>
              <a:rPr lang="en-US" sz="1050" dirty="0">
                <a:solidFill>
                  <a:srgbClr val="26242B"/>
                </a:solidFill>
                <a:latin typeface="Arial" pitchFamily="34" charset="0"/>
                <a:ea typeface="Arial" pitchFamily="34" charset="-122"/>
                <a:cs typeface="Arial" pitchFamily="34" charset="-120"/>
              </a:rPr>
              <a:t>The client derives the login key and answers with an HMAC over the whole transcript</a:t>
            </a:r>
            <a:endParaRPr lang="en-US" sz="1050" dirty="0"/>
          </a:p>
          <a:p>
            <a:pPr marL="342900" indent="-342900">
              <a:spcAft>
                <a:spcPts val="400"/>
              </a:spcAft>
              <a:buSzPct val="100000"/>
              <a:buChar char="–"/>
            </a:pPr>
            <a:r>
              <a:rPr lang="en-US" sz="1050" dirty="0">
                <a:solidFill>
                  <a:srgbClr val="26242B"/>
                </a:solidFill>
                <a:latin typeface="Arial" pitchFamily="34" charset="0"/>
                <a:ea typeface="Arial" pitchFamily="34" charset="-122"/>
                <a:cs typeface="Arial" pitchFamily="34" charset="-120"/>
              </a:rPr>
              <a:t>The transcript binds the challenge, the salt and the Argon2 parameters, so they cannot be downgraded in transit</a:t>
            </a:r>
            <a:endParaRPr lang="en-US" sz="1050" dirty="0"/>
          </a:p>
          <a:p>
            <a:pPr marL="342900" indent="-342900">
              <a:spcAft>
                <a:spcPts val="400"/>
              </a:spcAft>
              <a:buSzPct val="100000"/>
              <a:buChar char="–"/>
            </a:pPr>
            <a:r>
              <a:rPr lang="en-US" sz="1050" dirty="0">
                <a:solidFill>
                  <a:srgbClr val="26242B"/>
                </a:solidFill>
                <a:latin typeface="Arial" pitchFamily="34" charset="0"/>
                <a:ea typeface="Arial" pitchFamily="34" charset="-122"/>
                <a:cs typeface="Arial" pitchFamily="34" charset="-120"/>
              </a:rPr>
              <a:t>The wrapped private key is released only after the response is accepted</a:t>
            </a:r>
            <a:endParaRPr lang="en-US" sz="1050" dirty="0"/>
          </a:p>
        </p:txBody>
      </p:sp>
      <p:sp>
        <p:nvSpPr>
          <p:cNvPr id="15" name="Shape 13"/>
          <p:cNvSpPr/>
          <p:nvPr/>
        </p:nvSpPr>
        <p:spPr>
          <a:xfrm>
            <a:off x="6565392" y="3200400"/>
            <a:ext cx="4974336" cy="1691640"/>
          </a:xfrm>
          <a:prstGeom prst="rect">
            <a:avLst/>
          </a:prstGeom>
          <a:solidFill>
            <a:srgbClr val="FFFFFF"/>
          </a:solidFill>
          <a:ln w="12700">
            <a:solidFill>
              <a:srgbClr val="DEDCE2"/>
            </a:solidFill>
            <a:prstDash val="solid"/>
          </a:ln>
        </p:spPr>
      </p:sp>
      <p:sp>
        <p:nvSpPr>
          <p:cNvPr id="16" name="Text 14"/>
          <p:cNvSpPr txBox="1"/>
          <p:nvPr/>
        </p:nvSpPr>
        <p:spPr>
          <a:xfrm>
            <a:off x="6766560" y="3337560"/>
            <a:ext cx="4572000" cy="292608"/>
          </a:xfrm>
          <a:prstGeom prst="rect">
            <a:avLst/>
          </a:prstGeom>
          <a:noFill/>
          <a:ln/>
        </p:spPr>
        <p:txBody>
          <a:bodyPr wrap="square" lIns="0" tIns="0" rIns="0" bIns="0" rtlCol="0" anchor="ctr"/>
          <a:lstStyle/>
          <a:p>
            <a:pPr marL="0" indent="0">
              <a:buNone/>
            </a:pPr>
            <a:r>
              <a:rPr lang="en-US" sz="1150" b="1" kern="0" spc="40" dirty="0">
                <a:solidFill>
                  <a:srgbClr val="26242B"/>
                </a:solidFill>
                <a:latin typeface="Arial" pitchFamily="34" charset="0"/>
                <a:ea typeface="Arial" pitchFamily="34" charset="-122"/>
                <a:cs typeface="Arial" pitchFamily="34" charset="-120"/>
              </a:rPr>
              <a:t>The account that does not exist</a:t>
            </a:r>
            <a:endParaRPr lang="en-US" sz="1150" dirty="0"/>
          </a:p>
        </p:txBody>
      </p:sp>
      <p:sp>
        <p:nvSpPr>
          <p:cNvPr id="17" name="Text 15"/>
          <p:cNvSpPr txBox="1"/>
          <p:nvPr/>
        </p:nvSpPr>
        <p:spPr>
          <a:xfrm>
            <a:off x="6766560" y="3694176"/>
            <a:ext cx="4572000" cy="1069848"/>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6242B"/>
                </a:solidFill>
                <a:latin typeface="Arial" pitchFamily="34" charset="0"/>
                <a:ea typeface="Arial" pitchFamily="34" charset="-122"/>
                <a:cs typeface="Arial" pitchFamily="34" charset="-120"/>
              </a:rPr>
              <a:t>A stable dummy salt from HMAC(server secret, user ID), so repeated probes see the same salt</a:t>
            </a:r>
            <a:endParaRPr lang="en-US" sz="1050" dirty="0"/>
          </a:p>
          <a:p>
            <a:pPr marL="342900" indent="-342900">
              <a:spcAft>
                <a:spcPts val="400"/>
              </a:spcAft>
              <a:buSzPct val="100000"/>
              <a:buChar char="–"/>
            </a:pPr>
            <a:r>
              <a:rPr lang="en-US" sz="1050" dirty="0">
                <a:solidFill>
                  <a:srgbClr val="26242B"/>
                </a:solidFill>
                <a:latin typeface="Arial" pitchFamily="34" charset="0"/>
                <a:ea typeface="Arial" pitchFamily="34" charset="-122"/>
                <a:cs typeface="Arial" pitchFamily="34" charset="-120"/>
              </a:rPr>
              <a:t>A dummy key, so the server does the same work either way</a:t>
            </a:r>
            <a:endParaRPr lang="en-US" sz="1050" dirty="0"/>
          </a:p>
          <a:p>
            <a:pPr marL="342900" indent="-342900">
              <a:spcAft>
                <a:spcPts val="400"/>
              </a:spcAft>
              <a:buSzPct val="100000"/>
              <a:buChar char="–"/>
            </a:pPr>
            <a:r>
              <a:rPr lang="en-US" sz="1050" dirty="0">
                <a:solidFill>
                  <a:srgbClr val="26242B"/>
                </a:solidFill>
                <a:latin typeface="Arial" pitchFamily="34" charset="0"/>
                <a:ea typeface="Arial" pitchFamily="34" charset="-122"/>
                <a:cs typeface="Arial" pitchFamily="34" charset="-120"/>
              </a:rPr>
              <a:t>One external message for every failure: Authentication failed</a:t>
            </a:r>
            <a:endParaRPr lang="en-US" sz="1050" dirty="0"/>
          </a:p>
          <a:p>
            <a:pPr marL="342900" indent="-342900">
              <a:spcAft>
                <a:spcPts val="400"/>
              </a:spcAft>
              <a:buSzPct val="100000"/>
              <a:buChar char="–"/>
            </a:pPr>
            <a:r>
              <a:rPr lang="en-US" sz="1050" dirty="0">
                <a:solidFill>
                  <a:srgbClr val="26242B"/>
                </a:solidFill>
                <a:latin typeface="Arial" pitchFamily="34" charset="0"/>
                <a:ea typeface="Arial" pitchFamily="34" charset="-122"/>
                <a:cs typeface="Arial" pitchFamily="34" charset="-120"/>
              </a:rPr>
              <a:t>The challenge is consumed on the first finish attempt, pass or fail</a:t>
            </a:r>
            <a:endParaRPr lang="en-US" sz="1050" dirty="0"/>
          </a:p>
        </p:txBody>
      </p:sp>
      <p:sp>
        <p:nvSpPr>
          <p:cNvPr id="18" name="Shape 16"/>
          <p:cNvSpPr/>
          <p:nvPr/>
        </p:nvSpPr>
        <p:spPr>
          <a:xfrm>
            <a:off x="621792" y="5074920"/>
            <a:ext cx="10917936" cy="914400"/>
          </a:xfrm>
          <a:prstGeom prst="rect">
            <a:avLst/>
          </a:prstGeom>
          <a:solidFill>
            <a:srgbClr val="F7F5F6"/>
          </a:solidFill>
          <a:ln w="15875">
            <a:solidFill>
              <a:srgbClr val="C0392F"/>
            </a:solidFill>
            <a:prstDash val="solid"/>
          </a:ln>
        </p:spPr>
      </p:sp>
      <p:sp>
        <p:nvSpPr>
          <p:cNvPr id="19" name="Text 17"/>
          <p:cNvSpPr txBox="1"/>
          <p:nvPr/>
        </p:nvSpPr>
        <p:spPr>
          <a:xfrm>
            <a:off x="822960" y="5212080"/>
            <a:ext cx="10515600" cy="292608"/>
          </a:xfrm>
          <a:prstGeom prst="rect">
            <a:avLst/>
          </a:prstGeom>
          <a:noFill/>
          <a:ln/>
        </p:spPr>
        <p:txBody>
          <a:bodyPr wrap="square" lIns="0" tIns="0" rIns="0" bIns="0" rtlCol="0" anchor="ctr"/>
          <a:lstStyle/>
          <a:p>
            <a:pPr marL="0" indent="0">
              <a:buNone/>
            </a:pPr>
            <a:r>
              <a:rPr lang="en-US" sz="1150" b="1" kern="0" spc="40" dirty="0">
                <a:solidFill>
                  <a:srgbClr val="C0392F"/>
                </a:solidFill>
                <a:latin typeface="Arial" pitchFamily="34" charset="0"/>
                <a:ea typeface="Arial" pitchFamily="34" charset="-122"/>
                <a:cs typeface="Arial" pitchFamily="34" charset="-120"/>
              </a:rPr>
              <a:t>Evidence for both halves</a:t>
            </a:r>
            <a:endParaRPr lang="en-US" sz="1150" dirty="0"/>
          </a:p>
        </p:txBody>
      </p:sp>
      <p:sp>
        <p:nvSpPr>
          <p:cNvPr id="20" name="Text 18"/>
          <p:cNvSpPr txBox="1"/>
          <p:nvPr/>
        </p:nvSpPr>
        <p:spPr>
          <a:xfrm>
            <a:off x="822960" y="5550408"/>
            <a:ext cx="10515600" cy="320040"/>
          </a:xfrm>
          <a:prstGeom prst="rect">
            <a:avLst/>
          </a:prstGeom>
          <a:noFill/>
          <a:ln/>
        </p:spPr>
        <p:txBody>
          <a:bodyPr wrap="square" lIns="0" tIns="0" rIns="0" bIns="0" rtlCol="0" anchor="t"/>
          <a:lstStyle/>
          <a:p>
            <a:pPr marL="0" indent="0">
              <a:buNone/>
            </a:pPr>
            <a:r>
              <a:rPr lang="en-US" sz="1050" dirty="0">
                <a:solidFill>
                  <a:srgbClr val="26242B"/>
                </a:solidFill>
                <a:latin typeface="Arial" pitchFamily="34" charset="0"/>
                <a:ea typeface="Arial" pitchFamily="34" charset="-122"/>
                <a:cs typeface="Arial" pitchFamily="34" charset="-120"/>
              </a:rPr>
              <a:t>Atomicity: interruption tests kill a child process at each write boundary; after restart, the database contains either no account or a complete one. Timing: wrong-password and unknown-user attempts are compared under the same conditions — evidence, not proof of no leakage.</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21792" y="329184"/>
            <a:ext cx="9820656" cy="237744"/>
          </a:xfrm>
          <a:prstGeom prst="rect">
            <a:avLst/>
          </a:prstGeom>
          <a:noFill/>
          <a:ln/>
        </p:spPr>
        <p:txBody>
          <a:bodyPr wrap="square" lIns="0" tIns="0" rIns="0" bIns="0" rtlCol="0" anchor="ctr"/>
          <a:lstStyle/>
          <a:p>
            <a:pPr marL="0" indent="0">
              <a:buNone/>
            </a:pPr>
            <a:r>
              <a:rPr lang="en-US" sz="950" b="1" kern="0" spc="250" dirty="0">
                <a:solidFill>
                  <a:srgbClr val="C0392F"/>
                </a:solidFill>
                <a:latin typeface="Arial" pitchFamily="34" charset="0"/>
                <a:ea typeface="Arial" pitchFamily="34" charset="-122"/>
                <a:cs typeface="Arial" pitchFamily="34" charset="-120"/>
              </a:rPr>
              <a:t>PART 1 · ACCOUNTS</a:t>
            </a:r>
            <a:endParaRPr lang="en-US" sz="950" dirty="0"/>
          </a:p>
        </p:txBody>
      </p:sp>
      <p:sp>
        <p:nvSpPr>
          <p:cNvPr id="3" name="Text 1"/>
          <p:cNvSpPr txBox="1"/>
          <p:nvPr/>
        </p:nvSpPr>
        <p:spPr>
          <a:xfrm>
            <a:off x="621792" y="603504"/>
            <a:ext cx="10917936" cy="530352"/>
          </a:xfrm>
          <a:prstGeom prst="rect">
            <a:avLst/>
          </a:prstGeom>
          <a:noFill/>
          <a:ln/>
        </p:spPr>
        <p:txBody>
          <a:bodyPr wrap="square" lIns="0" tIns="0" rIns="0" bIns="0" rtlCol="0" anchor="ctr"/>
          <a:lstStyle/>
          <a:p>
            <a:pPr marL="0" indent="0">
              <a:buNone/>
            </a:pPr>
            <a:r>
              <a:rPr lang="en-US" sz="2500" b="1" dirty="0">
                <a:solidFill>
                  <a:srgbClr val="26242B"/>
                </a:solidFill>
                <a:latin typeface="Bookman Old Style" pitchFamily="34" charset="0"/>
                <a:ea typeface="Bookman Old Style" pitchFamily="34" charset="-122"/>
                <a:cs typeface="Bookman Old Style" pitchFamily="34" charset="-120"/>
              </a:rPr>
              <a:t>Part 1 — sessions, password change and evidence</a:t>
            </a:r>
            <a:endParaRPr lang="en-US" sz="2500" dirty="0"/>
          </a:p>
        </p:txBody>
      </p:sp>
      <p:sp>
        <p:nvSpPr>
          <p:cNvPr id="4" name="Text 2"/>
          <p:cNvSpPr txBox="1"/>
          <p:nvPr/>
        </p:nvSpPr>
        <p:spPr>
          <a:xfrm>
            <a:off x="621792" y="1133856"/>
            <a:ext cx="10917936" cy="274320"/>
          </a:xfrm>
          <a:prstGeom prst="rect">
            <a:avLst/>
          </a:prstGeom>
          <a:noFill/>
          <a:ln/>
        </p:spPr>
        <p:txBody>
          <a:bodyPr wrap="square" lIns="0" tIns="0" rIns="0" bIns="0" rtlCol="0" anchor="ctr"/>
          <a:lstStyle/>
          <a:p>
            <a:pPr marL="0" indent="0">
              <a:buNone/>
            </a:pPr>
            <a:r>
              <a:rPr lang="en-US" sz="1200" dirty="0">
                <a:solidFill>
                  <a:srgbClr val="76737E"/>
                </a:solidFill>
                <a:latin typeface="Arial" pitchFamily="34" charset="0"/>
                <a:ea typeface="Arial" pitchFamily="34" charset="-122"/>
                <a:cs typeface="Arial" pitchFamily="34" charset="-120"/>
              </a:rPr>
              <a:t>Every sensitive request is authenticated on its own</a:t>
            </a:r>
            <a:endParaRPr lang="en-US" sz="1200" dirty="0"/>
          </a:p>
        </p:txBody>
      </p:sp>
      <p:sp>
        <p:nvSpPr>
          <p:cNvPr id="5" name="Text 3"/>
          <p:cNvSpPr txBox="1"/>
          <p:nvPr/>
        </p:nvSpPr>
        <p:spPr>
          <a:xfrm>
            <a:off x="10899648" y="310896"/>
            <a:ext cx="640080" cy="274320"/>
          </a:xfrm>
          <a:prstGeom prst="rect">
            <a:avLst/>
          </a:prstGeom>
          <a:noFill/>
          <a:ln/>
        </p:spPr>
        <p:txBody>
          <a:bodyPr wrap="square" lIns="0" tIns="0" rIns="0" bIns="0" rtlCol="0" anchor="ctr"/>
          <a:lstStyle/>
          <a:p>
            <a:pPr marL="0" indent="0" algn="r">
              <a:buNone/>
            </a:pPr>
            <a:r>
              <a:rPr lang="en-US" sz="1100" b="1" dirty="0">
                <a:solidFill>
                  <a:srgbClr val="DEDCE2"/>
                </a:solidFill>
                <a:latin typeface="Arial" pitchFamily="34" charset="0"/>
                <a:ea typeface="Arial" pitchFamily="34" charset="-122"/>
                <a:cs typeface="Arial" pitchFamily="34" charset="-120"/>
              </a:rPr>
              <a:t>09</a:t>
            </a:r>
            <a:endParaRPr lang="en-US" sz="1100" dirty="0"/>
          </a:p>
        </p:txBody>
      </p:sp>
      <p:sp>
        <p:nvSpPr>
          <p:cNvPr id="6" name="Shape 4"/>
          <p:cNvSpPr/>
          <p:nvPr/>
        </p:nvSpPr>
        <p:spPr>
          <a:xfrm>
            <a:off x="621792" y="1481328"/>
            <a:ext cx="3794760" cy="1965960"/>
          </a:xfrm>
          <a:prstGeom prst="rect">
            <a:avLst/>
          </a:prstGeom>
          <a:solidFill>
            <a:srgbClr val="FFFFFF"/>
          </a:solidFill>
          <a:ln w="12700">
            <a:solidFill>
              <a:srgbClr val="DEDCE2"/>
            </a:solidFill>
            <a:prstDash val="solid"/>
          </a:ln>
        </p:spPr>
      </p:sp>
      <p:sp>
        <p:nvSpPr>
          <p:cNvPr id="7" name="Text 5"/>
          <p:cNvSpPr txBox="1"/>
          <p:nvPr/>
        </p:nvSpPr>
        <p:spPr>
          <a:xfrm>
            <a:off x="822960" y="1618488"/>
            <a:ext cx="3392424" cy="292608"/>
          </a:xfrm>
          <a:prstGeom prst="rect">
            <a:avLst/>
          </a:prstGeom>
          <a:noFill/>
          <a:ln/>
        </p:spPr>
        <p:txBody>
          <a:bodyPr wrap="square" lIns="0" tIns="0" rIns="0" bIns="0" rtlCol="0" anchor="ctr"/>
          <a:lstStyle/>
          <a:p>
            <a:pPr marL="0" indent="0">
              <a:buNone/>
            </a:pPr>
            <a:r>
              <a:rPr lang="en-US" sz="1150" b="1" kern="0" spc="40" dirty="0">
                <a:solidFill>
                  <a:srgbClr val="26242B"/>
                </a:solidFill>
                <a:latin typeface="Arial" pitchFamily="34" charset="0"/>
                <a:ea typeface="Arial" pitchFamily="34" charset="-122"/>
                <a:cs typeface="Arial" pitchFamily="34" charset="-120"/>
              </a:rPr>
              <a:t>Sessions</a:t>
            </a:r>
            <a:endParaRPr lang="en-US" sz="1150" dirty="0"/>
          </a:p>
        </p:txBody>
      </p:sp>
      <p:sp>
        <p:nvSpPr>
          <p:cNvPr id="8" name="Text 6"/>
          <p:cNvSpPr txBox="1"/>
          <p:nvPr/>
        </p:nvSpPr>
        <p:spPr>
          <a:xfrm>
            <a:off x="822960" y="1975104"/>
            <a:ext cx="3392424" cy="1344168"/>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6242B"/>
                </a:solidFill>
                <a:latin typeface="Arial" pitchFamily="34" charset="0"/>
                <a:ea typeface="Arial" pitchFamily="34" charset="-122"/>
                <a:cs typeface="Arial" pitchFamily="34" charset="-120"/>
              </a:rPr>
              <a:t>Session key = HKDF(login key, session ID), derived on both sides and never sent</a:t>
            </a:r>
            <a:endParaRPr lang="en-US" sz="1050" dirty="0"/>
          </a:p>
          <a:p>
            <a:pPr marL="342900" indent="-342900">
              <a:spcAft>
                <a:spcPts val="400"/>
              </a:spcAft>
              <a:buSzPct val="100000"/>
              <a:buChar char="–"/>
            </a:pPr>
            <a:r>
              <a:rPr lang="en-US" sz="1050" dirty="0">
                <a:solidFill>
                  <a:srgbClr val="26242B"/>
                </a:solidFill>
                <a:latin typeface="Arial" pitchFamily="34" charset="0"/>
                <a:ea typeface="Arial" pitchFamily="34" charset="-122"/>
                <a:cs typeface="Arial" pitchFamily="34" charset="-120"/>
              </a:rPr>
              <a:t>Each request carries a fresh request ID and an HMAC over operation, payload and identity</a:t>
            </a:r>
            <a:endParaRPr lang="en-US" sz="1050" dirty="0"/>
          </a:p>
          <a:p>
            <a:pPr marL="342900" indent="-342900">
              <a:spcAft>
                <a:spcPts val="400"/>
              </a:spcAft>
              <a:buSzPct val="100000"/>
              <a:buChar char="–"/>
            </a:pPr>
            <a:r>
              <a:rPr lang="en-US" sz="1050" dirty="0">
                <a:solidFill>
                  <a:srgbClr val="26242B"/>
                </a:solidFill>
                <a:latin typeface="Arial" pitchFamily="34" charset="0"/>
                <a:ea typeface="Arial" pitchFamily="34" charset="-122"/>
                <a:cs typeface="Arial" pitchFamily="34" charset="-120"/>
              </a:rPr>
              <a:t>The server takes the identity from its own session record, not from the request field</a:t>
            </a:r>
            <a:endParaRPr lang="en-US" sz="1050" dirty="0"/>
          </a:p>
          <a:p>
            <a:pPr marL="342900" indent="-342900">
              <a:spcAft>
                <a:spcPts val="400"/>
              </a:spcAft>
              <a:buSzPct val="100000"/>
              <a:buChar char="–"/>
            </a:pPr>
            <a:r>
              <a:rPr lang="en-US" sz="1050" dirty="0">
                <a:solidFill>
                  <a:srgbClr val="26242B"/>
                </a:solidFill>
                <a:latin typeface="Arial" pitchFamily="34" charset="0"/>
                <a:ea typeface="Arial" pitchFamily="34" charset="-122"/>
                <a:cs typeface="Arial" pitchFamily="34" charset="-120"/>
              </a:rPr>
              <a:t>Accepted request IDs are stored, so a captured request cannot be replayed</a:t>
            </a:r>
            <a:endParaRPr lang="en-US" sz="1050" dirty="0"/>
          </a:p>
        </p:txBody>
      </p:sp>
      <p:sp>
        <p:nvSpPr>
          <p:cNvPr id="9" name="Shape 7"/>
          <p:cNvSpPr/>
          <p:nvPr/>
        </p:nvSpPr>
        <p:spPr>
          <a:xfrm>
            <a:off x="4645152" y="1481328"/>
            <a:ext cx="3794760" cy="1965960"/>
          </a:xfrm>
          <a:prstGeom prst="rect">
            <a:avLst/>
          </a:prstGeom>
          <a:solidFill>
            <a:srgbClr val="FFFFFF"/>
          </a:solidFill>
          <a:ln w="12700">
            <a:solidFill>
              <a:srgbClr val="DEDCE2"/>
            </a:solidFill>
            <a:prstDash val="solid"/>
          </a:ln>
        </p:spPr>
      </p:sp>
      <p:sp>
        <p:nvSpPr>
          <p:cNvPr id="10" name="Text 8"/>
          <p:cNvSpPr txBox="1"/>
          <p:nvPr/>
        </p:nvSpPr>
        <p:spPr>
          <a:xfrm>
            <a:off x="4846320" y="1618488"/>
            <a:ext cx="3392424" cy="292608"/>
          </a:xfrm>
          <a:prstGeom prst="rect">
            <a:avLst/>
          </a:prstGeom>
          <a:noFill/>
          <a:ln/>
        </p:spPr>
        <p:txBody>
          <a:bodyPr wrap="square" lIns="0" tIns="0" rIns="0" bIns="0" rtlCol="0" anchor="ctr"/>
          <a:lstStyle/>
          <a:p>
            <a:pPr marL="0" indent="0">
              <a:buNone/>
            </a:pPr>
            <a:r>
              <a:rPr lang="en-US" sz="1150" b="1" kern="0" spc="40" dirty="0">
                <a:solidFill>
                  <a:srgbClr val="26242B"/>
                </a:solidFill>
                <a:latin typeface="Arial" pitchFamily="34" charset="0"/>
                <a:ea typeface="Arial" pitchFamily="34" charset="-122"/>
                <a:cs typeface="Arial" pitchFamily="34" charset="-120"/>
              </a:rPr>
              <a:t>Password change</a:t>
            </a:r>
            <a:endParaRPr lang="en-US" sz="1150" dirty="0"/>
          </a:p>
        </p:txBody>
      </p:sp>
      <p:sp>
        <p:nvSpPr>
          <p:cNvPr id="11" name="Text 9"/>
          <p:cNvSpPr txBox="1"/>
          <p:nvPr/>
        </p:nvSpPr>
        <p:spPr>
          <a:xfrm>
            <a:off x="4846320" y="1975104"/>
            <a:ext cx="3392424" cy="1344168"/>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6242B"/>
                </a:solidFill>
                <a:latin typeface="Arial" pitchFamily="34" charset="0"/>
                <a:ea typeface="Arial" pitchFamily="34" charset="-122"/>
                <a:cs typeface="Arial" pitchFamily="34" charset="-120"/>
              </a:rPr>
              <a:t>The old password must unwrap the current bundle — a stolen session is not enough</a:t>
            </a:r>
            <a:endParaRPr lang="en-US" sz="1050" dirty="0"/>
          </a:p>
          <a:p>
            <a:pPr marL="342900" indent="-342900">
              <a:spcAft>
                <a:spcPts val="400"/>
              </a:spcAft>
              <a:buSzPct val="100000"/>
              <a:buChar char="–"/>
            </a:pPr>
            <a:r>
              <a:rPr lang="en-US" sz="1050" dirty="0">
                <a:solidFill>
                  <a:srgbClr val="26242B"/>
                </a:solidFill>
                <a:latin typeface="Arial" pitchFamily="34" charset="0"/>
                <a:ea typeface="Arial" pitchFamily="34" charset="-122"/>
                <a:cs typeface="Arial" pitchFamily="34" charset="-120"/>
              </a:rPr>
              <a:t>Fresh salt and new wrap key; the same identity keys re-wrapped</a:t>
            </a:r>
            <a:endParaRPr lang="en-US" sz="1050" dirty="0"/>
          </a:p>
          <a:p>
            <a:pPr marL="342900" indent="-342900">
              <a:spcAft>
                <a:spcPts val="400"/>
              </a:spcAft>
              <a:buSzPct val="100000"/>
              <a:buChar char="–"/>
            </a:pPr>
            <a:r>
              <a:rPr lang="en-US" sz="1050" dirty="0">
                <a:solidFill>
                  <a:srgbClr val="26242B"/>
                </a:solidFill>
                <a:latin typeface="Arial" pitchFamily="34" charset="0"/>
                <a:ea typeface="Arial" pitchFamily="34" charset="-122"/>
                <a:cs typeface="Arial" pitchFamily="34" charset="-120"/>
              </a:rPr>
              <a:t>Compare-and-swap, so a stale concurrent change is refused</a:t>
            </a:r>
            <a:endParaRPr lang="en-US" sz="1050" dirty="0"/>
          </a:p>
          <a:p>
            <a:pPr marL="342900" indent="-342900">
              <a:spcAft>
                <a:spcPts val="400"/>
              </a:spcAft>
              <a:buSzPct val="100000"/>
              <a:buChar char="–"/>
            </a:pPr>
            <a:r>
              <a:rPr lang="en-US" sz="1050" dirty="0">
                <a:solidFill>
                  <a:srgbClr val="26242B"/>
                </a:solidFill>
                <a:latin typeface="Arial" pitchFamily="34" charset="0"/>
                <a:ea typeface="Arial" pitchFamily="34" charset="-122"/>
                <a:cs typeface="Arial" pitchFamily="34" charset="-120"/>
              </a:rPr>
              <a:t>Every session for that user is invalidated in the same transaction</a:t>
            </a:r>
            <a:endParaRPr lang="en-US" sz="1050" dirty="0"/>
          </a:p>
        </p:txBody>
      </p:sp>
      <p:sp>
        <p:nvSpPr>
          <p:cNvPr id="12" name="Shape 10"/>
          <p:cNvSpPr/>
          <p:nvPr/>
        </p:nvSpPr>
        <p:spPr>
          <a:xfrm>
            <a:off x="8668512" y="1481328"/>
            <a:ext cx="2871216" cy="1965960"/>
          </a:xfrm>
          <a:prstGeom prst="rect">
            <a:avLst/>
          </a:prstGeom>
          <a:solidFill>
            <a:srgbClr val="3C4F3F"/>
          </a:solidFill>
          <a:ln w="12700">
            <a:solidFill>
              <a:srgbClr val="3C4F3F"/>
            </a:solidFill>
            <a:prstDash val="solid"/>
          </a:ln>
        </p:spPr>
      </p:sp>
      <p:sp>
        <p:nvSpPr>
          <p:cNvPr id="13" name="Text 11"/>
          <p:cNvSpPr txBox="1"/>
          <p:nvPr/>
        </p:nvSpPr>
        <p:spPr>
          <a:xfrm>
            <a:off x="8869680" y="1618488"/>
            <a:ext cx="2468880" cy="292608"/>
          </a:xfrm>
          <a:prstGeom prst="rect">
            <a:avLst/>
          </a:prstGeom>
          <a:noFill/>
          <a:ln/>
        </p:spPr>
        <p:txBody>
          <a:bodyPr wrap="square" lIns="0" tIns="0" rIns="0" bIns="0" rtlCol="0" anchor="ctr"/>
          <a:lstStyle/>
          <a:p>
            <a:pPr marL="0" indent="0">
              <a:buNone/>
            </a:pPr>
            <a:r>
              <a:rPr lang="en-US" sz="1150" b="1" kern="0" spc="40" dirty="0">
                <a:solidFill>
                  <a:srgbClr val="FFFFFF"/>
                </a:solidFill>
                <a:latin typeface="Arial" pitchFamily="34" charset="0"/>
                <a:ea typeface="Arial" pitchFamily="34" charset="-122"/>
                <a:cs typeface="Arial" pitchFamily="34" charset="-120"/>
              </a:rPr>
              <a:t>Tests</a:t>
            </a:r>
            <a:endParaRPr lang="en-US" sz="1150" dirty="0"/>
          </a:p>
        </p:txBody>
      </p:sp>
      <p:sp>
        <p:nvSpPr>
          <p:cNvPr id="14" name="Text 12"/>
          <p:cNvSpPr txBox="1"/>
          <p:nvPr/>
        </p:nvSpPr>
        <p:spPr>
          <a:xfrm>
            <a:off x="8869680" y="1975104"/>
            <a:ext cx="2468880" cy="1344168"/>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DCE3DC"/>
                </a:solidFill>
                <a:latin typeface="Arial" pitchFamily="34" charset="0"/>
                <a:ea typeface="Arial" pitchFamily="34" charset="-122"/>
                <a:cs typeface="Arial" pitchFamily="34" charset="-120"/>
              </a:rPr>
              <a:t>237 tests passed in the complete pytest suite</a:t>
            </a:r>
            <a:endParaRPr lang="en-US" sz="1050" dirty="0"/>
          </a:p>
          <a:p>
            <a:pPr marL="342900" indent="-342900">
              <a:spcAft>
                <a:spcPts val="400"/>
              </a:spcAft>
              <a:buSzPct val="100000"/>
              <a:buChar char="–"/>
            </a:pPr>
            <a:r>
              <a:rPr lang="en-US" sz="1050" dirty="0">
                <a:solidFill>
                  <a:srgbClr val="DCE3DC"/>
                </a:solidFill>
                <a:latin typeface="Arial" pitchFamily="34" charset="0"/>
                <a:ea typeface="Arial" pitchFamily="34" charset="-122"/>
                <a:cs typeface="Arial" pitchFamily="34" charset="-120"/>
              </a:rPr>
              <a:t>RFC 4231 and RFC 5869 vectors, plus reference-library cross-checks</a:t>
            </a:r>
            <a:endParaRPr lang="en-US" sz="1050" dirty="0"/>
          </a:p>
          <a:p>
            <a:pPr marL="342900" indent="-342900">
              <a:spcAft>
                <a:spcPts val="400"/>
              </a:spcAft>
              <a:buSzPct val="100000"/>
              <a:buChar char="–"/>
            </a:pPr>
            <a:r>
              <a:rPr lang="en-US" sz="1050" dirty="0">
                <a:solidFill>
                  <a:srgbClr val="DCE3DC"/>
                </a:solidFill>
                <a:latin typeface="Arial" pitchFamily="34" charset="0"/>
                <a:ea typeface="Arial" pitchFamily="34" charset="-122"/>
                <a:cs typeface="Arial" pitchFamily="34" charset="-120"/>
              </a:rPr>
              <a:t>Interruption at every write boundary</a:t>
            </a:r>
            <a:endParaRPr lang="en-US" sz="1050" dirty="0"/>
          </a:p>
        </p:txBody>
      </p:sp>
      <p:sp>
        <p:nvSpPr>
          <p:cNvPr id="15" name="Shape 13"/>
          <p:cNvSpPr/>
          <p:nvPr/>
        </p:nvSpPr>
        <p:spPr>
          <a:xfrm>
            <a:off x="621792" y="3639312"/>
            <a:ext cx="5577840" cy="1280160"/>
          </a:xfrm>
          <a:prstGeom prst="rect">
            <a:avLst/>
          </a:prstGeom>
          <a:solidFill>
            <a:srgbClr val="FFFFFF"/>
          </a:solidFill>
          <a:ln w="12700">
            <a:solidFill>
              <a:srgbClr val="DEDCE2"/>
            </a:solidFill>
            <a:prstDash val="solid"/>
          </a:ln>
        </p:spPr>
      </p:sp>
      <p:sp>
        <p:nvSpPr>
          <p:cNvPr id="16" name="Text 14"/>
          <p:cNvSpPr txBox="1"/>
          <p:nvPr/>
        </p:nvSpPr>
        <p:spPr>
          <a:xfrm>
            <a:off x="822960" y="3776472"/>
            <a:ext cx="5175504" cy="292608"/>
          </a:xfrm>
          <a:prstGeom prst="rect">
            <a:avLst/>
          </a:prstGeom>
          <a:noFill/>
          <a:ln/>
        </p:spPr>
        <p:txBody>
          <a:bodyPr wrap="square" lIns="0" tIns="0" rIns="0" bIns="0" rtlCol="0" anchor="ctr"/>
          <a:lstStyle/>
          <a:p>
            <a:pPr marL="0" indent="0">
              <a:buNone/>
            </a:pPr>
            <a:r>
              <a:rPr lang="en-US" sz="1150" b="1" kern="0" spc="40" dirty="0">
                <a:solidFill>
                  <a:srgbClr val="26242B"/>
                </a:solidFill>
                <a:latin typeface="Arial" pitchFamily="34" charset="0"/>
                <a:ea typeface="Arial" pitchFamily="34" charset="-122"/>
                <a:cs typeface="Arial" pitchFamily="34" charset="-120"/>
              </a:rPr>
              <a:t>Verified directly, not assumed</a:t>
            </a:r>
            <a:endParaRPr lang="en-US" sz="1150" dirty="0"/>
          </a:p>
        </p:txBody>
      </p:sp>
      <p:sp>
        <p:nvSpPr>
          <p:cNvPr id="17" name="Text 15"/>
          <p:cNvSpPr txBox="1"/>
          <p:nvPr/>
        </p:nvSpPr>
        <p:spPr>
          <a:xfrm>
            <a:off x="822960" y="4114800"/>
            <a:ext cx="5175504" cy="676656"/>
          </a:xfrm>
          <a:prstGeom prst="rect">
            <a:avLst/>
          </a:prstGeom>
          <a:noFill/>
          <a:ln/>
        </p:spPr>
        <p:txBody>
          <a:bodyPr wrap="square" lIns="0" tIns="0" rIns="0" bIns="0" rtlCol="0" anchor="t"/>
          <a:lstStyle/>
          <a:p>
            <a:pPr marL="0" indent="0">
              <a:buNone/>
            </a:pPr>
            <a:r>
              <a:rPr lang="en-US" sz="1050" dirty="0">
                <a:solidFill>
                  <a:srgbClr val="26242B"/>
                </a:solidFill>
                <a:latin typeface="Arial" pitchFamily="34" charset="0"/>
                <a:ea typeface="Arial" pitchFamily="34" charset="-122"/>
                <a:cs typeface="Arial" pitchFamily="34" charset="-120"/>
              </a:rPr>
              <a:t>After a password change the recovered bundle is byte-identical to the original and the public fingerprint is unchanged. That is what lets a trust relationship established before the change keep working afterwards — and it is why Part 3 can pin a key at all.</a:t>
            </a:r>
            <a:endParaRPr lang="en-US" sz="1050" dirty="0"/>
          </a:p>
        </p:txBody>
      </p:sp>
      <p:sp>
        <p:nvSpPr>
          <p:cNvPr id="18" name="Shape 16"/>
          <p:cNvSpPr/>
          <p:nvPr/>
        </p:nvSpPr>
        <p:spPr>
          <a:xfrm>
            <a:off x="6565392" y="3639312"/>
            <a:ext cx="4974336" cy="1280160"/>
          </a:xfrm>
          <a:prstGeom prst="rect">
            <a:avLst/>
          </a:prstGeom>
          <a:solidFill>
            <a:srgbClr val="F7F5F6"/>
          </a:solidFill>
          <a:ln w="15875">
            <a:solidFill>
              <a:srgbClr val="C0392F"/>
            </a:solidFill>
            <a:prstDash val="solid"/>
          </a:ln>
        </p:spPr>
      </p:sp>
      <p:sp>
        <p:nvSpPr>
          <p:cNvPr id="19" name="Text 17"/>
          <p:cNvSpPr txBox="1"/>
          <p:nvPr/>
        </p:nvSpPr>
        <p:spPr>
          <a:xfrm>
            <a:off x="6766560" y="3776472"/>
            <a:ext cx="4572000" cy="292608"/>
          </a:xfrm>
          <a:prstGeom prst="rect">
            <a:avLst/>
          </a:prstGeom>
          <a:noFill/>
          <a:ln/>
        </p:spPr>
        <p:txBody>
          <a:bodyPr wrap="square" lIns="0" tIns="0" rIns="0" bIns="0" rtlCol="0" anchor="ctr"/>
          <a:lstStyle/>
          <a:p>
            <a:pPr marL="0" indent="0">
              <a:buNone/>
            </a:pPr>
            <a:r>
              <a:rPr lang="en-US" sz="1150" b="1" kern="0" spc="40" dirty="0">
                <a:solidFill>
                  <a:srgbClr val="C0392F"/>
                </a:solidFill>
                <a:latin typeface="Arial" pitchFamily="34" charset="0"/>
                <a:ea typeface="Arial" pitchFamily="34" charset="-122"/>
                <a:cs typeface="Arial" pitchFamily="34" charset="-120"/>
              </a:rPr>
              <a:t>The limit we accept: a stolen credential store</a:t>
            </a:r>
            <a:endParaRPr lang="en-US" sz="1150" dirty="0"/>
          </a:p>
        </p:txBody>
      </p:sp>
      <p:sp>
        <p:nvSpPr>
          <p:cNvPr id="20" name="Text 18"/>
          <p:cNvSpPr txBox="1"/>
          <p:nvPr/>
        </p:nvSpPr>
        <p:spPr>
          <a:xfrm>
            <a:off x="6766560" y="4114800"/>
            <a:ext cx="4572000" cy="804672"/>
          </a:xfrm>
          <a:prstGeom prst="rect">
            <a:avLst/>
          </a:prstGeom>
          <a:noFill/>
          <a:ln/>
        </p:spPr>
        <p:txBody>
          <a:bodyPr wrap="square" lIns="0" tIns="0" rIns="0" bIns="0" rtlCol="0" anchor="t"/>
          <a:lstStyle/>
          <a:p>
            <a:pPr marL="0" indent="0">
              <a:buNone/>
            </a:pPr>
            <a:r>
              <a:rPr lang="en-US" sz="1050" dirty="0">
                <a:latin typeface="Arial" panose="020B0604020202020204" pitchFamily="34" charset="0"/>
                <a:cs typeface="Arial" panose="020B0604020202020204" pitchFamily="34" charset="0"/>
              </a:rPr>
              <a:t>Our login is an HMAC challenge-response keyed by the stored verifier. An attacker holding a copy of the store can answer any challenge and sign in as any user without recovering a password — a stolen store is sufficient for impersonation, not merely helpful.</a:t>
            </a:r>
          </a:p>
        </p:txBody>
      </p:sp>
      <p:sp>
        <p:nvSpPr>
          <p:cNvPr id="21" name="Shape 19"/>
          <p:cNvSpPr/>
          <p:nvPr/>
        </p:nvSpPr>
        <p:spPr>
          <a:xfrm>
            <a:off x="621792" y="5102352"/>
            <a:ext cx="10917936" cy="886968"/>
          </a:xfrm>
          <a:prstGeom prst="rect">
            <a:avLst/>
          </a:prstGeom>
          <a:solidFill>
            <a:srgbClr val="FFFFFF"/>
          </a:solidFill>
          <a:ln w="12700">
            <a:solidFill>
              <a:srgbClr val="DEDCE2"/>
            </a:solidFill>
            <a:prstDash val="solid"/>
          </a:ln>
        </p:spPr>
      </p:sp>
      <p:sp>
        <p:nvSpPr>
          <p:cNvPr id="22" name="Text 20"/>
          <p:cNvSpPr txBox="1"/>
          <p:nvPr/>
        </p:nvSpPr>
        <p:spPr>
          <a:xfrm>
            <a:off x="822960" y="5239512"/>
            <a:ext cx="10515600" cy="292608"/>
          </a:xfrm>
          <a:prstGeom prst="rect">
            <a:avLst/>
          </a:prstGeom>
          <a:noFill/>
          <a:ln/>
        </p:spPr>
        <p:txBody>
          <a:bodyPr wrap="square" lIns="0" tIns="0" rIns="0" bIns="0" rtlCol="0" anchor="ctr"/>
          <a:lstStyle/>
          <a:p>
            <a:pPr marL="0" indent="0">
              <a:buNone/>
            </a:pPr>
            <a:r>
              <a:rPr lang="en-US" sz="1150" b="1" kern="0" spc="40" dirty="0">
                <a:solidFill>
                  <a:srgbClr val="26242B"/>
                </a:solidFill>
                <a:latin typeface="Arial" pitchFamily="34" charset="0"/>
                <a:ea typeface="Arial" pitchFamily="34" charset="-122"/>
                <a:cs typeface="Arial" pitchFamily="34" charset="-120"/>
              </a:rPr>
              <a:t>Why we did not simply fix it</a:t>
            </a:r>
            <a:endParaRPr lang="en-US" sz="1150" dirty="0"/>
          </a:p>
        </p:txBody>
      </p:sp>
      <p:sp>
        <p:nvSpPr>
          <p:cNvPr id="23" name="Text 21"/>
          <p:cNvSpPr txBox="1"/>
          <p:nvPr/>
        </p:nvSpPr>
        <p:spPr>
          <a:xfrm>
            <a:off x="822960" y="5577840"/>
            <a:ext cx="10515600" cy="320040"/>
          </a:xfrm>
          <a:prstGeom prst="rect">
            <a:avLst/>
          </a:prstGeom>
          <a:noFill/>
          <a:ln/>
        </p:spPr>
        <p:txBody>
          <a:bodyPr wrap="square" lIns="0" tIns="0" rIns="0" bIns="0" rtlCol="0" anchor="t"/>
          <a:lstStyle/>
          <a:p>
            <a:pPr marL="0" indent="0">
              <a:buNone/>
            </a:pPr>
            <a:r>
              <a:rPr lang="en-US" sz="1050" dirty="0">
                <a:solidFill>
                  <a:srgbClr val="26242B"/>
                </a:solidFill>
                <a:latin typeface="Arial" pitchFamily="34" charset="0"/>
                <a:ea typeface="Arial" pitchFamily="34" charset="-122"/>
                <a:cs typeface="Arial" pitchFamily="34" charset="-120"/>
              </a:rPr>
              <a:t>Because login is a symmetric HMAC proof, the server must store a verifier it can use to check responses. That protects the password and wrap key, but a stolen verifier can still impersonate. A stronger version would sign the login transcript with the user's RSA key; we identified it but did not finish it.</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C1B1F"/>
        </a:solidFill>
        <a:effectLst/>
      </p:bgPr>
    </p:bg>
    <p:spTree>
      <p:nvGrpSpPr>
        <p:cNvPr id="1" name=""/>
        <p:cNvGrpSpPr/>
        <p:nvPr/>
      </p:nvGrpSpPr>
      <p:grpSpPr>
        <a:xfrm>
          <a:off x="0" y="0"/>
          <a:ext cx="0" cy="0"/>
          <a:chOff x="0" y="0"/>
          <a:chExt cx="0" cy="0"/>
        </a:xfrm>
      </p:grpSpPr>
      <p:sp>
        <p:nvSpPr>
          <p:cNvPr id="2" name="Text 0"/>
          <p:cNvSpPr txBox="1"/>
          <p:nvPr/>
        </p:nvSpPr>
        <p:spPr>
          <a:xfrm>
            <a:off x="621792" y="1828800"/>
            <a:ext cx="10917936" cy="274320"/>
          </a:xfrm>
          <a:prstGeom prst="rect">
            <a:avLst/>
          </a:prstGeom>
          <a:noFill/>
          <a:ln/>
        </p:spPr>
        <p:txBody>
          <a:bodyPr wrap="square" lIns="0" tIns="0" rIns="0" bIns="0" rtlCol="0" anchor="ctr"/>
          <a:lstStyle/>
          <a:p>
            <a:pPr marL="0" indent="0">
              <a:buNone/>
            </a:pPr>
            <a:r>
              <a:rPr lang="en-US" sz="1100" b="1" kern="0" spc="300" dirty="0">
                <a:solidFill>
                  <a:srgbClr val="C0392F"/>
                </a:solidFill>
                <a:latin typeface="Arial" pitchFamily="34" charset="0"/>
                <a:ea typeface="Arial" pitchFamily="34" charset="-122"/>
                <a:cs typeface="Arial" pitchFamily="34" charset="-120"/>
              </a:rPr>
              <a:t>PART TWO</a:t>
            </a:r>
            <a:endParaRPr lang="en-US" sz="1100" dirty="0"/>
          </a:p>
        </p:txBody>
      </p:sp>
      <p:sp>
        <p:nvSpPr>
          <p:cNvPr id="3" name="Text 1"/>
          <p:cNvSpPr txBox="1"/>
          <p:nvPr/>
        </p:nvSpPr>
        <p:spPr>
          <a:xfrm>
            <a:off x="621792" y="2212848"/>
            <a:ext cx="9089136" cy="1005840"/>
          </a:xfrm>
          <a:prstGeom prst="rect">
            <a:avLst/>
          </a:prstGeom>
          <a:noFill/>
          <a:ln/>
        </p:spPr>
        <p:txBody>
          <a:bodyPr wrap="square" lIns="0" tIns="0" rIns="0" bIns="0" rtlCol="0" anchor="ctr"/>
          <a:lstStyle/>
          <a:p>
            <a:pPr marL="0" indent="0">
              <a:buNone/>
            </a:pPr>
            <a:r>
              <a:rPr lang="en-US" sz="3600" b="1" dirty="0">
                <a:solidFill>
                  <a:srgbClr val="FFFFFF"/>
                </a:solidFill>
                <a:latin typeface="Bookman Old Style" pitchFamily="34" charset="0"/>
                <a:ea typeface="Bookman Old Style" pitchFamily="34" charset="-122"/>
                <a:cs typeface="Bookman Old Style" pitchFamily="34" charset="-120"/>
              </a:rPr>
              <a:t>Formats, AEAD and transport</a:t>
            </a:r>
            <a:endParaRPr lang="en-US" sz="3600" dirty="0"/>
          </a:p>
        </p:txBody>
      </p:sp>
      <p:sp>
        <p:nvSpPr>
          <p:cNvPr id="4" name="Text 2"/>
          <p:cNvSpPr txBox="1"/>
          <p:nvPr/>
        </p:nvSpPr>
        <p:spPr>
          <a:xfrm>
            <a:off x="621792" y="3310128"/>
            <a:ext cx="8174736" cy="457200"/>
          </a:xfrm>
          <a:prstGeom prst="rect">
            <a:avLst/>
          </a:prstGeom>
          <a:noFill/>
          <a:ln/>
        </p:spPr>
        <p:txBody>
          <a:bodyPr wrap="square" lIns="0" tIns="0" rIns="0" bIns="0" rtlCol="0" anchor="ctr"/>
          <a:lstStyle/>
          <a:p>
            <a:pPr marL="0" indent="0">
              <a:buNone/>
            </a:pPr>
            <a:r>
              <a:rPr lang="en-US" sz="1350" dirty="0">
                <a:solidFill>
                  <a:srgbClr val="A6A2AE"/>
                </a:solidFill>
                <a:latin typeface="Arial" pitchFamily="34" charset="0"/>
                <a:ea typeface="Arial" pitchFamily="34" charset="-122"/>
                <a:cs typeface="Arial" pitchFamily="34" charset="-120"/>
              </a:rPr>
              <a:t>The byte contract every other part depends on, and the path a document actually travels</a:t>
            </a:r>
            <a:endParaRPr lang="en-US" sz="1350" dirty="0"/>
          </a:p>
        </p:txBody>
      </p:sp>
      <p:sp>
        <p:nvSpPr>
          <p:cNvPr id="5" name="Shape 3"/>
          <p:cNvSpPr/>
          <p:nvPr/>
        </p:nvSpPr>
        <p:spPr>
          <a:xfrm>
            <a:off x="621792" y="4069080"/>
            <a:ext cx="10917936" cy="0"/>
          </a:xfrm>
          <a:prstGeom prst="line">
            <a:avLst/>
          </a:prstGeom>
          <a:noFill/>
          <a:ln w="9525">
            <a:solidFill>
              <a:srgbClr val="4A4653"/>
            </a:solidFill>
            <a:prstDash val="solid"/>
          </a:ln>
        </p:spPr>
      </p:sp>
      <p:sp>
        <p:nvSpPr>
          <p:cNvPr id="6" name="Text 4"/>
          <p:cNvSpPr txBox="1"/>
          <p:nvPr/>
        </p:nvSpPr>
        <p:spPr>
          <a:xfrm>
            <a:off x="621792" y="4224528"/>
            <a:ext cx="548640" cy="274320"/>
          </a:xfrm>
          <a:prstGeom prst="rect">
            <a:avLst/>
          </a:prstGeom>
          <a:noFill/>
          <a:ln/>
        </p:spPr>
        <p:txBody>
          <a:bodyPr wrap="square" lIns="0" tIns="0" rIns="0" bIns="0" rtlCol="0" anchor="ctr"/>
          <a:lstStyle/>
          <a:p>
            <a:pPr marL="0" indent="0">
              <a:buNone/>
            </a:pPr>
            <a:r>
              <a:rPr lang="en-US" sz="1100" b="1" dirty="0">
                <a:solidFill>
                  <a:srgbClr val="C0392F"/>
                </a:solidFill>
                <a:latin typeface="Arial" pitchFamily="34" charset="0"/>
                <a:ea typeface="Arial" pitchFamily="34" charset="-122"/>
                <a:cs typeface="Arial" pitchFamily="34" charset="-120"/>
              </a:rPr>
              <a:t>01</a:t>
            </a:r>
            <a:endParaRPr lang="en-US" sz="1100" dirty="0"/>
          </a:p>
        </p:txBody>
      </p:sp>
      <p:sp>
        <p:nvSpPr>
          <p:cNvPr id="7" name="Text 5"/>
          <p:cNvSpPr txBox="1"/>
          <p:nvPr/>
        </p:nvSpPr>
        <p:spPr>
          <a:xfrm>
            <a:off x="621792" y="4517136"/>
            <a:ext cx="3273552" cy="640080"/>
          </a:xfrm>
          <a:prstGeom prst="rect">
            <a:avLst/>
          </a:prstGeom>
          <a:noFill/>
          <a:ln/>
        </p:spPr>
        <p:txBody>
          <a:bodyPr wrap="square" lIns="0" tIns="0" rIns="0" bIns="0" rtlCol="0" anchor="t"/>
          <a:lstStyle/>
          <a:p>
            <a:pPr marL="0" indent="0">
              <a:buNone/>
            </a:pPr>
            <a:r>
              <a:rPr lang="en-US" sz="1150" dirty="0">
                <a:solidFill>
                  <a:srgbClr val="C6C2CC"/>
                </a:solidFill>
                <a:latin typeface="Arial" pitchFamily="34" charset="0"/>
                <a:ea typeface="Arial" pitchFamily="34" charset="-122"/>
                <a:cs typeface="Arial" pitchFamily="34" charset="-120"/>
              </a:rPr>
              <a:t>Shared object formats</a:t>
            </a:r>
            <a:endParaRPr lang="en-US" sz="1150" dirty="0"/>
          </a:p>
        </p:txBody>
      </p:sp>
      <p:sp>
        <p:nvSpPr>
          <p:cNvPr id="8" name="Text 6"/>
          <p:cNvSpPr txBox="1"/>
          <p:nvPr/>
        </p:nvSpPr>
        <p:spPr>
          <a:xfrm>
            <a:off x="4261104" y="4224528"/>
            <a:ext cx="548640" cy="274320"/>
          </a:xfrm>
          <a:prstGeom prst="rect">
            <a:avLst/>
          </a:prstGeom>
          <a:noFill/>
          <a:ln/>
        </p:spPr>
        <p:txBody>
          <a:bodyPr wrap="square" lIns="0" tIns="0" rIns="0" bIns="0" rtlCol="0" anchor="ctr"/>
          <a:lstStyle/>
          <a:p>
            <a:pPr marL="0" indent="0">
              <a:buNone/>
            </a:pPr>
            <a:r>
              <a:rPr lang="en-US" sz="1100" b="1" dirty="0">
                <a:solidFill>
                  <a:srgbClr val="C0392F"/>
                </a:solidFill>
                <a:latin typeface="Arial" pitchFamily="34" charset="0"/>
                <a:ea typeface="Arial" pitchFamily="34" charset="-122"/>
                <a:cs typeface="Arial" pitchFamily="34" charset="-120"/>
              </a:rPr>
              <a:t>02</a:t>
            </a:r>
            <a:endParaRPr lang="en-US" sz="1100" dirty="0"/>
          </a:p>
        </p:txBody>
      </p:sp>
      <p:sp>
        <p:nvSpPr>
          <p:cNvPr id="9" name="Text 7"/>
          <p:cNvSpPr txBox="1"/>
          <p:nvPr/>
        </p:nvSpPr>
        <p:spPr>
          <a:xfrm>
            <a:off x="4261104" y="4517136"/>
            <a:ext cx="3273552" cy="640080"/>
          </a:xfrm>
          <a:prstGeom prst="rect">
            <a:avLst/>
          </a:prstGeom>
          <a:noFill/>
          <a:ln/>
        </p:spPr>
        <p:txBody>
          <a:bodyPr wrap="square" lIns="0" tIns="0" rIns="0" bIns="0" rtlCol="0" anchor="t"/>
          <a:lstStyle/>
          <a:p>
            <a:pPr marL="0" indent="0">
              <a:buNone/>
            </a:pPr>
            <a:r>
              <a:rPr lang="en-US" sz="1150" dirty="0">
                <a:solidFill>
                  <a:srgbClr val="C6C2CC"/>
                </a:solidFill>
                <a:latin typeface="Arial" pitchFamily="34" charset="0"/>
                <a:ea typeface="Arial" pitchFamily="34" charset="-122"/>
                <a:cs typeface="Arial" pitchFamily="34" charset="-120"/>
              </a:rPr>
              <a:t>Decision 7.2 and the AEAD</a:t>
            </a:r>
            <a:endParaRPr lang="en-US" sz="1150" dirty="0"/>
          </a:p>
        </p:txBody>
      </p:sp>
      <p:sp>
        <p:nvSpPr>
          <p:cNvPr id="10" name="Text 8"/>
          <p:cNvSpPr txBox="1"/>
          <p:nvPr/>
        </p:nvSpPr>
        <p:spPr>
          <a:xfrm>
            <a:off x="7900416" y="4224528"/>
            <a:ext cx="548640" cy="274320"/>
          </a:xfrm>
          <a:prstGeom prst="rect">
            <a:avLst/>
          </a:prstGeom>
          <a:noFill/>
          <a:ln/>
        </p:spPr>
        <p:txBody>
          <a:bodyPr wrap="square" lIns="0" tIns="0" rIns="0" bIns="0" rtlCol="0" anchor="ctr"/>
          <a:lstStyle/>
          <a:p>
            <a:pPr marL="0" indent="0">
              <a:buNone/>
            </a:pPr>
            <a:r>
              <a:rPr lang="en-US" sz="1100" b="1" dirty="0">
                <a:solidFill>
                  <a:srgbClr val="C0392F"/>
                </a:solidFill>
                <a:latin typeface="Arial" pitchFamily="34" charset="0"/>
                <a:ea typeface="Arial" pitchFamily="34" charset="-122"/>
                <a:cs typeface="Arial" pitchFamily="34" charset="-120"/>
              </a:rPr>
              <a:t>03</a:t>
            </a:r>
            <a:endParaRPr lang="en-US" sz="1100" dirty="0"/>
          </a:p>
        </p:txBody>
      </p:sp>
      <p:sp>
        <p:nvSpPr>
          <p:cNvPr id="11" name="Text 9"/>
          <p:cNvSpPr txBox="1"/>
          <p:nvPr/>
        </p:nvSpPr>
        <p:spPr>
          <a:xfrm>
            <a:off x="7900416" y="4517136"/>
            <a:ext cx="3273552" cy="640080"/>
          </a:xfrm>
          <a:prstGeom prst="rect">
            <a:avLst/>
          </a:prstGeom>
          <a:noFill/>
          <a:ln/>
        </p:spPr>
        <p:txBody>
          <a:bodyPr wrap="square" lIns="0" tIns="0" rIns="0" bIns="0" rtlCol="0" anchor="t"/>
          <a:lstStyle/>
          <a:p>
            <a:pPr marL="0" indent="0">
              <a:buNone/>
            </a:pPr>
            <a:r>
              <a:rPr lang="en-US" sz="1150" dirty="0">
                <a:solidFill>
                  <a:srgbClr val="C6C2CC"/>
                </a:solidFill>
                <a:latin typeface="Arial" pitchFamily="34" charset="0"/>
                <a:ea typeface="Arial" pitchFamily="34" charset="-122"/>
                <a:cs typeface="Arial" pitchFamily="34" charset="-120"/>
              </a:rPr>
              <a:t>Decision 7.6, transport and evidence</a:t>
            </a:r>
            <a:endParaRPr lang="en-US" sz="1150" dirty="0"/>
          </a:p>
        </p:txBody>
      </p:sp>
      <p:sp>
        <p:nvSpPr>
          <p:cNvPr id="12" name="Text 10"/>
          <p:cNvSpPr txBox="1"/>
          <p:nvPr/>
        </p:nvSpPr>
        <p:spPr>
          <a:xfrm>
            <a:off x="10899648" y="6355080"/>
            <a:ext cx="640080" cy="274320"/>
          </a:xfrm>
          <a:prstGeom prst="rect">
            <a:avLst/>
          </a:prstGeom>
          <a:noFill/>
          <a:ln/>
        </p:spPr>
        <p:txBody>
          <a:bodyPr wrap="square" lIns="0" tIns="0" rIns="0" bIns="0" rtlCol="0" anchor="ctr"/>
          <a:lstStyle/>
          <a:p>
            <a:pPr marL="0" indent="0" algn="r">
              <a:buNone/>
            </a:pPr>
            <a:r>
              <a:rPr lang="en-US" sz="1100" b="1" dirty="0">
                <a:solidFill>
                  <a:srgbClr val="4A4653"/>
                </a:solidFill>
                <a:latin typeface="Arial" pitchFamily="34" charset="0"/>
                <a:ea typeface="Arial" pitchFamily="34" charset="-122"/>
                <a:cs typeface="Arial"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21792" y="329184"/>
            <a:ext cx="9820656" cy="237744"/>
          </a:xfrm>
          <a:prstGeom prst="rect">
            <a:avLst/>
          </a:prstGeom>
          <a:noFill/>
          <a:ln/>
        </p:spPr>
        <p:txBody>
          <a:bodyPr wrap="square" lIns="0" tIns="0" rIns="0" bIns="0" rtlCol="0" anchor="ctr"/>
          <a:lstStyle/>
          <a:p>
            <a:pPr marL="0" indent="0">
              <a:buNone/>
            </a:pPr>
            <a:r>
              <a:rPr lang="en-US" sz="950" b="1" kern="0" spc="250" dirty="0">
                <a:solidFill>
                  <a:srgbClr val="C0392F"/>
                </a:solidFill>
                <a:latin typeface="Arial" pitchFamily="34" charset="0"/>
                <a:ea typeface="Arial" pitchFamily="34" charset="-122"/>
                <a:cs typeface="Arial" pitchFamily="34" charset="-120"/>
              </a:rPr>
              <a:t>PART 2 · FORMATS</a:t>
            </a:r>
            <a:endParaRPr lang="en-US" sz="950" dirty="0"/>
          </a:p>
        </p:txBody>
      </p:sp>
      <p:sp>
        <p:nvSpPr>
          <p:cNvPr id="3" name="Text 1"/>
          <p:cNvSpPr txBox="1"/>
          <p:nvPr/>
        </p:nvSpPr>
        <p:spPr>
          <a:xfrm>
            <a:off x="621792" y="603504"/>
            <a:ext cx="10917936" cy="530352"/>
          </a:xfrm>
          <a:prstGeom prst="rect">
            <a:avLst/>
          </a:prstGeom>
          <a:noFill/>
          <a:ln/>
        </p:spPr>
        <p:txBody>
          <a:bodyPr wrap="square" lIns="0" tIns="0" rIns="0" bIns="0" rtlCol="0" anchor="ctr"/>
          <a:lstStyle/>
          <a:p>
            <a:pPr marL="0" indent="0">
              <a:buNone/>
            </a:pPr>
            <a:r>
              <a:rPr lang="en-US" sz="2500" b="1" dirty="0">
                <a:solidFill>
                  <a:srgbClr val="26242B"/>
                </a:solidFill>
                <a:latin typeface="Bookman Old Style" pitchFamily="34" charset="0"/>
                <a:ea typeface="Bookman Old Style" pitchFamily="34" charset="-122"/>
                <a:cs typeface="Bookman Old Style" pitchFamily="34" charset="-120"/>
              </a:rPr>
              <a:t>Part 2 — shared object formats</a:t>
            </a:r>
            <a:endParaRPr lang="en-US" sz="2500" dirty="0"/>
          </a:p>
        </p:txBody>
      </p:sp>
      <p:sp>
        <p:nvSpPr>
          <p:cNvPr id="4" name="Text 2"/>
          <p:cNvSpPr txBox="1"/>
          <p:nvPr/>
        </p:nvSpPr>
        <p:spPr>
          <a:xfrm>
            <a:off x="621792" y="1133856"/>
            <a:ext cx="10917936" cy="274320"/>
          </a:xfrm>
          <a:prstGeom prst="rect">
            <a:avLst/>
          </a:prstGeom>
          <a:noFill/>
          <a:ln/>
        </p:spPr>
        <p:txBody>
          <a:bodyPr wrap="square" lIns="0" tIns="0" rIns="0" bIns="0" rtlCol="0" anchor="ctr"/>
          <a:lstStyle/>
          <a:p>
            <a:pPr marL="0" indent="0">
              <a:buNone/>
            </a:pPr>
            <a:r>
              <a:rPr lang="en-US" sz="1200" dirty="0">
                <a:solidFill>
                  <a:srgbClr val="76737E"/>
                </a:solidFill>
                <a:latin typeface="Arial" pitchFamily="34" charset="0"/>
                <a:ea typeface="Arial" pitchFamily="34" charset="-122"/>
                <a:cs typeface="Arial" pitchFamily="34" charset="-120"/>
              </a:rPr>
              <a:t>Five records, one parsing discipline</a:t>
            </a:r>
            <a:endParaRPr lang="en-US" sz="1200" dirty="0"/>
          </a:p>
        </p:txBody>
      </p:sp>
      <p:sp>
        <p:nvSpPr>
          <p:cNvPr id="5" name="Text 3"/>
          <p:cNvSpPr txBox="1"/>
          <p:nvPr/>
        </p:nvSpPr>
        <p:spPr>
          <a:xfrm>
            <a:off x="10899648" y="310896"/>
            <a:ext cx="640080" cy="274320"/>
          </a:xfrm>
          <a:prstGeom prst="rect">
            <a:avLst/>
          </a:prstGeom>
          <a:noFill/>
          <a:ln/>
        </p:spPr>
        <p:txBody>
          <a:bodyPr wrap="square" lIns="0" tIns="0" rIns="0" bIns="0" rtlCol="0" anchor="ctr"/>
          <a:lstStyle/>
          <a:p>
            <a:pPr marL="0" indent="0" algn="r">
              <a:buNone/>
            </a:pPr>
            <a:r>
              <a:rPr lang="en-US" sz="1100" b="1" dirty="0">
                <a:solidFill>
                  <a:srgbClr val="DEDCE2"/>
                </a:solidFill>
                <a:latin typeface="Arial" pitchFamily="34" charset="0"/>
                <a:ea typeface="Arial" pitchFamily="34" charset="-122"/>
                <a:cs typeface="Arial" pitchFamily="34" charset="-120"/>
              </a:rPr>
              <a:t>11</a:t>
            </a:r>
            <a:endParaRPr lang="en-US" sz="11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21792" y="1481328"/>
          <a:ext cx="10917936" cy="1493520"/>
        </p:xfrm>
        <a:graphic>
          <a:graphicData uri="http://schemas.openxmlformats.org/drawingml/2006/table">
            <a:tbl>
              <a:tblPr/>
              <a:tblGrid>
                <a:gridCol w="196596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8311896">
                  <a:extLst>
                    <a:ext uri="{9D8B030D-6E8A-4147-A177-3AD203B41FA5}">
                      <a16:colId xmlns:a16="http://schemas.microsoft.com/office/drawing/2014/main" val="20002"/>
                    </a:ext>
                  </a:extLst>
                </a:gridCol>
              </a:tblGrid>
              <a:tr h="0">
                <a:tc>
                  <a:txBody>
                    <a:bodyPr/>
                    <a:lstStyle/>
                    <a:p>
                      <a:pPr marL="0" indent="0">
                        <a:buNone/>
                      </a:pPr>
                      <a:r>
                        <a:rPr lang="en-US" sz="950" b="1" kern="0" spc="100" dirty="0">
                          <a:solidFill>
                            <a:srgbClr val="C0392F"/>
                          </a:solidFill>
                          <a:latin typeface="Arial" pitchFamily="34" charset="0"/>
                          <a:ea typeface="Arial" pitchFamily="34" charset="-122"/>
                          <a:cs typeface="Arial" pitchFamily="34" charset="-120"/>
                        </a:rPr>
                        <a:t>OBJECT</a:t>
                      </a:r>
                      <a:endParaRPr lang="en-US" sz="95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7F5F6"/>
                    </a:solidFill>
                  </a:tcPr>
                </a:tc>
                <a:tc>
                  <a:txBody>
                    <a:bodyPr/>
                    <a:lstStyle/>
                    <a:p>
                      <a:pPr marL="0" indent="0">
                        <a:buNone/>
                      </a:pPr>
                      <a:r>
                        <a:rPr lang="en-US" sz="950" b="1" kern="0" spc="100" dirty="0">
                          <a:solidFill>
                            <a:srgbClr val="C0392F"/>
                          </a:solidFill>
                          <a:latin typeface="Arial" pitchFamily="34" charset="0"/>
                          <a:ea typeface="Arial" pitchFamily="34" charset="-122"/>
                          <a:cs typeface="Arial" pitchFamily="34" charset="-120"/>
                        </a:rPr>
                        <a:t>TYPE</a:t>
                      </a:r>
                      <a:endParaRPr lang="en-US" sz="95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7F5F6"/>
                    </a:solidFill>
                  </a:tcPr>
                </a:tc>
                <a:tc>
                  <a:txBody>
                    <a:bodyPr/>
                    <a:lstStyle/>
                    <a:p>
                      <a:pPr marL="0" indent="0">
                        <a:buNone/>
                      </a:pPr>
                      <a:r>
                        <a:rPr lang="en-US" sz="950" b="1" kern="0" spc="100" dirty="0">
                          <a:solidFill>
                            <a:srgbClr val="C0392F"/>
                          </a:solidFill>
                          <a:latin typeface="Arial" pitchFamily="34" charset="0"/>
                          <a:ea typeface="Arial" pitchFamily="34" charset="-122"/>
                          <a:cs typeface="Arial" pitchFamily="34" charset="-120"/>
                        </a:rPr>
                        <a:t>FIELDS, IN ORDER</a:t>
                      </a:r>
                      <a:endParaRPr lang="en-US" sz="95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7F5F6"/>
                    </a:solidFill>
                  </a:tcPr>
                </a:tc>
                <a:extLst>
                  <a:ext uri="{0D108BD9-81ED-4DB2-BD59-A6C34878D82A}">
                    <a16:rowId xmlns:a16="http://schemas.microsoft.com/office/drawing/2014/main" val="10000"/>
                  </a:ext>
                </a:extLst>
              </a:tr>
              <a:tr h="0">
                <a:tc>
                  <a:txBody>
                    <a:bodyPr/>
                    <a:lstStyle/>
                    <a:p>
                      <a:pPr marL="0" indent="0">
                        <a:buNone/>
                      </a:pPr>
                      <a:r>
                        <a:rPr lang="en-US" sz="1050" dirty="0">
                          <a:solidFill>
                            <a:srgbClr val="26242B"/>
                          </a:solidFill>
                          <a:latin typeface="Arial" pitchFamily="34" charset="0"/>
                          <a:ea typeface="Arial" pitchFamily="34" charset="-122"/>
                          <a:cs typeface="Arial" pitchFamily="34" charset="-120"/>
                        </a:rPr>
                        <a:t>Credential</a:t>
                      </a:r>
                      <a:endParaRPr lang="en-US" sz="105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tc>
                  <a:txBody>
                    <a:bodyPr/>
                    <a:lstStyle/>
                    <a:p>
                      <a:pPr marL="0" indent="0">
                        <a:buNone/>
                      </a:pPr>
                      <a:r>
                        <a:rPr lang="en-US" sz="1050" dirty="0">
                          <a:solidFill>
                            <a:srgbClr val="26242B"/>
                          </a:solidFill>
                          <a:latin typeface="Arial" pitchFamily="34" charset="0"/>
                          <a:ea typeface="Arial" pitchFamily="34" charset="-122"/>
                          <a:cs typeface="Arial" pitchFamily="34" charset="-120"/>
                        </a:rPr>
                        <a:t>1</a:t>
                      </a:r>
                      <a:endParaRPr lang="en-US" sz="105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tc>
                  <a:txBody>
                    <a:bodyPr/>
                    <a:lstStyle/>
                    <a:p>
                      <a:pPr marL="0" indent="0">
                        <a:buNone/>
                      </a:pPr>
                      <a:r>
                        <a:rPr lang="en-US" sz="1050" dirty="0">
                          <a:solidFill>
                            <a:srgbClr val="26242B"/>
                          </a:solidFill>
                          <a:latin typeface="Arial" pitchFamily="34" charset="0"/>
                          <a:ea typeface="Arial" pitchFamily="34" charset="-122"/>
                          <a:cs typeface="Arial" pitchFamily="34" charset="-120"/>
                        </a:rPr>
                        <a:t>user ID, salt (16), Argon2 parameters (20), stored verifier (32)</a:t>
                      </a:r>
                      <a:endParaRPr lang="en-US" sz="105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050" dirty="0">
                          <a:solidFill>
                            <a:srgbClr val="26242B"/>
                          </a:solidFill>
                          <a:latin typeface="Arial" pitchFamily="34" charset="0"/>
                          <a:ea typeface="Arial" pitchFamily="34" charset="-122"/>
                          <a:cs typeface="Arial" pitchFamily="34" charset="-120"/>
                        </a:rPr>
                        <a:t>PublicKey</a:t>
                      </a:r>
                      <a:endParaRPr lang="en-US" sz="105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tc>
                  <a:txBody>
                    <a:bodyPr/>
                    <a:lstStyle/>
                    <a:p>
                      <a:pPr marL="0" indent="0">
                        <a:buNone/>
                      </a:pPr>
                      <a:r>
                        <a:rPr lang="en-US" sz="1050" dirty="0">
                          <a:solidFill>
                            <a:srgbClr val="26242B"/>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tc>
                  <a:txBody>
                    <a:bodyPr/>
                    <a:lstStyle/>
                    <a:p>
                      <a:pPr marL="0" indent="0">
                        <a:buNone/>
                      </a:pPr>
                      <a:r>
                        <a:rPr lang="en-US" sz="1050" dirty="0">
                          <a:solidFill>
                            <a:srgbClr val="26242B"/>
                          </a:solidFill>
                          <a:latin typeface="Arial" pitchFamily="34" charset="0"/>
                          <a:ea typeface="Arial" pitchFamily="34" charset="-122"/>
                          <a:cs typeface="Arial" pitchFamily="34" charset="-120"/>
                        </a:rPr>
                        <a:t>user ID, P-256 point (65), RSA modulus (384), exponent (3)</a:t>
                      </a:r>
                      <a:endParaRPr lang="en-US" sz="105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buNone/>
                      </a:pPr>
                      <a:r>
                        <a:rPr lang="en-US" sz="1050" dirty="0">
                          <a:solidFill>
                            <a:srgbClr val="26242B"/>
                          </a:solidFill>
                          <a:latin typeface="Arial" pitchFamily="34" charset="0"/>
                          <a:ea typeface="Arial" pitchFamily="34" charset="-122"/>
                          <a:cs typeface="Arial" pitchFamily="34" charset="-120"/>
                        </a:rPr>
                        <a:t>WrappedPrivateKey</a:t>
                      </a:r>
                      <a:endParaRPr lang="en-US" sz="105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tc>
                  <a:txBody>
                    <a:bodyPr/>
                    <a:lstStyle/>
                    <a:p>
                      <a:pPr marL="0" indent="0">
                        <a:buNone/>
                      </a:pPr>
                      <a:r>
                        <a:rPr lang="en-US" sz="1050" dirty="0">
                          <a:solidFill>
                            <a:srgbClr val="26242B"/>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tc>
                  <a:txBody>
                    <a:bodyPr/>
                    <a:lstStyle/>
                    <a:p>
                      <a:pPr marL="0" indent="0">
                        <a:buNone/>
                      </a:pPr>
                      <a:r>
                        <a:rPr lang="en-US" sz="1050" dirty="0">
                          <a:solidFill>
                            <a:srgbClr val="26242B"/>
                          </a:solidFill>
                          <a:latin typeface="Arial" pitchFamily="34" charset="0"/>
                          <a:ea typeface="Arial" pitchFamily="34" charset="-122"/>
                          <a:cs typeface="Arial" pitchFamily="34" charset="-120"/>
                        </a:rPr>
                        <a:t>user ID, nonce (12), ciphertext, tag (16)</a:t>
                      </a:r>
                      <a:endParaRPr lang="en-US" sz="105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050" dirty="0">
                          <a:solidFill>
                            <a:srgbClr val="26242B"/>
                          </a:solidFill>
                          <a:latin typeface="Arial" pitchFamily="34" charset="0"/>
                          <a:ea typeface="Arial" pitchFamily="34" charset="-122"/>
                          <a:cs typeface="Arial" pitchFamily="34" charset="-120"/>
                        </a:rPr>
                        <a:t>Document</a:t>
                      </a:r>
                      <a:endParaRPr lang="en-US" sz="105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tc>
                  <a:txBody>
                    <a:bodyPr/>
                    <a:lstStyle/>
                    <a:p>
                      <a:pPr marL="0" indent="0">
                        <a:buNone/>
                      </a:pPr>
                      <a:r>
                        <a:rPr lang="en-US" sz="1050" dirty="0">
                          <a:solidFill>
                            <a:srgbClr val="26242B"/>
                          </a:solidFill>
                          <a:latin typeface="Arial" pitchFamily="34" charset="0"/>
                          <a:ea typeface="Arial" pitchFamily="34" charset="-122"/>
                          <a:cs typeface="Arial" pitchFamily="34" charset="-120"/>
                        </a:rPr>
                        <a:t>4</a:t>
                      </a:r>
                      <a:endParaRPr lang="en-US" sz="105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tc>
                  <a:txBody>
                    <a:bodyPr/>
                    <a:lstStyle/>
                    <a:p>
                      <a:pPr marL="0" indent="0">
                        <a:buNone/>
                      </a:pPr>
                      <a:r>
                        <a:rPr lang="en-US" sz="1050" dirty="0">
                          <a:solidFill>
                            <a:srgbClr val="26242B"/>
                          </a:solidFill>
                          <a:latin typeface="Arial" pitchFamily="34" charset="0"/>
                          <a:ea typeface="Arial" pitchFamily="34" charset="-122"/>
                          <a:cs typeface="Arial" pitchFamily="34" charset="-120"/>
                        </a:rPr>
                        <a:t>document ID (16), owner, filename, MIME type, size, timestamp, nonce, ciphertext, tag</a:t>
                      </a:r>
                      <a:endParaRPr lang="en-US" sz="105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0">
                <a:tc>
                  <a:txBody>
                    <a:bodyPr/>
                    <a:lstStyle/>
                    <a:p>
                      <a:pPr marL="0" indent="0">
                        <a:buNone/>
                      </a:pPr>
                      <a:r>
                        <a:rPr lang="en-US" sz="1050" dirty="0">
                          <a:solidFill>
                            <a:srgbClr val="26242B"/>
                          </a:solidFill>
                          <a:latin typeface="Arial" pitchFamily="34" charset="0"/>
                          <a:ea typeface="Arial" pitchFamily="34" charset="-122"/>
                          <a:cs typeface="Arial" pitchFamily="34" charset="-120"/>
                        </a:rPr>
                        <a:t>Share</a:t>
                      </a:r>
                      <a:endParaRPr lang="en-US" sz="105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tc>
                  <a:txBody>
                    <a:bodyPr/>
                    <a:lstStyle/>
                    <a:p>
                      <a:pPr marL="0" indent="0">
                        <a:buNone/>
                      </a:pPr>
                      <a:r>
                        <a:rPr lang="en-US" sz="1050" dirty="0">
                          <a:solidFill>
                            <a:srgbClr val="26242B"/>
                          </a:solidFill>
                          <a:latin typeface="Arial" pitchFamily="34" charset="0"/>
                          <a:ea typeface="Arial" pitchFamily="34" charset="-122"/>
                          <a:cs typeface="Arial" pitchFamily="34" charset="-120"/>
                        </a:rPr>
                        <a:t>5</a:t>
                      </a:r>
                      <a:endParaRPr lang="en-US" sz="105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tc>
                  <a:txBody>
                    <a:bodyPr/>
                    <a:lstStyle/>
                    <a:p>
                      <a:pPr marL="0" indent="0">
                        <a:buNone/>
                      </a:pPr>
                      <a:r>
                        <a:rPr lang="en-US" sz="1050" dirty="0">
                          <a:solidFill>
                            <a:srgbClr val="26242B"/>
                          </a:solidFill>
                          <a:latin typeface="Arial" pitchFamily="34" charset="0"/>
                          <a:ea typeface="Arial" pitchFamily="34" charset="-122"/>
                          <a:cs typeface="Arial" pitchFamily="34" charset="-120"/>
                        </a:rPr>
                        <a:t>document ID, sender, recipient, both fingerprints, sequence, timestamp, ephemeral point, wrapped key, signature (384)</a:t>
                      </a:r>
                      <a:endParaRPr lang="en-US" sz="105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Shape 4"/>
          <p:cNvSpPr/>
          <p:nvPr/>
        </p:nvSpPr>
        <p:spPr>
          <a:xfrm>
            <a:off x="621792" y="3482982"/>
            <a:ext cx="3794760" cy="1463040"/>
          </a:xfrm>
          <a:prstGeom prst="rect">
            <a:avLst/>
          </a:prstGeom>
          <a:solidFill>
            <a:srgbClr val="FFFFFF"/>
          </a:solidFill>
          <a:ln w="12700">
            <a:solidFill>
              <a:srgbClr val="DEDCE2"/>
            </a:solidFill>
            <a:prstDash val="solid"/>
          </a:ln>
        </p:spPr>
      </p:sp>
      <p:sp>
        <p:nvSpPr>
          <p:cNvPr id="8" name="Text 5"/>
          <p:cNvSpPr txBox="1"/>
          <p:nvPr/>
        </p:nvSpPr>
        <p:spPr>
          <a:xfrm>
            <a:off x="710665" y="3482982"/>
            <a:ext cx="3392424" cy="292608"/>
          </a:xfrm>
          <a:prstGeom prst="rect">
            <a:avLst/>
          </a:prstGeom>
          <a:noFill/>
          <a:ln/>
        </p:spPr>
        <p:txBody>
          <a:bodyPr wrap="square" lIns="0" tIns="0" rIns="0" bIns="0" rtlCol="0" anchor="ctr"/>
          <a:lstStyle/>
          <a:p>
            <a:pPr marL="0" indent="0">
              <a:buNone/>
            </a:pPr>
            <a:r>
              <a:rPr lang="en-US" sz="1150" b="1" kern="0" spc="40" dirty="0">
                <a:solidFill>
                  <a:srgbClr val="26242B"/>
                </a:solidFill>
                <a:latin typeface="Arial" pitchFamily="34" charset="0"/>
                <a:ea typeface="Arial" pitchFamily="34" charset="-122"/>
                <a:cs typeface="Arial" pitchFamily="34" charset="-120"/>
              </a:rPr>
              <a:t>Parsing rules</a:t>
            </a:r>
            <a:endParaRPr lang="en-US" sz="1150" dirty="0"/>
          </a:p>
        </p:txBody>
      </p:sp>
      <p:sp>
        <p:nvSpPr>
          <p:cNvPr id="9" name="Text 6"/>
          <p:cNvSpPr txBox="1"/>
          <p:nvPr/>
        </p:nvSpPr>
        <p:spPr>
          <a:xfrm>
            <a:off x="652272" y="3775590"/>
            <a:ext cx="3392424" cy="841248"/>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6242B"/>
                </a:solidFill>
                <a:latin typeface="Arial" pitchFamily="34" charset="0"/>
                <a:ea typeface="Arial" pitchFamily="34" charset="-122"/>
                <a:cs typeface="Arial" pitchFamily="34" charset="-120"/>
              </a:rPr>
              <a:t>A version byte and a type byte open every object</a:t>
            </a:r>
            <a:endParaRPr lang="en-US" sz="1050" dirty="0"/>
          </a:p>
          <a:p>
            <a:pPr marL="342900" indent="-342900">
              <a:spcAft>
                <a:spcPts val="400"/>
              </a:spcAft>
              <a:buSzPct val="100000"/>
              <a:buChar char="–"/>
            </a:pPr>
            <a:r>
              <a:rPr lang="en-US" sz="1050" dirty="0">
                <a:solidFill>
                  <a:srgbClr val="26242B"/>
                </a:solidFill>
                <a:latin typeface="Arial" pitchFamily="34" charset="0"/>
                <a:ea typeface="Arial" pitchFamily="34" charset="-122"/>
                <a:cs typeface="Arial" pitchFamily="34" charset="-120"/>
              </a:rPr>
              <a:t>Variable fields carry a 4-byte length prefix</a:t>
            </a:r>
            <a:endParaRPr lang="en-US" sz="1050" dirty="0"/>
          </a:p>
          <a:p>
            <a:pPr marL="342900" indent="-342900">
              <a:spcAft>
                <a:spcPts val="400"/>
              </a:spcAft>
              <a:buSzPct val="100000"/>
              <a:buChar char="–"/>
            </a:pPr>
            <a:r>
              <a:rPr lang="en-US" sz="1050" dirty="0">
                <a:solidFill>
                  <a:srgbClr val="26242B"/>
                </a:solidFill>
                <a:latin typeface="Arial" pitchFamily="34" charset="0"/>
                <a:ea typeface="Arial" pitchFamily="34" charset="-122"/>
                <a:cs typeface="Arial" pitchFamily="34" charset="-120"/>
              </a:rPr>
              <a:t>Crypto fields are fixed width, with a ceiling checked before anything is decrypted</a:t>
            </a:r>
            <a:endParaRPr lang="en-US" sz="1050" dirty="0"/>
          </a:p>
          <a:p>
            <a:pPr marL="342900" indent="-342900">
              <a:spcAft>
                <a:spcPts val="400"/>
              </a:spcAft>
              <a:buSzPct val="100000"/>
              <a:buChar char="–"/>
            </a:pPr>
            <a:r>
              <a:rPr lang="en-US" sz="1050" dirty="0">
                <a:solidFill>
                  <a:srgbClr val="26242B"/>
                </a:solidFill>
                <a:latin typeface="Arial" pitchFamily="34" charset="0"/>
                <a:ea typeface="Arial" pitchFamily="34" charset="-122"/>
                <a:cs typeface="Arial" pitchFamily="34" charset="-120"/>
              </a:rPr>
              <a:t>Truncated input, trailing bytes and a wrong type are refused</a:t>
            </a:r>
            <a:endParaRPr lang="en-US" sz="1050" dirty="0"/>
          </a:p>
        </p:txBody>
      </p:sp>
      <p:sp>
        <p:nvSpPr>
          <p:cNvPr id="10" name="Shape 7"/>
          <p:cNvSpPr/>
          <p:nvPr/>
        </p:nvSpPr>
        <p:spPr>
          <a:xfrm>
            <a:off x="4617720" y="3474961"/>
            <a:ext cx="3794760" cy="1463040"/>
          </a:xfrm>
          <a:prstGeom prst="rect">
            <a:avLst/>
          </a:prstGeom>
          <a:solidFill>
            <a:srgbClr val="FFFFFF"/>
          </a:solidFill>
          <a:ln w="12700">
            <a:solidFill>
              <a:srgbClr val="DEDCE2"/>
            </a:solidFill>
            <a:prstDash val="solid"/>
          </a:ln>
        </p:spPr>
      </p:sp>
      <p:sp>
        <p:nvSpPr>
          <p:cNvPr id="11" name="Text 8"/>
          <p:cNvSpPr txBox="1"/>
          <p:nvPr/>
        </p:nvSpPr>
        <p:spPr>
          <a:xfrm>
            <a:off x="4818888" y="3486671"/>
            <a:ext cx="3392424" cy="292608"/>
          </a:xfrm>
          <a:prstGeom prst="rect">
            <a:avLst/>
          </a:prstGeom>
          <a:noFill/>
          <a:ln/>
        </p:spPr>
        <p:txBody>
          <a:bodyPr wrap="square" lIns="0" tIns="0" rIns="0" bIns="0" rtlCol="0" anchor="ctr"/>
          <a:lstStyle/>
          <a:p>
            <a:pPr marL="0" indent="0">
              <a:buNone/>
            </a:pPr>
            <a:r>
              <a:rPr lang="en-US" sz="1150" b="1" kern="0" spc="40" dirty="0">
                <a:solidFill>
                  <a:srgbClr val="26242B"/>
                </a:solidFill>
                <a:latin typeface="Arial" pitchFamily="34" charset="0"/>
                <a:ea typeface="Arial" pitchFamily="34" charset="-122"/>
                <a:cs typeface="Arial" pitchFamily="34" charset="-120"/>
              </a:rPr>
              <a:t>Canonical encoding</a:t>
            </a:r>
            <a:endParaRPr lang="en-US" sz="1150" dirty="0"/>
          </a:p>
        </p:txBody>
      </p:sp>
      <p:sp>
        <p:nvSpPr>
          <p:cNvPr id="6" name="Text 9"/>
          <p:cNvSpPr txBox="1"/>
          <p:nvPr/>
        </p:nvSpPr>
        <p:spPr>
          <a:xfrm>
            <a:off x="4818888" y="3793878"/>
            <a:ext cx="3392424" cy="841248"/>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6242B"/>
                </a:solidFill>
                <a:latin typeface="Arial" pitchFamily="34" charset="0"/>
                <a:ea typeface="Arial" pitchFamily="34" charset="-122"/>
                <a:cs typeface="Arial" pitchFamily="34" charset="-120"/>
              </a:rPr>
              <a:t>RSA integers inside the wrapped bundle are stored in minimal form</a:t>
            </a:r>
            <a:endParaRPr lang="en-US" sz="1050" dirty="0"/>
          </a:p>
          <a:p>
            <a:pPr marL="342900" indent="-342900">
              <a:spcAft>
                <a:spcPts val="400"/>
              </a:spcAft>
              <a:buSzPct val="100000"/>
              <a:buChar char="–"/>
            </a:pPr>
            <a:r>
              <a:rPr lang="en-US" sz="1050" dirty="0">
                <a:solidFill>
                  <a:srgbClr val="26242B"/>
                </a:solidFill>
                <a:latin typeface="Arial" pitchFamily="34" charset="0"/>
                <a:ea typeface="Arial" pitchFamily="34" charset="-122"/>
                <a:cs typeface="Arial" pitchFamily="34" charset="-120"/>
              </a:rPr>
              <a:t>The parser rejects a leading zero byte</a:t>
            </a:r>
            <a:endParaRPr lang="en-US" sz="1050" dirty="0"/>
          </a:p>
          <a:p>
            <a:pPr marL="342900" indent="-342900">
              <a:spcAft>
                <a:spcPts val="400"/>
              </a:spcAft>
              <a:buSzPct val="100000"/>
              <a:buChar char="–"/>
            </a:pPr>
            <a:r>
              <a:rPr lang="en-US" sz="1050" dirty="0">
                <a:solidFill>
                  <a:srgbClr val="26242B"/>
                </a:solidFill>
                <a:latin typeface="Arial" pitchFamily="34" charset="0"/>
                <a:ea typeface="Arial" pitchFamily="34" charset="-122"/>
                <a:cs typeface="Arial" pitchFamily="34" charset="-120"/>
              </a:rPr>
              <a:t>Otherwise one key would have several valid encodings — and anything that hashes or signs an encoding would give two answers for one key</a:t>
            </a:r>
            <a:endParaRPr lang="en-US" sz="1050" dirty="0"/>
          </a:p>
        </p:txBody>
      </p:sp>
      <p:sp>
        <p:nvSpPr>
          <p:cNvPr id="13" name="Shape 10"/>
          <p:cNvSpPr/>
          <p:nvPr/>
        </p:nvSpPr>
        <p:spPr>
          <a:xfrm>
            <a:off x="8668512" y="3478650"/>
            <a:ext cx="2871216" cy="1463040"/>
          </a:xfrm>
          <a:prstGeom prst="rect">
            <a:avLst/>
          </a:prstGeom>
          <a:solidFill>
            <a:srgbClr val="3C4F3F"/>
          </a:solidFill>
          <a:ln w="12700">
            <a:solidFill>
              <a:srgbClr val="3C4F3F"/>
            </a:solidFill>
            <a:prstDash val="solid"/>
          </a:ln>
        </p:spPr>
      </p:sp>
      <p:sp>
        <p:nvSpPr>
          <p:cNvPr id="14" name="Text 11"/>
          <p:cNvSpPr txBox="1"/>
          <p:nvPr/>
        </p:nvSpPr>
        <p:spPr>
          <a:xfrm>
            <a:off x="8869680" y="3518516"/>
            <a:ext cx="2468880" cy="292608"/>
          </a:xfrm>
          <a:prstGeom prst="rect">
            <a:avLst/>
          </a:prstGeom>
          <a:noFill/>
          <a:ln/>
        </p:spPr>
        <p:txBody>
          <a:bodyPr wrap="square" lIns="0" tIns="0" rIns="0" bIns="0" rtlCol="0" anchor="ctr"/>
          <a:lstStyle/>
          <a:p>
            <a:pPr marL="0" indent="0">
              <a:buNone/>
            </a:pPr>
            <a:r>
              <a:rPr lang="en-US" sz="1150" b="1" kern="0" spc="40" dirty="0">
                <a:solidFill>
                  <a:srgbClr val="FFFFFF"/>
                </a:solidFill>
                <a:latin typeface="Arial" pitchFamily="34" charset="0"/>
                <a:ea typeface="Arial" pitchFamily="34" charset="-122"/>
                <a:cs typeface="Arial" pitchFamily="34" charset="-120"/>
              </a:rPr>
              <a:t>Why this matters</a:t>
            </a:r>
            <a:endParaRPr lang="en-US" sz="1150" dirty="0"/>
          </a:p>
        </p:txBody>
      </p:sp>
      <p:sp>
        <p:nvSpPr>
          <p:cNvPr id="15" name="Text 12"/>
          <p:cNvSpPr txBox="1"/>
          <p:nvPr/>
        </p:nvSpPr>
        <p:spPr>
          <a:xfrm>
            <a:off x="8869680" y="3735044"/>
            <a:ext cx="2468880" cy="841248"/>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DCE3DC"/>
                </a:solidFill>
                <a:latin typeface="Arial" pitchFamily="34" charset="0"/>
                <a:ea typeface="Arial" pitchFamily="34" charset="-122"/>
                <a:cs typeface="Arial" pitchFamily="34" charset="-120"/>
              </a:rPr>
              <a:t>If field order, sizes, signed bytes or AAD bytes differ between modules, verification fails silently</a:t>
            </a:r>
            <a:endParaRPr lang="en-US" sz="1050" dirty="0"/>
          </a:p>
          <a:p>
            <a:pPr marL="342900" indent="-342900">
              <a:spcAft>
                <a:spcPts val="400"/>
              </a:spcAft>
              <a:buSzPct val="100000"/>
              <a:buChar char="–"/>
            </a:pPr>
            <a:r>
              <a:rPr lang="en-US" sz="1050" dirty="0">
                <a:solidFill>
                  <a:srgbClr val="DCE3DC"/>
                </a:solidFill>
                <a:latin typeface="Arial" pitchFamily="34" charset="0"/>
                <a:ea typeface="Arial" pitchFamily="34" charset="-122"/>
                <a:cs typeface="Arial" pitchFamily="34" charset="-120"/>
              </a:rPr>
              <a:t>A wrong constant fails on the first vector; a wrong field order only fails when two people who tested separately try to talk</a:t>
            </a:r>
            <a:endParaRPr lang="en-US" sz="1050" dirty="0"/>
          </a:p>
        </p:txBody>
      </p:sp>
      <p:sp>
        <p:nvSpPr>
          <p:cNvPr id="16" name="Shape 13"/>
          <p:cNvSpPr/>
          <p:nvPr/>
        </p:nvSpPr>
        <p:spPr>
          <a:xfrm>
            <a:off x="621792" y="5596128"/>
            <a:ext cx="10917936" cy="795528"/>
          </a:xfrm>
          <a:prstGeom prst="rect">
            <a:avLst/>
          </a:prstGeom>
          <a:solidFill>
            <a:srgbClr val="F7F5F6"/>
          </a:solidFill>
          <a:ln w="15875">
            <a:solidFill>
              <a:srgbClr val="C0392F"/>
            </a:solidFill>
            <a:prstDash val="solid"/>
          </a:ln>
        </p:spPr>
      </p:sp>
      <p:sp>
        <p:nvSpPr>
          <p:cNvPr id="17" name="Text 14"/>
          <p:cNvSpPr txBox="1"/>
          <p:nvPr/>
        </p:nvSpPr>
        <p:spPr>
          <a:xfrm>
            <a:off x="822960" y="5733288"/>
            <a:ext cx="10515600" cy="292608"/>
          </a:xfrm>
          <a:prstGeom prst="rect">
            <a:avLst/>
          </a:prstGeom>
          <a:noFill/>
          <a:ln/>
        </p:spPr>
        <p:txBody>
          <a:bodyPr wrap="square" lIns="0" tIns="0" rIns="0" bIns="0" rtlCol="0" anchor="ctr"/>
          <a:lstStyle/>
          <a:p>
            <a:pPr marL="0" indent="0">
              <a:buNone/>
            </a:pPr>
            <a:r>
              <a:rPr lang="en-US" sz="1150" b="1" kern="0" spc="40" dirty="0">
                <a:solidFill>
                  <a:srgbClr val="C0392F"/>
                </a:solidFill>
                <a:latin typeface="Arial" pitchFamily="34" charset="0"/>
                <a:ea typeface="Arial" pitchFamily="34" charset="-122"/>
                <a:cs typeface="Arial" pitchFamily="34" charset="-120"/>
              </a:rPr>
              <a:t>One number worth quoting</a:t>
            </a:r>
            <a:endParaRPr lang="en-US" sz="1150" dirty="0"/>
          </a:p>
        </p:txBody>
      </p:sp>
      <p:sp>
        <p:nvSpPr>
          <p:cNvPr id="18" name="Text 15"/>
          <p:cNvSpPr txBox="1"/>
          <p:nvPr/>
        </p:nvSpPr>
        <p:spPr>
          <a:xfrm>
            <a:off x="822960" y="6071616"/>
            <a:ext cx="10515600" cy="320040"/>
          </a:xfrm>
          <a:prstGeom prst="rect">
            <a:avLst/>
          </a:prstGeom>
          <a:noFill/>
          <a:ln/>
        </p:spPr>
        <p:txBody>
          <a:bodyPr wrap="square" lIns="0" tIns="0" rIns="0" bIns="0" rtlCol="0" anchor="t"/>
          <a:lstStyle/>
          <a:p>
            <a:pPr marL="0" indent="0">
              <a:buNone/>
            </a:pPr>
            <a:r>
              <a:rPr lang="en-US" sz="1050" dirty="0">
                <a:solidFill>
                  <a:srgbClr val="26242B"/>
                </a:solidFill>
                <a:latin typeface="Arial" pitchFamily="34" charset="0"/>
                <a:ea typeface="Arial" pitchFamily="34" charset="-122"/>
                <a:cs typeface="Arial" pitchFamily="34" charset="-120"/>
              </a:rPr>
              <a:t>A wrapped private-key bundle is at most 1282 bytes, and that ceiling is enforced before decryption — a malformed length prefix cannot become a large allocation.</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21792" y="329184"/>
            <a:ext cx="9820656" cy="237744"/>
          </a:xfrm>
          <a:prstGeom prst="rect">
            <a:avLst/>
          </a:prstGeom>
          <a:noFill/>
          <a:ln/>
        </p:spPr>
        <p:txBody>
          <a:bodyPr wrap="square" lIns="0" tIns="0" rIns="0" bIns="0" rtlCol="0" anchor="ctr"/>
          <a:lstStyle/>
          <a:p>
            <a:pPr marL="0" indent="0">
              <a:buNone/>
            </a:pPr>
            <a:r>
              <a:rPr lang="en-US" sz="950" b="1" kern="0" spc="250" dirty="0">
                <a:solidFill>
                  <a:srgbClr val="C0392F"/>
                </a:solidFill>
                <a:latin typeface="Arial" pitchFamily="34" charset="0"/>
                <a:ea typeface="Arial" pitchFamily="34" charset="-122"/>
                <a:cs typeface="Arial" pitchFamily="34" charset="-120"/>
              </a:rPr>
              <a:t>PART 2 · AEAD</a:t>
            </a:r>
            <a:endParaRPr lang="en-US" sz="950" dirty="0"/>
          </a:p>
        </p:txBody>
      </p:sp>
      <p:sp>
        <p:nvSpPr>
          <p:cNvPr id="3" name="Text 1"/>
          <p:cNvSpPr txBox="1"/>
          <p:nvPr/>
        </p:nvSpPr>
        <p:spPr>
          <a:xfrm>
            <a:off x="621792" y="603504"/>
            <a:ext cx="10917936" cy="530352"/>
          </a:xfrm>
          <a:prstGeom prst="rect">
            <a:avLst/>
          </a:prstGeom>
          <a:noFill/>
          <a:ln/>
        </p:spPr>
        <p:txBody>
          <a:bodyPr wrap="square" lIns="0" tIns="0" rIns="0" bIns="0" rtlCol="0" anchor="ctr"/>
          <a:lstStyle/>
          <a:p>
            <a:pPr marL="0" indent="0">
              <a:buNone/>
            </a:pPr>
            <a:r>
              <a:rPr lang="en-US" sz="2500" b="1" dirty="0">
                <a:solidFill>
                  <a:srgbClr val="26242B"/>
                </a:solidFill>
                <a:latin typeface="Bookman Old Style" pitchFamily="34" charset="0"/>
                <a:ea typeface="Bookman Old Style" pitchFamily="34" charset="-122"/>
                <a:cs typeface="Bookman Old Style" pitchFamily="34" charset="-120"/>
              </a:rPr>
              <a:t>Part 2 — document encryption</a:t>
            </a:r>
            <a:endParaRPr lang="en-US" sz="2500" dirty="0"/>
          </a:p>
        </p:txBody>
      </p:sp>
      <p:sp>
        <p:nvSpPr>
          <p:cNvPr id="4" name="Text 2"/>
          <p:cNvSpPr txBox="1"/>
          <p:nvPr/>
        </p:nvSpPr>
        <p:spPr>
          <a:xfrm>
            <a:off x="621792" y="1133856"/>
            <a:ext cx="10917936" cy="274320"/>
          </a:xfrm>
          <a:prstGeom prst="rect">
            <a:avLst/>
          </a:prstGeom>
          <a:noFill/>
          <a:ln/>
        </p:spPr>
        <p:txBody>
          <a:bodyPr wrap="square" lIns="0" tIns="0" rIns="0" bIns="0" rtlCol="0" anchor="ctr"/>
          <a:lstStyle/>
          <a:p>
            <a:pPr marL="0" indent="0">
              <a:buNone/>
            </a:pPr>
            <a:r>
              <a:rPr lang="en-US" sz="1200" dirty="0">
                <a:solidFill>
                  <a:srgbClr val="76737E"/>
                </a:solidFill>
                <a:latin typeface="Arial" pitchFamily="34" charset="0"/>
                <a:ea typeface="Arial" pitchFamily="34" charset="-122"/>
                <a:cs typeface="Arial" pitchFamily="34" charset="-120"/>
              </a:rPr>
              <a:t>Decision 7.2 </a:t>
            </a:r>
            <a:r>
              <a:rPr lang="ar-PS" sz="1200" dirty="0">
                <a:solidFill>
                  <a:srgbClr val="76737E"/>
                </a:solidFill>
                <a:latin typeface="Arial" pitchFamily="34" charset="0"/>
                <a:ea typeface="Arial" pitchFamily="34" charset="-122"/>
                <a:cs typeface="Arial" pitchFamily="34" charset="-120"/>
              </a:rPr>
              <a:t>:</a:t>
            </a:r>
            <a:r>
              <a:rPr lang="en-US" sz="1200" dirty="0">
                <a:solidFill>
                  <a:srgbClr val="76737E"/>
                </a:solidFill>
                <a:latin typeface="Arial" pitchFamily="34" charset="0"/>
                <a:ea typeface="Arial" pitchFamily="34" charset="-122"/>
                <a:cs typeface="Arial" pitchFamily="34" charset="-120"/>
              </a:rPr>
              <a:t> protect the contents and bind the metadata</a:t>
            </a:r>
            <a:endParaRPr lang="en-US" sz="1200" dirty="0"/>
          </a:p>
        </p:txBody>
      </p:sp>
      <p:sp>
        <p:nvSpPr>
          <p:cNvPr id="5" name="Text 3"/>
          <p:cNvSpPr txBox="1"/>
          <p:nvPr/>
        </p:nvSpPr>
        <p:spPr>
          <a:xfrm>
            <a:off x="10899648" y="310896"/>
            <a:ext cx="640080" cy="274320"/>
          </a:xfrm>
          <a:prstGeom prst="rect">
            <a:avLst/>
          </a:prstGeom>
          <a:noFill/>
          <a:ln/>
        </p:spPr>
        <p:txBody>
          <a:bodyPr wrap="square" lIns="0" tIns="0" rIns="0" bIns="0" rtlCol="0" anchor="ctr"/>
          <a:lstStyle/>
          <a:p>
            <a:pPr marL="0" indent="0" algn="r">
              <a:buNone/>
            </a:pPr>
            <a:r>
              <a:rPr lang="en-US" sz="1100" b="1" dirty="0">
                <a:solidFill>
                  <a:srgbClr val="DEDCE2"/>
                </a:solidFill>
                <a:latin typeface="Arial" pitchFamily="34" charset="0"/>
                <a:ea typeface="Arial" pitchFamily="34" charset="-122"/>
                <a:cs typeface="Arial" pitchFamily="34" charset="-120"/>
              </a:rPr>
              <a:t>12</a:t>
            </a:r>
            <a:endParaRPr lang="en-US" sz="1100" dirty="0"/>
          </a:p>
        </p:txBody>
      </p:sp>
      <p:sp>
        <p:nvSpPr>
          <p:cNvPr id="6" name="Text 4"/>
          <p:cNvSpPr txBox="1"/>
          <p:nvPr/>
        </p:nvSpPr>
        <p:spPr>
          <a:xfrm>
            <a:off x="621792" y="1481328"/>
            <a:ext cx="822960" cy="402336"/>
          </a:xfrm>
          <a:prstGeom prst="rect">
            <a:avLst/>
          </a:prstGeom>
          <a:noFill/>
          <a:ln/>
        </p:spPr>
        <p:txBody>
          <a:bodyPr wrap="square" lIns="0" tIns="0" rIns="0" bIns="0" rtlCol="0" anchor="ctr"/>
          <a:lstStyle/>
          <a:p>
            <a:pPr marL="0" indent="0">
              <a:buNone/>
            </a:pPr>
            <a:r>
              <a:rPr lang="en-US" sz="2200" b="1" dirty="0">
                <a:solidFill>
                  <a:srgbClr val="C0392F"/>
                </a:solidFill>
                <a:latin typeface="Bookman Old Style" pitchFamily="34" charset="0"/>
                <a:ea typeface="Bookman Old Style" pitchFamily="34" charset="-122"/>
                <a:cs typeface="Bookman Old Style" pitchFamily="34" charset="-120"/>
              </a:rPr>
              <a:t>01</a:t>
            </a:r>
            <a:endParaRPr lang="en-US" sz="2200" dirty="0"/>
          </a:p>
        </p:txBody>
      </p:sp>
      <p:sp>
        <p:nvSpPr>
          <p:cNvPr id="7" name="Text 5"/>
          <p:cNvSpPr txBox="1"/>
          <p:nvPr/>
        </p:nvSpPr>
        <p:spPr>
          <a:xfrm>
            <a:off x="621792" y="1883664"/>
            <a:ext cx="2496312" cy="274320"/>
          </a:xfrm>
          <a:prstGeom prst="rect">
            <a:avLst/>
          </a:prstGeom>
          <a:noFill/>
          <a:ln/>
        </p:spPr>
        <p:txBody>
          <a:bodyPr wrap="square" lIns="0" tIns="0" rIns="0" bIns="0" rtlCol="0" anchor="ctr"/>
          <a:lstStyle/>
          <a:p>
            <a:pPr marL="0" indent="0">
              <a:buNone/>
            </a:pPr>
            <a:r>
              <a:rPr lang="en-US" sz="1200" b="1" dirty="0">
                <a:solidFill>
                  <a:srgbClr val="26242B"/>
                </a:solidFill>
                <a:latin typeface="Arial" pitchFamily="34" charset="0"/>
                <a:ea typeface="Arial" pitchFamily="34" charset="-122"/>
                <a:cs typeface="Arial" pitchFamily="34" charset="-120"/>
              </a:rPr>
              <a:t>Read the file</a:t>
            </a:r>
            <a:endParaRPr lang="en-US" sz="1200" dirty="0"/>
          </a:p>
        </p:txBody>
      </p:sp>
      <p:sp>
        <p:nvSpPr>
          <p:cNvPr id="8" name="Text 6"/>
          <p:cNvSpPr txBox="1"/>
          <p:nvPr/>
        </p:nvSpPr>
        <p:spPr>
          <a:xfrm>
            <a:off x="621792" y="2157984"/>
            <a:ext cx="2496312" cy="566928"/>
          </a:xfrm>
          <a:prstGeom prst="rect">
            <a:avLst/>
          </a:prstGeom>
          <a:noFill/>
          <a:ln/>
        </p:spPr>
        <p:txBody>
          <a:bodyPr wrap="square" lIns="0" tIns="0" rIns="0" bIns="0" rtlCol="0" anchor="t"/>
          <a:lstStyle/>
          <a:p>
            <a:pPr marL="0" indent="0">
              <a:buNone/>
            </a:pPr>
            <a:r>
              <a:rPr lang="en-US" sz="1050" dirty="0">
                <a:solidFill>
                  <a:srgbClr val="76737E"/>
                </a:solidFill>
                <a:latin typeface="Arial" pitchFamily="34" charset="0"/>
                <a:ea typeface="Arial" pitchFamily="34" charset="-122"/>
                <a:cs typeface="Arial" pitchFamily="34" charset="-120"/>
              </a:rPr>
              <a:t>Plaintext stays on the client machine</a:t>
            </a:r>
            <a:endParaRPr lang="en-US" sz="1050" dirty="0"/>
          </a:p>
        </p:txBody>
      </p:sp>
      <p:sp>
        <p:nvSpPr>
          <p:cNvPr id="9" name="Shape 7"/>
          <p:cNvSpPr/>
          <p:nvPr/>
        </p:nvSpPr>
        <p:spPr>
          <a:xfrm>
            <a:off x="621792" y="1847088"/>
            <a:ext cx="2496312" cy="0"/>
          </a:xfrm>
          <a:prstGeom prst="line">
            <a:avLst/>
          </a:prstGeom>
          <a:noFill/>
          <a:ln w="9525">
            <a:solidFill>
              <a:srgbClr val="DEDCE2"/>
            </a:solidFill>
            <a:prstDash val="solid"/>
          </a:ln>
        </p:spPr>
      </p:sp>
      <p:sp>
        <p:nvSpPr>
          <p:cNvPr id="10" name="Text 8"/>
          <p:cNvSpPr txBox="1"/>
          <p:nvPr/>
        </p:nvSpPr>
        <p:spPr>
          <a:xfrm>
            <a:off x="3429000" y="1481328"/>
            <a:ext cx="822960" cy="402336"/>
          </a:xfrm>
          <a:prstGeom prst="rect">
            <a:avLst/>
          </a:prstGeom>
          <a:noFill/>
          <a:ln/>
        </p:spPr>
        <p:txBody>
          <a:bodyPr wrap="square" lIns="0" tIns="0" rIns="0" bIns="0" rtlCol="0" anchor="ctr"/>
          <a:lstStyle/>
          <a:p>
            <a:pPr marL="0" indent="0">
              <a:buNone/>
            </a:pPr>
            <a:r>
              <a:rPr lang="en-US" sz="2200" b="1" dirty="0">
                <a:solidFill>
                  <a:srgbClr val="C0392F"/>
                </a:solidFill>
                <a:latin typeface="Bookman Old Style" pitchFamily="34" charset="0"/>
                <a:ea typeface="Bookman Old Style" pitchFamily="34" charset="-122"/>
                <a:cs typeface="Bookman Old Style" pitchFamily="34" charset="-120"/>
              </a:rPr>
              <a:t>02</a:t>
            </a:r>
            <a:endParaRPr lang="en-US" sz="2200" dirty="0"/>
          </a:p>
        </p:txBody>
      </p:sp>
      <p:sp>
        <p:nvSpPr>
          <p:cNvPr id="11" name="Text 9"/>
          <p:cNvSpPr txBox="1"/>
          <p:nvPr/>
        </p:nvSpPr>
        <p:spPr>
          <a:xfrm>
            <a:off x="3429000" y="1883664"/>
            <a:ext cx="2496312" cy="274320"/>
          </a:xfrm>
          <a:prstGeom prst="rect">
            <a:avLst/>
          </a:prstGeom>
          <a:noFill/>
          <a:ln/>
        </p:spPr>
        <p:txBody>
          <a:bodyPr wrap="square" lIns="0" tIns="0" rIns="0" bIns="0" rtlCol="0" anchor="ctr"/>
          <a:lstStyle/>
          <a:p>
            <a:pPr marL="0" indent="0">
              <a:buNone/>
            </a:pPr>
            <a:r>
              <a:rPr lang="en-US" sz="1200" b="1" dirty="0">
                <a:solidFill>
                  <a:srgbClr val="26242B"/>
                </a:solidFill>
                <a:latin typeface="Arial" pitchFamily="34" charset="0"/>
                <a:ea typeface="Arial" pitchFamily="34" charset="-122"/>
                <a:cs typeface="Arial" pitchFamily="34" charset="-120"/>
              </a:rPr>
              <a:t>Fresh key and nonce</a:t>
            </a:r>
            <a:endParaRPr lang="en-US" sz="1200" dirty="0"/>
          </a:p>
        </p:txBody>
      </p:sp>
      <p:sp>
        <p:nvSpPr>
          <p:cNvPr id="12" name="Text 10"/>
          <p:cNvSpPr txBox="1"/>
          <p:nvPr/>
        </p:nvSpPr>
        <p:spPr>
          <a:xfrm>
            <a:off x="3429000" y="2157984"/>
            <a:ext cx="2496312" cy="566928"/>
          </a:xfrm>
          <a:prstGeom prst="rect">
            <a:avLst/>
          </a:prstGeom>
          <a:noFill/>
          <a:ln/>
        </p:spPr>
        <p:txBody>
          <a:bodyPr wrap="square" lIns="0" tIns="0" rIns="0" bIns="0" rtlCol="0" anchor="t"/>
          <a:lstStyle/>
          <a:p>
            <a:pPr marL="0" indent="0">
              <a:buNone/>
            </a:pPr>
            <a:r>
              <a:rPr lang="en-US" sz="1050" dirty="0">
                <a:solidFill>
                  <a:srgbClr val="76737E"/>
                </a:solidFill>
                <a:latin typeface="Arial" pitchFamily="34" charset="0"/>
                <a:ea typeface="Arial" pitchFamily="34" charset="-122"/>
                <a:cs typeface="Arial" pitchFamily="34" charset="-120"/>
              </a:rPr>
              <a:t>32-byte key and 12-byte nonce from the OS</a:t>
            </a:r>
            <a:endParaRPr lang="en-US" sz="1050" dirty="0"/>
          </a:p>
        </p:txBody>
      </p:sp>
      <p:sp>
        <p:nvSpPr>
          <p:cNvPr id="13" name="Shape 11"/>
          <p:cNvSpPr/>
          <p:nvPr/>
        </p:nvSpPr>
        <p:spPr>
          <a:xfrm>
            <a:off x="3429000" y="1847088"/>
            <a:ext cx="2496312" cy="0"/>
          </a:xfrm>
          <a:prstGeom prst="line">
            <a:avLst/>
          </a:prstGeom>
          <a:noFill/>
          <a:ln w="9525">
            <a:solidFill>
              <a:srgbClr val="DEDCE2"/>
            </a:solidFill>
            <a:prstDash val="solid"/>
          </a:ln>
        </p:spPr>
      </p:sp>
      <p:sp>
        <p:nvSpPr>
          <p:cNvPr id="14" name="Text 12"/>
          <p:cNvSpPr txBox="1"/>
          <p:nvPr/>
        </p:nvSpPr>
        <p:spPr>
          <a:xfrm>
            <a:off x="6236208" y="1481328"/>
            <a:ext cx="822960" cy="402336"/>
          </a:xfrm>
          <a:prstGeom prst="rect">
            <a:avLst/>
          </a:prstGeom>
          <a:noFill/>
          <a:ln/>
        </p:spPr>
        <p:txBody>
          <a:bodyPr wrap="square" lIns="0" tIns="0" rIns="0" bIns="0" rtlCol="0" anchor="ctr"/>
          <a:lstStyle/>
          <a:p>
            <a:pPr marL="0" indent="0">
              <a:buNone/>
            </a:pPr>
            <a:r>
              <a:rPr lang="en-US" sz="2200" b="1" dirty="0">
                <a:solidFill>
                  <a:srgbClr val="C0392F"/>
                </a:solidFill>
                <a:latin typeface="Bookman Old Style" pitchFamily="34" charset="0"/>
                <a:ea typeface="Bookman Old Style" pitchFamily="34" charset="-122"/>
                <a:cs typeface="Bookman Old Style" pitchFamily="34" charset="-120"/>
              </a:rPr>
              <a:t>03</a:t>
            </a:r>
            <a:endParaRPr lang="en-US" sz="2200" dirty="0"/>
          </a:p>
        </p:txBody>
      </p:sp>
      <p:sp>
        <p:nvSpPr>
          <p:cNvPr id="15" name="Text 13"/>
          <p:cNvSpPr txBox="1"/>
          <p:nvPr/>
        </p:nvSpPr>
        <p:spPr>
          <a:xfrm>
            <a:off x="6236208" y="1883664"/>
            <a:ext cx="2496312" cy="274320"/>
          </a:xfrm>
          <a:prstGeom prst="rect">
            <a:avLst/>
          </a:prstGeom>
          <a:noFill/>
          <a:ln/>
        </p:spPr>
        <p:txBody>
          <a:bodyPr wrap="square" lIns="0" tIns="0" rIns="0" bIns="0" rtlCol="0" anchor="ctr"/>
          <a:lstStyle/>
          <a:p>
            <a:pPr marL="0" indent="0">
              <a:buNone/>
            </a:pPr>
            <a:r>
              <a:rPr lang="en-US" sz="1200" b="1" dirty="0">
                <a:solidFill>
                  <a:srgbClr val="26242B"/>
                </a:solidFill>
                <a:latin typeface="Arial" pitchFamily="34" charset="0"/>
                <a:ea typeface="Arial" pitchFamily="34" charset="-122"/>
                <a:cs typeface="Arial" pitchFamily="34" charset="-120"/>
              </a:rPr>
              <a:t>AEAD encrypt</a:t>
            </a:r>
            <a:endParaRPr lang="en-US" sz="1200" dirty="0"/>
          </a:p>
        </p:txBody>
      </p:sp>
      <p:sp>
        <p:nvSpPr>
          <p:cNvPr id="16" name="Text 14"/>
          <p:cNvSpPr txBox="1"/>
          <p:nvPr/>
        </p:nvSpPr>
        <p:spPr>
          <a:xfrm>
            <a:off x="6236208" y="2157984"/>
            <a:ext cx="2496312" cy="566928"/>
          </a:xfrm>
          <a:prstGeom prst="rect">
            <a:avLst/>
          </a:prstGeom>
          <a:noFill/>
          <a:ln/>
        </p:spPr>
        <p:txBody>
          <a:bodyPr wrap="square" lIns="0" tIns="0" rIns="0" bIns="0" rtlCol="0" anchor="t"/>
          <a:lstStyle/>
          <a:p>
            <a:pPr marL="0" indent="0">
              <a:buNone/>
            </a:pPr>
            <a:r>
              <a:rPr lang="en-US" sz="1050" dirty="0">
                <a:solidFill>
                  <a:srgbClr val="76737E"/>
                </a:solidFill>
                <a:latin typeface="Arial" pitchFamily="34" charset="0"/>
                <a:ea typeface="Arial" pitchFamily="34" charset="-122"/>
                <a:cs typeface="Arial" pitchFamily="34" charset="-120"/>
              </a:rPr>
              <a:t>Metadata goes into the associated data</a:t>
            </a:r>
            <a:endParaRPr lang="en-US" sz="1050" dirty="0"/>
          </a:p>
        </p:txBody>
      </p:sp>
      <p:sp>
        <p:nvSpPr>
          <p:cNvPr id="17" name="Shape 15"/>
          <p:cNvSpPr/>
          <p:nvPr/>
        </p:nvSpPr>
        <p:spPr>
          <a:xfrm>
            <a:off x="6236208" y="1847088"/>
            <a:ext cx="2496312" cy="0"/>
          </a:xfrm>
          <a:prstGeom prst="line">
            <a:avLst/>
          </a:prstGeom>
          <a:noFill/>
          <a:ln w="9525">
            <a:solidFill>
              <a:srgbClr val="DEDCE2"/>
            </a:solidFill>
            <a:prstDash val="solid"/>
          </a:ln>
        </p:spPr>
      </p:sp>
      <p:sp>
        <p:nvSpPr>
          <p:cNvPr id="18" name="Text 16"/>
          <p:cNvSpPr txBox="1"/>
          <p:nvPr/>
        </p:nvSpPr>
        <p:spPr>
          <a:xfrm>
            <a:off x="9043416" y="1481328"/>
            <a:ext cx="822960" cy="402336"/>
          </a:xfrm>
          <a:prstGeom prst="rect">
            <a:avLst/>
          </a:prstGeom>
          <a:noFill/>
          <a:ln/>
        </p:spPr>
        <p:txBody>
          <a:bodyPr wrap="square" lIns="0" tIns="0" rIns="0" bIns="0" rtlCol="0" anchor="ctr"/>
          <a:lstStyle/>
          <a:p>
            <a:pPr marL="0" indent="0">
              <a:buNone/>
            </a:pPr>
            <a:r>
              <a:rPr lang="en-US" sz="2200" b="1" dirty="0">
                <a:solidFill>
                  <a:srgbClr val="C0392F"/>
                </a:solidFill>
                <a:latin typeface="Bookman Old Style" pitchFamily="34" charset="0"/>
                <a:ea typeface="Bookman Old Style" pitchFamily="34" charset="-122"/>
                <a:cs typeface="Bookman Old Style" pitchFamily="34" charset="-120"/>
              </a:rPr>
              <a:t>04</a:t>
            </a:r>
            <a:endParaRPr lang="en-US" sz="2200" dirty="0"/>
          </a:p>
        </p:txBody>
      </p:sp>
      <p:sp>
        <p:nvSpPr>
          <p:cNvPr id="19" name="Text 17"/>
          <p:cNvSpPr txBox="1"/>
          <p:nvPr/>
        </p:nvSpPr>
        <p:spPr>
          <a:xfrm>
            <a:off x="9043416" y="1883664"/>
            <a:ext cx="2496312" cy="274320"/>
          </a:xfrm>
          <a:prstGeom prst="rect">
            <a:avLst/>
          </a:prstGeom>
          <a:noFill/>
          <a:ln/>
        </p:spPr>
        <p:txBody>
          <a:bodyPr wrap="square" lIns="0" tIns="0" rIns="0" bIns="0" rtlCol="0" anchor="ctr"/>
          <a:lstStyle/>
          <a:p>
            <a:pPr marL="0" indent="0">
              <a:buNone/>
            </a:pPr>
            <a:r>
              <a:rPr lang="en-US" sz="1200" b="1" dirty="0">
                <a:solidFill>
                  <a:srgbClr val="26242B"/>
                </a:solidFill>
                <a:latin typeface="Arial" pitchFamily="34" charset="0"/>
                <a:ea typeface="Arial" pitchFamily="34" charset="-122"/>
                <a:cs typeface="Arial" pitchFamily="34" charset="-120"/>
              </a:rPr>
              <a:t>Store the object</a:t>
            </a:r>
            <a:endParaRPr lang="en-US" sz="1200" dirty="0"/>
          </a:p>
        </p:txBody>
      </p:sp>
      <p:sp>
        <p:nvSpPr>
          <p:cNvPr id="20" name="Text 18"/>
          <p:cNvSpPr txBox="1"/>
          <p:nvPr/>
        </p:nvSpPr>
        <p:spPr>
          <a:xfrm>
            <a:off x="9043416" y="2157984"/>
            <a:ext cx="2496312" cy="566928"/>
          </a:xfrm>
          <a:prstGeom prst="rect">
            <a:avLst/>
          </a:prstGeom>
          <a:noFill/>
          <a:ln/>
        </p:spPr>
        <p:txBody>
          <a:bodyPr wrap="square" lIns="0" tIns="0" rIns="0" bIns="0" rtlCol="0" anchor="t"/>
          <a:lstStyle/>
          <a:p>
            <a:pPr marL="0" indent="0">
              <a:buNone/>
            </a:pPr>
            <a:r>
              <a:rPr lang="en-US" sz="1050" dirty="0">
                <a:solidFill>
                  <a:srgbClr val="76737E"/>
                </a:solidFill>
                <a:latin typeface="Arial" pitchFamily="34" charset="0"/>
                <a:ea typeface="Arial" pitchFamily="34" charset="-122"/>
                <a:cs typeface="Arial" pitchFamily="34" charset="-120"/>
              </a:rPr>
              <a:t>The server holds ciphertext and tag, and no key</a:t>
            </a:r>
            <a:endParaRPr lang="en-US" sz="1050" dirty="0"/>
          </a:p>
        </p:txBody>
      </p:sp>
      <p:sp>
        <p:nvSpPr>
          <p:cNvPr id="21" name="Shape 19"/>
          <p:cNvSpPr/>
          <p:nvPr/>
        </p:nvSpPr>
        <p:spPr>
          <a:xfrm>
            <a:off x="9043416" y="1847088"/>
            <a:ext cx="2496312" cy="0"/>
          </a:xfrm>
          <a:prstGeom prst="line">
            <a:avLst/>
          </a:prstGeom>
          <a:noFill/>
          <a:ln w="9525">
            <a:solidFill>
              <a:srgbClr val="DEDCE2"/>
            </a:solidFill>
            <a:prstDash val="solid"/>
          </a:ln>
        </p:spPr>
      </p:sp>
      <p:sp>
        <p:nvSpPr>
          <p:cNvPr id="22" name="Shape 20"/>
          <p:cNvSpPr/>
          <p:nvPr/>
        </p:nvSpPr>
        <p:spPr>
          <a:xfrm>
            <a:off x="621792" y="2926080"/>
            <a:ext cx="3794760" cy="1737360"/>
          </a:xfrm>
          <a:prstGeom prst="rect">
            <a:avLst/>
          </a:prstGeom>
          <a:solidFill>
            <a:srgbClr val="FFFFFF"/>
          </a:solidFill>
          <a:ln w="12700">
            <a:solidFill>
              <a:srgbClr val="DEDCE2"/>
            </a:solidFill>
            <a:prstDash val="solid"/>
          </a:ln>
        </p:spPr>
      </p:sp>
      <p:sp>
        <p:nvSpPr>
          <p:cNvPr id="23" name="Text 21"/>
          <p:cNvSpPr txBox="1"/>
          <p:nvPr/>
        </p:nvSpPr>
        <p:spPr>
          <a:xfrm>
            <a:off x="822960" y="2961853"/>
            <a:ext cx="3392424" cy="292608"/>
          </a:xfrm>
          <a:prstGeom prst="rect">
            <a:avLst/>
          </a:prstGeom>
          <a:noFill/>
          <a:ln/>
        </p:spPr>
        <p:txBody>
          <a:bodyPr wrap="square" lIns="0" tIns="0" rIns="0" bIns="0" rtlCol="0" anchor="ctr"/>
          <a:lstStyle/>
          <a:p>
            <a:pPr marL="0" indent="0">
              <a:buNone/>
            </a:pPr>
            <a:r>
              <a:rPr lang="en-US" sz="1150" b="1" kern="0" spc="40" dirty="0">
                <a:solidFill>
                  <a:srgbClr val="26242B"/>
                </a:solidFill>
                <a:latin typeface="Arial" pitchFamily="34" charset="0"/>
                <a:ea typeface="Arial" pitchFamily="34" charset="-122"/>
                <a:cs typeface="Arial" pitchFamily="34" charset="-120"/>
              </a:rPr>
              <a:t>Why ChaCha20-Poly1305</a:t>
            </a:r>
            <a:endParaRPr lang="en-US" sz="1150" dirty="0"/>
          </a:p>
        </p:txBody>
      </p:sp>
      <p:sp>
        <p:nvSpPr>
          <p:cNvPr id="24" name="Text 22"/>
          <p:cNvSpPr txBox="1"/>
          <p:nvPr/>
        </p:nvSpPr>
        <p:spPr>
          <a:xfrm>
            <a:off x="621792" y="3255264"/>
            <a:ext cx="3593592" cy="128016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6242B"/>
                </a:solidFill>
                <a:latin typeface="Arial" panose="020B0604020202020204" pitchFamily="34" charset="0"/>
                <a:ea typeface="Arial" pitchFamily="34" charset="-122"/>
                <a:cs typeface="Arial" panose="020B0604020202020204" pitchFamily="34" charset="0"/>
              </a:rPr>
              <a:t>Rejected AES-GCM: repeated nonces are dangerous, and from-scratch GF(2¹²⁸) multiplication is easy to get subtly wrong</a:t>
            </a:r>
            <a:endParaRPr lang="ar-PS" sz="1050" dirty="0">
              <a:solidFill>
                <a:srgbClr val="26242B"/>
              </a:solidFill>
              <a:latin typeface="Arial" panose="020B0604020202020204" pitchFamily="34" charset="0"/>
              <a:ea typeface="Arial" pitchFamily="34" charset="-122"/>
              <a:cs typeface="Arial" panose="020B0604020202020204" pitchFamily="34" charset="0"/>
            </a:endParaRPr>
          </a:p>
          <a:p>
            <a:pPr marL="342900" indent="-342900">
              <a:spcAft>
                <a:spcPts val="400"/>
              </a:spcAft>
              <a:buSzPct val="100000"/>
              <a:buChar char="–"/>
            </a:pPr>
            <a:r>
              <a:rPr lang="en-US" sz="1050" dirty="0">
                <a:solidFill>
                  <a:srgbClr val="26242B"/>
                </a:solidFill>
                <a:latin typeface="Arial" panose="020B0604020202020204" pitchFamily="34" charset="0"/>
                <a:ea typeface="Arial" pitchFamily="34" charset="-122"/>
                <a:cs typeface="Arial" panose="020B0604020202020204" pitchFamily="34" charset="0"/>
              </a:rPr>
              <a:t>A dedicated AEAD mode, so encryption and authentication are never composed by hand in the wrong order</a:t>
            </a:r>
            <a:endParaRPr lang="en-US" sz="1050" dirty="0">
              <a:latin typeface="Arial" panose="020B0604020202020204" pitchFamily="34" charset="0"/>
              <a:cs typeface="Arial" panose="020B0604020202020204" pitchFamily="34" charset="0"/>
            </a:endParaRPr>
          </a:p>
          <a:p>
            <a:pPr marL="342900" indent="-342900">
              <a:spcAft>
                <a:spcPts val="400"/>
              </a:spcAft>
              <a:buSzPct val="100000"/>
              <a:buChar char="–"/>
            </a:pPr>
            <a:r>
              <a:rPr lang="en-US" sz="1050" dirty="0">
                <a:latin typeface="Arial" panose="020B0604020202020204" pitchFamily="34" charset="0"/>
                <a:cs typeface="Arial" panose="020B0604020202020204" pitchFamily="34" charset="0"/>
              </a:rPr>
              <a:t>Counter 0 gives the Poly1305 key; encryption starts at counter 1</a:t>
            </a:r>
          </a:p>
          <a:p>
            <a:pPr marL="342900" indent="-342900">
              <a:spcAft>
                <a:spcPts val="400"/>
              </a:spcAft>
              <a:buSzPct val="100000"/>
              <a:buChar char="–"/>
            </a:pPr>
            <a:endParaRPr lang="en-US" sz="1050" dirty="0"/>
          </a:p>
        </p:txBody>
      </p:sp>
      <p:sp>
        <p:nvSpPr>
          <p:cNvPr id="25" name="Shape 23"/>
          <p:cNvSpPr/>
          <p:nvPr/>
        </p:nvSpPr>
        <p:spPr>
          <a:xfrm>
            <a:off x="4645152" y="2926080"/>
            <a:ext cx="3794760" cy="1737360"/>
          </a:xfrm>
          <a:prstGeom prst="rect">
            <a:avLst/>
          </a:prstGeom>
          <a:solidFill>
            <a:srgbClr val="3C4F3F"/>
          </a:solidFill>
          <a:ln w="12700">
            <a:solidFill>
              <a:srgbClr val="3C4F3F"/>
            </a:solidFill>
            <a:prstDash val="solid"/>
          </a:ln>
        </p:spPr>
      </p:sp>
      <p:sp>
        <p:nvSpPr>
          <p:cNvPr id="26" name="Text 24"/>
          <p:cNvSpPr txBox="1"/>
          <p:nvPr/>
        </p:nvSpPr>
        <p:spPr>
          <a:xfrm>
            <a:off x="4846320" y="3063240"/>
            <a:ext cx="3392424" cy="292608"/>
          </a:xfrm>
          <a:prstGeom prst="rect">
            <a:avLst/>
          </a:prstGeom>
          <a:noFill/>
          <a:ln/>
        </p:spPr>
        <p:txBody>
          <a:bodyPr wrap="square" lIns="0" tIns="0" rIns="0" bIns="0" rtlCol="0" anchor="ctr"/>
          <a:lstStyle/>
          <a:p>
            <a:pPr marL="0" indent="0">
              <a:buNone/>
            </a:pPr>
            <a:r>
              <a:rPr lang="en-US" sz="1150" b="1" kern="0" spc="40" dirty="0">
                <a:solidFill>
                  <a:srgbClr val="FFFFFF"/>
                </a:solidFill>
                <a:latin typeface="Arial" pitchFamily="34" charset="0"/>
                <a:ea typeface="Arial" pitchFamily="34" charset="-122"/>
                <a:cs typeface="Arial" pitchFamily="34" charset="-120"/>
              </a:rPr>
              <a:t>How nonce reuse is prevented</a:t>
            </a:r>
            <a:endParaRPr lang="en-US" sz="1150" dirty="0"/>
          </a:p>
        </p:txBody>
      </p:sp>
      <p:sp>
        <p:nvSpPr>
          <p:cNvPr id="27" name="Text 25"/>
          <p:cNvSpPr txBox="1"/>
          <p:nvPr/>
        </p:nvSpPr>
        <p:spPr>
          <a:xfrm>
            <a:off x="4846320" y="3419856"/>
            <a:ext cx="3392424" cy="1115568"/>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chemeClr val="bg1">
                    <a:lumMod val="95000"/>
                  </a:schemeClr>
                </a:solidFill>
                <a:latin typeface="Arial" panose="020B0604020202020204" pitchFamily="34" charset="0"/>
                <a:ea typeface="Arial" pitchFamily="34" charset="-122"/>
                <a:cs typeface="Arial" panose="020B0604020202020204" pitchFamily="34" charset="0"/>
              </a:rPr>
              <a:t>Every document gets a freshly generated key, so each key encrypts exactly once and the question does not arise</a:t>
            </a:r>
            <a:endParaRPr lang="en-US" sz="1050" dirty="0">
              <a:solidFill>
                <a:schemeClr val="bg1">
                  <a:lumMod val="95000"/>
                </a:schemeClr>
              </a:solidFill>
              <a:latin typeface="Arial" panose="020B0604020202020204" pitchFamily="34" charset="0"/>
              <a:cs typeface="Arial" panose="020B0604020202020204" pitchFamily="34" charset="0"/>
            </a:endParaRPr>
          </a:p>
          <a:p>
            <a:pPr marL="342900" indent="-342900">
              <a:spcAft>
                <a:spcPts val="400"/>
              </a:spcAft>
              <a:buSzPct val="100000"/>
              <a:buChar char="–"/>
            </a:pPr>
            <a:r>
              <a:rPr lang="en-US" sz="1050" dirty="0">
                <a:solidFill>
                  <a:schemeClr val="bg1">
                    <a:lumMod val="95000"/>
                  </a:schemeClr>
                </a:solidFill>
                <a:latin typeface="Arial" panose="020B0604020202020204" pitchFamily="34" charset="0"/>
                <a:ea typeface="Arial" pitchFamily="34" charset="-122"/>
                <a:cs typeface="Arial" panose="020B0604020202020204" pitchFamily="34" charset="0"/>
              </a:rPr>
              <a:t>For the wrapped private key, where one key may be used again, the nonce comes fresh from the OS</a:t>
            </a:r>
            <a:endParaRPr lang="en-US" sz="1050" dirty="0">
              <a:solidFill>
                <a:schemeClr val="bg1">
                  <a:lumMod val="95000"/>
                </a:schemeClr>
              </a:solidFill>
              <a:latin typeface="Arial" panose="020B0604020202020204" pitchFamily="34" charset="0"/>
              <a:cs typeface="Arial" panose="020B0604020202020204" pitchFamily="34" charset="0"/>
            </a:endParaRPr>
          </a:p>
          <a:p>
            <a:pPr marL="342900" indent="-342900">
              <a:spcAft>
                <a:spcPts val="400"/>
              </a:spcAft>
              <a:buSzPct val="100000"/>
              <a:buChar char="–"/>
            </a:pPr>
            <a:r>
              <a:rPr lang="en-US" sz="1050" dirty="0" err="1">
                <a:solidFill>
                  <a:schemeClr val="bg1">
                    <a:lumMod val="95000"/>
                  </a:schemeClr>
                </a:solidFill>
                <a:latin typeface="Arial" panose="020B0604020202020204" pitchFamily="34" charset="0"/>
                <a:cs typeface="Arial" panose="020B0604020202020204" pitchFamily="34" charset="0"/>
              </a:rPr>
              <a:t>wrap_private_keys</a:t>
            </a:r>
            <a:r>
              <a:rPr lang="en-US" sz="1050" dirty="0">
                <a:solidFill>
                  <a:schemeClr val="bg1">
                    <a:lumMod val="95000"/>
                  </a:schemeClr>
                </a:solidFill>
                <a:latin typeface="Arial" panose="020B0604020202020204" pitchFamily="34" charset="0"/>
                <a:cs typeface="Arial" panose="020B0604020202020204" pitchFamily="34" charset="0"/>
              </a:rPr>
              <a:t> takes no nonce argument at all</a:t>
            </a:r>
          </a:p>
        </p:txBody>
      </p:sp>
      <p:sp>
        <p:nvSpPr>
          <p:cNvPr id="28" name="Shape 26"/>
          <p:cNvSpPr/>
          <p:nvPr/>
        </p:nvSpPr>
        <p:spPr>
          <a:xfrm>
            <a:off x="8668512" y="2926080"/>
            <a:ext cx="2871216" cy="1737360"/>
          </a:xfrm>
          <a:prstGeom prst="rect">
            <a:avLst/>
          </a:prstGeom>
          <a:solidFill>
            <a:srgbClr val="FFFFFF"/>
          </a:solidFill>
          <a:ln w="12700">
            <a:solidFill>
              <a:srgbClr val="DEDCE2"/>
            </a:solidFill>
            <a:prstDash val="solid"/>
          </a:ln>
        </p:spPr>
        <p:txBody>
          <a:bodyPr/>
          <a:lstStyle/>
          <a:p>
            <a:endParaRPr/>
          </a:p>
        </p:txBody>
      </p:sp>
      <p:sp>
        <p:nvSpPr>
          <p:cNvPr id="29" name="Text 27"/>
          <p:cNvSpPr txBox="1"/>
          <p:nvPr/>
        </p:nvSpPr>
        <p:spPr>
          <a:xfrm>
            <a:off x="8869680" y="3063240"/>
            <a:ext cx="2468880" cy="292608"/>
          </a:xfrm>
          <a:prstGeom prst="rect">
            <a:avLst/>
          </a:prstGeom>
          <a:noFill/>
          <a:ln/>
        </p:spPr>
        <p:txBody>
          <a:bodyPr wrap="square" lIns="0" tIns="0" rIns="0" bIns="0" rtlCol="0" anchor="ctr"/>
          <a:lstStyle/>
          <a:p>
            <a:pPr marL="0" indent="0">
              <a:buNone/>
            </a:pPr>
            <a:r>
              <a:rPr lang="en-US" sz="1150" b="1" kern="0" spc="40" dirty="0">
                <a:solidFill>
                  <a:srgbClr val="26242B"/>
                </a:solidFill>
                <a:latin typeface="Arial" pitchFamily="34" charset="0"/>
                <a:ea typeface="Arial" pitchFamily="34" charset="-122"/>
                <a:cs typeface="Arial" pitchFamily="34" charset="-120"/>
              </a:rPr>
              <a:t>Metadata binding</a:t>
            </a:r>
            <a:endParaRPr lang="en-US" sz="1150" dirty="0"/>
          </a:p>
        </p:txBody>
      </p:sp>
      <p:sp>
        <p:nvSpPr>
          <p:cNvPr id="30" name="Text 28"/>
          <p:cNvSpPr txBox="1"/>
          <p:nvPr/>
        </p:nvSpPr>
        <p:spPr>
          <a:xfrm>
            <a:off x="8869680" y="3419856"/>
            <a:ext cx="2468880" cy="1115568"/>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6242B"/>
                </a:solidFill>
                <a:latin typeface="Arial" pitchFamily="34" charset="0"/>
                <a:ea typeface="Arial" pitchFamily="34" charset="-122"/>
                <a:cs typeface="Arial" pitchFamily="34" charset="-120"/>
              </a:rPr>
              <a:t>Filename, MIME type, size, timestamp and owner stay readable by the server</a:t>
            </a:r>
            <a:endParaRPr lang="en-US" sz="1050" dirty="0"/>
          </a:p>
          <a:p>
            <a:pPr marL="342900" indent="-342900">
              <a:spcAft>
                <a:spcPts val="400"/>
              </a:spcAft>
              <a:buSzPct val="100000"/>
              <a:buChar char="–"/>
            </a:pPr>
            <a:r>
              <a:rPr lang="en-US" sz="1050" dirty="0">
                <a:solidFill>
                  <a:srgbClr val="26242B"/>
                </a:solidFill>
                <a:latin typeface="Arial" pitchFamily="34" charset="0"/>
                <a:ea typeface="Arial" pitchFamily="34" charset="-122"/>
                <a:cs typeface="Arial" pitchFamily="34" charset="-120"/>
              </a:rPr>
              <a:t>All of them sit in the associated data</a:t>
            </a:r>
            <a:endParaRPr lang="en-US" sz="1050" dirty="0"/>
          </a:p>
          <a:p>
            <a:pPr marL="342900" indent="-342900">
              <a:spcAft>
                <a:spcPts val="400"/>
              </a:spcAft>
              <a:buSzPct val="100000"/>
              <a:buChar char="–"/>
            </a:pPr>
            <a:r>
              <a:rPr lang="en-US" sz="1050" dirty="0">
                <a:solidFill>
                  <a:srgbClr val="26242B"/>
                </a:solidFill>
                <a:latin typeface="Arial" pitchFamily="34" charset="0"/>
                <a:ea typeface="Arial" pitchFamily="34" charset="-122"/>
                <a:cs typeface="Arial" pitchFamily="34" charset="-120"/>
              </a:rPr>
              <a:t>Change any one and the tag check fails, so the download is refused</a:t>
            </a:r>
            <a:endParaRPr lang="en-US" sz="1050" dirty="0"/>
          </a:p>
          <a:p>
            <a:pPr marL="342900" indent="-342900">
              <a:spcAft>
                <a:spcPts val="400"/>
              </a:spcAft>
              <a:buSzPct val="100000"/>
              <a:buChar char="–"/>
            </a:pPr>
            <a:endParaRPr lang="en-US" sz="1050" dirty="0"/>
          </a:p>
        </p:txBody>
      </p:sp>
      <p:sp>
        <p:nvSpPr>
          <p:cNvPr id="31" name="Shape 29"/>
          <p:cNvSpPr/>
          <p:nvPr/>
        </p:nvSpPr>
        <p:spPr>
          <a:xfrm>
            <a:off x="621792" y="4846320"/>
            <a:ext cx="10917936" cy="1143000"/>
          </a:xfrm>
          <a:prstGeom prst="rect">
            <a:avLst/>
          </a:prstGeom>
          <a:solidFill>
            <a:srgbClr val="F7F5F6"/>
          </a:solidFill>
          <a:ln w="15875">
            <a:solidFill>
              <a:srgbClr val="C0392F"/>
            </a:solidFill>
            <a:prstDash val="solid"/>
          </a:ln>
        </p:spPr>
      </p:sp>
      <p:sp>
        <p:nvSpPr>
          <p:cNvPr id="32" name="Text 30"/>
          <p:cNvSpPr txBox="1"/>
          <p:nvPr/>
        </p:nvSpPr>
        <p:spPr>
          <a:xfrm>
            <a:off x="822960" y="4983480"/>
            <a:ext cx="10515600" cy="292608"/>
          </a:xfrm>
          <a:prstGeom prst="rect">
            <a:avLst/>
          </a:prstGeom>
          <a:noFill/>
          <a:ln/>
        </p:spPr>
        <p:txBody>
          <a:bodyPr wrap="square" lIns="0" tIns="0" rIns="0" bIns="0" rtlCol="0" anchor="ctr"/>
          <a:lstStyle/>
          <a:p>
            <a:pPr marL="0" indent="0">
              <a:buNone/>
            </a:pPr>
            <a:r>
              <a:rPr lang="en-US" sz="1150" b="1" kern="0" spc="40" dirty="0">
                <a:solidFill>
                  <a:srgbClr val="C0392F"/>
                </a:solidFill>
                <a:latin typeface="Arial" pitchFamily="34" charset="0"/>
                <a:ea typeface="Arial" pitchFamily="34" charset="-122"/>
                <a:cs typeface="Arial" pitchFamily="34" charset="-120"/>
              </a:rPr>
              <a:t>Being straight about the current client</a:t>
            </a:r>
            <a:endParaRPr lang="en-US" sz="1150" dirty="0"/>
          </a:p>
        </p:txBody>
      </p:sp>
      <p:sp>
        <p:nvSpPr>
          <p:cNvPr id="33" name="Text 31"/>
          <p:cNvSpPr txBox="1"/>
          <p:nvPr/>
        </p:nvSpPr>
        <p:spPr>
          <a:xfrm>
            <a:off x="822960" y="5321808"/>
            <a:ext cx="10515600" cy="539496"/>
          </a:xfrm>
          <a:prstGeom prst="rect">
            <a:avLst/>
          </a:prstGeom>
          <a:noFill/>
          <a:ln/>
        </p:spPr>
        <p:txBody>
          <a:bodyPr wrap="square" lIns="0" tIns="0" rIns="0" bIns="0" rtlCol="0" anchor="t"/>
          <a:lstStyle/>
          <a:p>
            <a:pPr marL="0" indent="0">
              <a:buNone/>
            </a:pPr>
            <a:r>
              <a:rPr lang="en-US" sz="1050" dirty="0">
                <a:solidFill>
                  <a:srgbClr val="26242B"/>
                </a:solidFill>
                <a:latin typeface="Arial" pitchFamily="34" charset="0"/>
                <a:ea typeface="Arial" pitchFamily="34" charset="-122"/>
                <a:cs typeface="Arial" pitchFamily="34" charset="-120"/>
              </a:rPr>
              <a:t>Document keys are saved locally wrapped under the user's wrap key. The command-line client still keeps active session material, the wrap key and recovered identity keys in a plain JSON file under client_local. This fits the trusted-client threat model for the demo; a production client should keep them in memory or protected OS storage.</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21792" y="329184"/>
            <a:ext cx="9820656" cy="237744"/>
          </a:xfrm>
          <a:prstGeom prst="rect">
            <a:avLst/>
          </a:prstGeom>
          <a:noFill/>
          <a:ln/>
        </p:spPr>
        <p:txBody>
          <a:bodyPr wrap="square" lIns="0" tIns="0" rIns="0" bIns="0" rtlCol="0" anchor="ctr"/>
          <a:lstStyle/>
          <a:p>
            <a:pPr marL="0" indent="0">
              <a:buNone/>
            </a:pPr>
            <a:r>
              <a:rPr lang="en-US" sz="950" b="1" kern="0" spc="250" dirty="0">
                <a:solidFill>
                  <a:srgbClr val="C0392F"/>
                </a:solidFill>
                <a:latin typeface="Arial" pitchFamily="34" charset="0"/>
                <a:ea typeface="Arial" pitchFamily="34" charset="-122"/>
                <a:cs typeface="Arial" pitchFamily="34" charset="-120"/>
              </a:rPr>
              <a:t>PART 2 · TRANSPORT</a:t>
            </a:r>
            <a:endParaRPr lang="en-US" sz="950" dirty="0"/>
          </a:p>
        </p:txBody>
      </p:sp>
      <p:sp>
        <p:nvSpPr>
          <p:cNvPr id="3" name="Text 1"/>
          <p:cNvSpPr txBox="1"/>
          <p:nvPr/>
        </p:nvSpPr>
        <p:spPr>
          <a:xfrm>
            <a:off x="621792" y="603504"/>
            <a:ext cx="10917936" cy="530352"/>
          </a:xfrm>
          <a:prstGeom prst="rect">
            <a:avLst/>
          </a:prstGeom>
          <a:noFill/>
          <a:ln/>
        </p:spPr>
        <p:txBody>
          <a:bodyPr wrap="square" lIns="0" tIns="0" rIns="0" bIns="0" rtlCol="0" anchor="ctr"/>
          <a:lstStyle/>
          <a:p>
            <a:pPr marL="0" indent="0">
              <a:buNone/>
            </a:pPr>
            <a:r>
              <a:rPr lang="en-US" sz="2500" b="1" dirty="0">
                <a:solidFill>
                  <a:srgbClr val="26242B"/>
                </a:solidFill>
                <a:latin typeface="Bookman Old Style" pitchFamily="34" charset="0"/>
                <a:ea typeface="Bookman Old Style" pitchFamily="34" charset="-122"/>
                <a:cs typeface="Bookman Old Style" pitchFamily="34" charset="-120"/>
              </a:rPr>
              <a:t>Part 2 — transport, dispatch and storage</a:t>
            </a:r>
            <a:endParaRPr lang="en-US" sz="2500" dirty="0"/>
          </a:p>
        </p:txBody>
      </p:sp>
      <p:sp>
        <p:nvSpPr>
          <p:cNvPr id="4" name="Text 2"/>
          <p:cNvSpPr txBox="1"/>
          <p:nvPr/>
        </p:nvSpPr>
        <p:spPr>
          <a:xfrm>
            <a:off x="621792" y="1133856"/>
            <a:ext cx="10917936" cy="274320"/>
          </a:xfrm>
          <a:prstGeom prst="rect">
            <a:avLst/>
          </a:prstGeom>
          <a:noFill/>
          <a:ln/>
        </p:spPr>
        <p:txBody>
          <a:bodyPr wrap="square" lIns="0" tIns="0" rIns="0" bIns="0" rtlCol="0" anchor="ctr"/>
          <a:lstStyle/>
          <a:p>
            <a:pPr marL="0" indent="0">
              <a:buNone/>
            </a:pPr>
            <a:r>
              <a:rPr lang="en-US" sz="1200" dirty="0">
                <a:solidFill>
                  <a:srgbClr val="76737E"/>
                </a:solidFill>
                <a:latin typeface="Arial" pitchFamily="34" charset="0"/>
                <a:ea typeface="Arial" pitchFamily="34" charset="-122"/>
                <a:cs typeface="Arial" pitchFamily="34" charset="-120"/>
              </a:rPr>
              <a:t>Decision 7.6 </a:t>
            </a:r>
            <a:r>
              <a:rPr lang="ar-PS" sz="1200" dirty="0">
                <a:solidFill>
                  <a:srgbClr val="76737E"/>
                </a:solidFill>
                <a:latin typeface="Arial" pitchFamily="34" charset="0"/>
                <a:ea typeface="Arial" pitchFamily="34" charset="-122"/>
                <a:cs typeface="Arial" pitchFamily="34" charset="-120"/>
              </a:rPr>
              <a:t>:</a:t>
            </a:r>
            <a:r>
              <a:rPr lang="en-US" sz="1200" dirty="0">
                <a:solidFill>
                  <a:srgbClr val="76737E"/>
                </a:solidFill>
                <a:latin typeface="Arial" pitchFamily="34" charset="0"/>
                <a:ea typeface="Arial" pitchFamily="34" charset="-122"/>
                <a:cs typeface="Arial" pitchFamily="34" charset="-120"/>
              </a:rPr>
              <a:t> a shared directory standing in for the network</a:t>
            </a:r>
            <a:endParaRPr lang="en-US" sz="1200" dirty="0"/>
          </a:p>
        </p:txBody>
      </p:sp>
      <p:sp>
        <p:nvSpPr>
          <p:cNvPr id="5" name="Text 3"/>
          <p:cNvSpPr txBox="1"/>
          <p:nvPr/>
        </p:nvSpPr>
        <p:spPr>
          <a:xfrm>
            <a:off x="10899648" y="310896"/>
            <a:ext cx="640080" cy="274320"/>
          </a:xfrm>
          <a:prstGeom prst="rect">
            <a:avLst/>
          </a:prstGeom>
          <a:noFill/>
          <a:ln/>
        </p:spPr>
        <p:txBody>
          <a:bodyPr wrap="square" lIns="0" tIns="0" rIns="0" bIns="0" rtlCol="0" anchor="ctr"/>
          <a:lstStyle/>
          <a:p>
            <a:pPr marL="0" indent="0" algn="r">
              <a:buNone/>
            </a:pPr>
            <a:r>
              <a:rPr lang="en-US" sz="1100" b="1" dirty="0">
                <a:solidFill>
                  <a:srgbClr val="DEDCE2"/>
                </a:solidFill>
                <a:latin typeface="Arial" pitchFamily="34" charset="0"/>
                <a:ea typeface="Arial" pitchFamily="34" charset="-122"/>
                <a:cs typeface="Arial" pitchFamily="34" charset="-120"/>
              </a:rPr>
              <a:t>13</a:t>
            </a:r>
            <a:endParaRPr lang="en-US" sz="1100" dirty="0"/>
          </a:p>
        </p:txBody>
      </p:sp>
      <p:sp>
        <p:nvSpPr>
          <p:cNvPr id="6" name="Text 4"/>
          <p:cNvSpPr txBox="1"/>
          <p:nvPr/>
        </p:nvSpPr>
        <p:spPr>
          <a:xfrm>
            <a:off x="621792" y="1481328"/>
            <a:ext cx="548640" cy="274320"/>
          </a:xfrm>
          <a:prstGeom prst="rect">
            <a:avLst/>
          </a:prstGeom>
          <a:noFill/>
          <a:ln/>
        </p:spPr>
        <p:txBody>
          <a:bodyPr wrap="square" lIns="0" tIns="0" rIns="0" bIns="0" rtlCol="0" anchor="ctr"/>
          <a:lstStyle/>
          <a:p>
            <a:pPr marL="0" indent="0">
              <a:buNone/>
            </a:pPr>
            <a:r>
              <a:rPr lang="en-US" sz="1000" b="1" dirty="0">
                <a:solidFill>
                  <a:srgbClr val="C0392F"/>
                </a:solidFill>
                <a:latin typeface="Arial" pitchFamily="34" charset="0"/>
                <a:ea typeface="Arial" pitchFamily="34" charset="-122"/>
                <a:cs typeface="Arial" pitchFamily="34" charset="-120"/>
              </a:rPr>
              <a:t>01</a:t>
            </a:r>
            <a:endParaRPr lang="en-US" sz="1000" dirty="0"/>
          </a:p>
        </p:txBody>
      </p:sp>
      <p:sp>
        <p:nvSpPr>
          <p:cNvPr id="7" name="Text 5"/>
          <p:cNvSpPr txBox="1"/>
          <p:nvPr/>
        </p:nvSpPr>
        <p:spPr>
          <a:xfrm>
            <a:off x="621792" y="1737360"/>
            <a:ext cx="2363724" cy="274320"/>
          </a:xfrm>
          <a:prstGeom prst="rect">
            <a:avLst/>
          </a:prstGeom>
          <a:noFill/>
          <a:ln/>
        </p:spPr>
        <p:txBody>
          <a:bodyPr wrap="square" lIns="0" tIns="0" rIns="0" bIns="0" rtlCol="0" anchor="ctr"/>
          <a:lstStyle/>
          <a:p>
            <a:pPr marL="0" indent="0">
              <a:buNone/>
            </a:pPr>
            <a:r>
              <a:rPr lang="en-US" sz="1200" b="1" dirty="0">
                <a:solidFill>
                  <a:srgbClr val="26242B"/>
                </a:solidFill>
                <a:latin typeface="Courier New" pitchFamily="34" charset="0"/>
                <a:ea typeface="Courier New" pitchFamily="34" charset="-122"/>
                <a:cs typeface="Courier New" pitchFamily="34" charset="-120"/>
              </a:rPr>
              <a:t>client.py</a:t>
            </a:r>
            <a:endParaRPr lang="en-US" sz="1200" dirty="0"/>
          </a:p>
        </p:txBody>
      </p:sp>
      <p:sp>
        <p:nvSpPr>
          <p:cNvPr id="8" name="Text 6"/>
          <p:cNvSpPr txBox="1"/>
          <p:nvPr/>
        </p:nvSpPr>
        <p:spPr>
          <a:xfrm>
            <a:off x="621792" y="2011680"/>
            <a:ext cx="2363724" cy="365760"/>
          </a:xfrm>
          <a:prstGeom prst="rect">
            <a:avLst/>
          </a:prstGeom>
          <a:noFill/>
          <a:ln/>
        </p:spPr>
        <p:txBody>
          <a:bodyPr wrap="square" lIns="0" tIns="0" rIns="0" bIns="0" rtlCol="0" anchor="t"/>
          <a:lstStyle/>
          <a:p>
            <a:pPr marL="0" indent="0">
              <a:buNone/>
            </a:pPr>
            <a:r>
              <a:rPr lang="en-US" sz="1050" dirty="0">
                <a:solidFill>
                  <a:srgbClr val="76737E"/>
                </a:solidFill>
                <a:latin typeface="Arial" pitchFamily="34" charset="0"/>
                <a:ea typeface="Arial" pitchFamily="34" charset="-122"/>
                <a:cs typeface="Arial" pitchFamily="34" charset="-120"/>
              </a:rPr>
              <a:t>commands and local state</a:t>
            </a:r>
            <a:endParaRPr lang="en-US" sz="1050" dirty="0"/>
          </a:p>
        </p:txBody>
      </p:sp>
      <p:sp>
        <p:nvSpPr>
          <p:cNvPr id="9" name="Shape 7"/>
          <p:cNvSpPr/>
          <p:nvPr/>
        </p:nvSpPr>
        <p:spPr>
          <a:xfrm>
            <a:off x="621792" y="1700784"/>
            <a:ext cx="2363724" cy="0"/>
          </a:xfrm>
          <a:prstGeom prst="line">
            <a:avLst/>
          </a:prstGeom>
          <a:noFill/>
          <a:ln w="9525">
            <a:solidFill>
              <a:srgbClr val="DEDCE2"/>
            </a:solidFill>
            <a:prstDash val="solid"/>
          </a:ln>
        </p:spPr>
      </p:sp>
      <p:sp>
        <p:nvSpPr>
          <p:cNvPr id="10" name="Text 8"/>
          <p:cNvSpPr txBox="1"/>
          <p:nvPr/>
        </p:nvSpPr>
        <p:spPr>
          <a:xfrm>
            <a:off x="3351276" y="1481328"/>
            <a:ext cx="548640" cy="274320"/>
          </a:xfrm>
          <a:prstGeom prst="rect">
            <a:avLst/>
          </a:prstGeom>
          <a:noFill/>
          <a:ln/>
        </p:spPr>
        <p:txBody>
          <a:bodyPr wrap="square" lIns="0" tIns="0" rIns="0" bIns="0" rtlCol="0" anchor="ctr"/>
          <a:lstStyle/>
          <a:p>
            <a:pPr marL="0" indent="0">
              <a:buNone/>
            </a:pPr>
            <a:r>
              <a:rPr lang="en-US" sz="1000" b="1" dirty="0">
                <a:solidFill>
                  <a:srgbClr val="C0392F"/>
                </a:solidFill>
                <a:latin typeface="Arial" pitchFamily="34" charset="0"/>
                <a:ea typeface="Arial" pitchFamily="34" charset="-122"/>
                <a:cs typeface="Arial" pitchFamily="34" charset="-120"/>
              </a:rPr>
              <a:t>02</a:t>
            </a:r>
            <a:endParaRPr lang="en-US" sz="1000" dirty="0"/>
          </a:p>
        </p:txBody>
      </p:sp>
      <p:sp>
        <p:nvSpPr>
          <p:cNvPr id="11" name="Text 9"/>
          <p:cNvSpPr txBox="1"/>
          <p:nvPr/>
        </p:nvSpPr>
        <p:spPr>
          <a:xfrm>
            <a:off x="3351276" y="1737360"/>
            <a:ext cx="2363724" cy="274320"/>
          </a:xfrm>
          <a:prstGeom prst="rect">
            <a:avLst/>
          </a:prstGeom>
          <a:noFill/>
          <a:ln/>
        </p:spPr>
        <p:txBody>
          <a:bodyPr wrap="square" lIns="0" tIns="0" rIns="0" bIns="0" rtlCol="0" anchor="ctr"/>
          <a:lstStyle/>
          <a:p>
            <a:pPr marL="0" indent="0">
              <a:buNone/>
            </a:pPr>
            <a:r>
              <a:rPr lang="en-US" sz="1200" b="1" dirty="0">
                <a:solidFill>
                  <a:srgbClr val="26242B"/>
                </a:solidFill>
                <a:latin typeface="Courier New" pitchFamily="34" charset="0"/>
                <a:ea typeface="Courier New" pitchFamily="34" charset="-122"/>
                <a:cs typeface="Courier New" pitchFamily="34" charset="-120"/>
              </a:rPr>
              <a:t>transport.py</a:t>
            </a:r>
            <a:endParaRPr lang="en-US" sz="1200" dirty="0"/>
          </a:p>
        </p:txBody>
      </p:sp>
      <p:sp>
        <p:nvSpPr>
          <p:cNvPr id="12" name="Text 10"/>
          <p:cNvSpPr txBox="1"/>
          <p:nvPr/>
        </p:nvSpPr>
        <p:spPr>
          <a:xfrm>
            <a:off x="3351276" y="2011680"/>
            <a:ext cx="2363724" cy="365760"/>
          </a:xfrm>
          <a:prstGeom prst="rect">
            <a:avLst/>
          </a:prstGeom>
          <a:noFill/>
          <a:ln/>
        </p:spPr>
        <p:txBody>
          <a:bodyPr wrap="square" lIns="0" tIns="0" rIns="0" bIns="0" rtlCol="0" anchor="t"/>
          <a:lstStyle/>
          <a:p>
            <a:pPr marL="0" indent="0">
              <a:buNone/>
            </a:pPr>
            <a:r>
              <a:rPr lang="en-US" sz="1050" dirty="0">
                <a:solidFill>
                  <a:srgbClr val="76737E"/>
                </a:solidFill>
                <a:latin typeface="Arial" pitchFamily="34" charset="0"/>
                <a:ea typeface="Arial" pitchFamily="34" charset="-122"/>
                <a:cs typeface="Arial" pitchFamily="34" charset="-120"/>
              </a:rPr>
              <a:t>shared_network inboxes</a:t>
            </a:r>
            <a:endParaRPr lang="en-US" sz="1050" dirty="0"/>
          </a:p>
        </p:txBody>
      </p:sp>
      <p:sp>
        <p:nvSpPr>
          <p:cNvPr id="13" name="Shape 11"/>
          <p:cNvSpPr/>
          <p:nvPr/>
        </p:nvSpPr>
        <p:spPr>
          <a:xfrm>
            <a:off x="3351276" y="1700784"/>
            <a:ext cx="2363724" cy="0"/>
          </a:xfrm>
          <a:prstGeom prst="line">
            <a:avLst/>
          </a:prstGeom>
          <a:noFill/>
          <a:ln w="9525">
            <a:solidFill>
              <a:srgbClr val="DEDCE2"/>
            </a:solidFill>
            <a:prstDash val="solid"/>
          </a:ln>
        </p:spPr>
      </p:sp>
      <p:sp>
        <p:nvSpPr>
          <p:cNvPr id="14" name="Text 12"/>
          <p:cNvSpPr txBox="1"/>
          <p:nvPr/>
        </p:nvSpPr>
        <p:spPr>
          <a:xfrm>
            <a:off x="6080760" y="1481328"/>
            <a:ext cx="548640" cy="274320"/>
          </a:xfrm>
          <a:prstGeom prst="rect">
            <a:avLst/>
          </a:prstGeom>
          <a:noFill/>
          <a:ln/>
        </p:spPr>
        <p:txBody>
          <a:bodyPr wrap="square" lIns="0" tIns="0" rIns="0" bIns="0" rtlCol="0" anchor="ctr"/>
          <a:lstStyle/>
          <a:p>
            <a:pPr marL="0" indent="0">
              <a:buNone/>
            </a:pPr>
            <a:r>
              <a:rPr lang="en-US" sz="1000" b="1" dirty="0">
                <a:solidFill>
                  <a:srgbClr val="C0392F"/>
                </a:solidFill>
                <a:latin typeface="Arial" pitchFamily="34" charset="0"/>
                <a:ea typeface="Arial" pitchFamily="34" charset="-122"/>
                <a:cs typeface="Arial" pitchFamily="34" charset="-120"/>
              </a:rPr>
              <a:t>03</a:t>
            </a:r>
            <a:endParaRPr lang="en-US" sz="1000" dirty="0"/>
          </a:p>
        </p:txBody>
      </p:sp>
      <p:sp>
        <p:nvSpPr>
          <p:cNvPr id="15" name="Text 13"/>
          <p:cNvSpPr txBox="1"/>
          <p:nvPr/>
        </p:nvSpPr>
        <p:spPr>
          <a:xfrm>
            <a:off x="6080760" y="1737360"/>
            <a:ext cx="2363724" cy="274320"/>
          </a:xfrm>
          <a:prstGeom prst="rect">
            <a:avLst/>
          </a:prstGeom>
          <a:noFill/>
          <a:ln/>
        </p:spPr>
        <p:txBody>
          <a:bodyPr wrap="square" lIns="0" tIns="0" rIns="0" bIns="0" rtlCol="0" anchor="ctr"/>
          <a:lstStyle/>
          <a:p>
            <a:pPr marL="0" indent="0">
              <a:buNone/>
            </a:pPr>
            <a:r>
              <a:rPr lang="en-US" sz="1200" b="1" dirty="0">
                <a:solidFill>
                  <a:srgbClr val="26242B"/>
                </a:solidFill>
                <a:latin typeface="Courier New" pitchFamily="34" charset="0"/>
                <a:ea typeface="Courier New" pitchFamily="34" charset="-122"/>
                <a:cs typeface="Courier New" pitchFamily="34" charset="-120"/>
              </a:rPr>
              <a:t>server.py</a:t>
            </a:r>
            <a:endParaRPr lang="en-US" sz="1200" dirty="0"/>
          </a:p>
        </p:txBody>
      </p:sp>
      <p:sp>
        <p:nvSpPr>
          <p:cNvPr id="16" name="Text 14"/>
          <p:cNvSpPr txBox="1"/>
          <p:nvPr/>
        </p:nvSpPr>
        <p:spPr>
          <a:xfrm>
            <a:off x="6080760" y="2011680"/>
            <a:ext cx="2363724" cy="365760"/>
          </a:xfrm>
          <a:prstGeom prst="rect">
            <a:avLst/>
          </a:prstGeom>
          <a:noFill/>
          <a:ln/>
        </p:spPr>
        <p:txBody>
          <a:bodyPr wrap="square" lIns="0" tIns="0" rIns="0" bIns="0" rtlCol="0" anchor="t"/>
          <a:lstStyle/>
          <a:p>
            <a:pPr marL="0" indent="0">
              <a:buNone/>
            </a:pPr>
            <a:r>
              <a:rPr lang="en-US" sz="1050" dirty="0">
                <a:solidFill>
                  <a:srgbClr val="76737E"/>
                </a:solidFill>
                <a:latin typeface="Arial" pitchFamily="34" charset="0"/>
                <a:ea typeface="Arial" pitchFamily="34" charset="-122"/>
                <a:cs typeface="Arial" pitchFamily="34" charset="-120"/>
              </a:rPr>
              <a:t>type byte → handler</a:t>
            </a:r>
            <a:endParaRPr lang="en-US" sz="1050" dirty="0"/>
          </a:p>
        </p:txBody>
      </p:sp>
      <p:sp>
        <p:nvSpPr>
          <p:cNvPr id="17" name="Shape 15"/>
          <p:cNvSpPr/>
          <p:nvPr/>
        </p:nvSpPr>
        <p:spPr>
          <a:xfrm>
            <a:off x="6080760" y="1700784"/>
            <a:ext cx="2363724" cy="0"/>
          </a:xfrm>
          <a:prstGeom prst="line">
            <a:avLst/>
          </a:prstGeom>
          <a:noFill/>
          <a:ln w="9525">
            <a:solidFill>
              <a:srgbClr val="DEDCE2"/>
            </a:solidFill>
            <a:prstDash val="solid"/>
          </a:ln>
        </p:spPr>
      </p:sp>
      <p:sp>
        <p:nvSpPr>
          <p:cNvPr id="18" name="Text 16"/>
          <p:cNvSpPr txBox="1"/>
          <p:nvPr/>
        </p:nvSpPr>
        <p:spPr>
          <a:xfrm>
            <a:off x="8810244" y="1481328"/>
            <a:ext cx="548640" cy="274320"/>
          </a:xfrm>
          <a:prstGeom prst="rect">
            <a:avLst/>
          </a:prstGeom>
          <a:noFill/>
          <a:ln/>
        </p:spPr>
        <p:txBody>
          <a:bodyPr wrap="square" lIns="0" tIns="0" rIns="0" bIns="0" rtlCol="0" anchor="ctr"/>
          <a:lstStyle/>
          <a:p>
            <a:pPr marL="0" indent="0">
              <a:buNone/>
            </a:pPr>
            <a:r>
              <a:rPr lang="en-US" sz="1000" b="1" dirty="0">
                <a:solidFill>
                  <a:srgbClr val="C0392F"/>
                </a:solidFill>
                <a:latin typeface="Arial" pitchFamily="34" charset="0"/>
                <a:ea typeface="Arial" pitchFamily="34" charset="-122"/>
                <a:cs typeface="Arial" pitchFamily="34" charset="-120"/>
              </a:rPr>
              <a:t>04</a:t>
            </a:r>
            <a:endParaRPr lang="en-US" sz="1000" dirty="0"/>
          </a:p>
        </p:txBody>
      </p:sp>
      <p:sp>
        <p:nvSpPr>
          <p:cNvPr id="19" name="Text 17"/>
          <p:cNvSpPr txBox="1"/>
          <p:nvPr/>
        </p:nvSpPr>
        <p:spPr>
          <a:xfrm>
            <a:off x="8810244" y="1737360"/>
            <a:ext cx="2363724" cy="274320"/>
          </a:xfrm>
          <a:prstGeom prst="rect">
            <a:avLst/>
          </a:prstGeom>
          <a:noFill/>
          <a:ln/>
        </p:spPr>
        <p:txBody>
          <a:bodyPr wrap="square" lIns="0" tIns="0" rIns="0" bIns="0" rtlCol="0" anchor="ctr"/>
          <a:lstStyle/>
          <a:p>
            <a:pPr marL="0" indent="0">
              <a:buNone/>
            </a:pPr>
            <a:r>
              <a:rPr lang="en-US" sz="1200" b="1" dirty="0">
                <a:solidFill>
                  <a:srgbClr val="26242B"/>
                </a:solidFill>
                <a:latin typeface="Courier New" pitchFamily="34" charset="0"/>
                <a:ea typeface="Courier New" pitchFamily="34" charset="-122"/>
                <a:cs typeface="Courier New" pitchFamily="34" charset="-120"/>
              </a:rPr>
              <a:t>storage</a:t>
            </a:r>
            <a:endParaRPr lang="en-US" sz="1200" dirty="0"/>
          </a:p>
        </p:txBody>
      </p:sp>
      <p:sp>
        <p:nvSpPr>
          <p:cNvPr id="20" name="Text 18"/>
          <p:cNvSpPr txBox="1"/>
          <p:nvPr/>
        </p:nvSpPr>
        <p:spPr>
          <a:xfrm>
            <a:off x="8810244" y="2011680"/>
            <a:ext cx="2363724" cy="365760"/>
          </a:xfrm>
          <a:prstGeom prst="rect">
            <a:avLst/>
          </a:prstGeom>
          <a:noFill/>
          <a:ln/>
        </p:spPr>
        <p:txBody>
          <a:bodyPr wrap="square" lIns="0" tIns="0" rIns="0" bIns="0" rtlCol="0" anchor="t"/>
          <a:lstStyle/>
          <a:p>
            <a:pPr marL="0" indent="0">
              <a:buNone/>
            </a:pPr>
            <a:r>
              <a:rPr lang="en-US" sz="1050" dirty="0">
                <a:solidFill>
                  <a:srgbClr val="76737E"/>
                </a:solidFill>
                <a:latin typeface="Arial" pitchFamily="34" charset="0"/>
                <a:ea typeface="Arial" pitchFamily="34" charset="-122"/>
                <a:cs typeface="Arial" pitchFamily="34" charset="-120"/>
              </a:rPr>
              <a:t>SQLite for accounts; file storage for encrypted documents and shares</a:t>
            </a:r>
            <a:endParaRPr lang="en-US" sz="1050" dirty="0"/>
          </a:p>
        </p:txBody>
      </p:sp>
      <p:sp>
        <p:nvSpPr>
          <p:cNvPr id="21" name="Shape 19"/>
          <p:cNvSpPr/>
          <p:nvPr/>
        </p:nvSpPr>
        <p:spPr>
          <a:xfrm>
            <a:off x="8810244" y="1700784"/>
            <a:ext cx="2363724" cy="0"/>
          </a:xfrm>
          <a:prstGeom prst="line">
            <a:avLst/>
          </a:prstGeom>
          <a:noFill/>
          <a:ln w="9525">
            <a:solidFill>
              <a:srgbClr val="DEDCE2"/>
            </a:solidFill>
            <a:prstDash val="solid"/>
          </a:ln>
        </p:spPr>
      </p:sp>
      <p:sp>
        <p:nvSpPr>
          <p:cNvPr id="22" name="Shape 20"/>
          <p:cNvSpPr/>
          <p:nvPr/>
        </p:nvSpPr>
        <p:spPr>
          <a:xfrm>
            <a:off x="621792" y="2606040"/>
            <a:ext cx="3794760" cy="1691640"/>
          </a:xfrm>
          <a:prstGeom prst="rect">
            <a:avLst/>
          </a:prstGeom>
          <a:solidFill>
            <a:srgbClr val="FFFFFF"/>
          </a:solidFill>
          <a:ln w="12700">
            <a:solidFill>
              <a:srgbClr val="DEDCE2"/>
            </a:solidFill>
            <a:prstDash val="solid"/>
          </a:ln>
        </p:spPr>
      </p:sp>
      <p:sp>
        <p:nvSpPr>
          <p:cNvPr id="23" name="Text 21"/>
          <p:cNvSpPr txBox="1"/>
          <p:nvPr/>
        </p:nvSpPr>
        <p:spPr>
          <a:xfrm>
            <a:off x="822960" y="2743200"/>
            <a:ext cx="3392424" cy="292608"/>
          </a:xfrm>
          <a:prstGeom prst="rect">
            <a:avLst/>
          </a:prstGeom>
          <a:noFill/>
          <a:ln/>
        </p:spPr>
        <p:txBody>
          <a:bodyPr wrap="square" lIns="0" tIns="0" rIns="0" bIns="0" rtlCol="0" anchor="ctr"/>
          <a:lstStyle/>
          <a:p>
            <a:pPr marL="0" indent="0">
              <a:buNone/>
            </a:pPr>
            <a:r>
              <a:rPr lang="en-US" sz="1150" b="1" kern="0" spc="40" dirty="0">
                <a:solidFill>
                  <a:srgbClr val="26242B"/>
                </a:solidFill>
                <a:latin typeface="Arial" pitchFamily="34" charset="0"/>
                <a:ea typeface="Arial" pitchFamily="34" charset="-122"/>
                <a:cs typeface="Arial" pitchFamily="34" charset="-120"/>
              </a:rPr>
              <a:t>What the server cannot do</a:t>
            </a:r>
            <a:endParaRPr lang="en-US" sz="1150" dirty="0"/>
          </a:p>
        </p:txBody>
      </p:sp>
      <p:sp>
        <p:nvSpPr>
          <p:cNvPr id="24" name="Text 22"/>
          <p:cNvSpPr txBox="1"/>
          <p:nvPr/>
        </p:nvSpPr>
        <p:spPr>
          <a:xfrm>
            <a:off x="822960" y="3099816"/>
            <a:ext cx="3392424" cy="1069848"/>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6242B"/>
                </a:solidFill>
                <a:latin typeface="Arial" pitchFamily="34" charset="0"/>
                <a:ea typeface="Arial" pitchFamily="34" charset="-122"/>
                <a:cs typeface="Arial" pitchFamily="34" charset="-120"/>
              </a:rPr>
              <a:t>Read a document — it has no key to try</a:t>
            </a:r>
            <a:endParaRPr lang="en-US" sz="1050" dirty="0"/>
          </a:p>
          <a:p>
            <a:pPr marL="342900" indent="-342900">
              <a:spcAft>
                <a:spcPts val="400"/>
              </a:spcAft>
              <a:buSzPct val="100000"/>
              <a:buChar char="–"/>
            </a:pPr>
            <a:r>
              <a:rPr lang="en-US" sz="1050" dirty="0">
                <a:solidFill>
                  <a:srgbClr val="26242B"/>
                </a:solidFill>
                <a:latin typeface="Arial" pitchFamily="34" charset="0"/>
                <a:ea typeface="Arial" pitchFamily="34" charset="-122"/>
                <a:cs typeface="Arial" pitchFamily="34" charset="-120"/>
              </a:rPr>
              <a:t>Forge a share — it has no user's signing key</a:t>
            </a:r>
            <a:endParaRPr lang="en-US" sz="1050" dirty="0"/>
          </a:p>
          <a:p>
            <a:pPr marL="342900" indent="-342900">
              <a:spcAft>
                <a:spcPts val="400"/>
              </a:spcAft>
              <a:buSzPct val="100000"/>
              <a:buChar char="–"/>
            </a:pPr>
            <a:r>
              <a:rPr lang="en-US" sz="1050" dirty="0">
                <a:solidFill>
                  <a:srgbClr val="26242B"/>
                </a:solidFill>
                <a:latin typeface="Arial" pitchFamily="34" charset="0"/>
                <a:ea typeface="Arial" pitchFamily="34" charset="-122"/>
                <a:cs typeface="Arial" pitchFamily="34" charset="-120"/>
              </a:rPr>
              <a:t>Recover a private key — the bundle is wrapped under the password</a:t>
            </a:r>
            <a:endParaRPr lang="en-US" sz="1050" dirty="0"/>
          </a:p>
        </p:txBody>
      </p:sp>
      <p:sp>
        <p:nvSpPr>
          <p:cNvPr id="25" name="Shape 23"/>
          <p:cNvSpPr/>
          <p:nvPr/>
        </p:nvSpPr>
        <p:spPr>
          <a:xfrm>
            <a:off x="4645152" y="2606040"/>
            <a:ext cx="3794760" cy="1691640"/>
          </a:xfrm>
          <a:prstGeom prst="rect">
            <a:avLst/>
          </a:prstGeom>
          <a:solidFill>
            <a:srgbClr val="FFFFFF"/>
          </a:solidFill>
          <a:ln w="12700">
            <a:solidFill>
              <a:srgbClr val="DEDCE2"/>
            </a:solidFill>
            <a:prstDash val="solid"/>
          </a:ln>
        </p:spPr>
      </p:sp>
      <p:sp>
        <p:nvSpPr>
          <p:cNvPr id="26" name="Text 24"/>
          <p:cNvSpPr txBox="1"/>
          <p:nvPr/>
        </p:nvSpPr>
        <p:spPr>
          <a:xfrm>
            <a:off x="4846320" y="2743200"/>
            <a:ext cx="3392424" cy="292608"/>
          </a:xfrm>
          <a:prstGeom prst="rect">
            <a:avLst/>
          </a:prstGeom>
          <a:noFill/>
          <a:ln/>
        </p:spPr>
        <p:txBody>
          <a:bodyPr wrap="square" lIns="0" tIns="0" rIns="0" bIns="0" rtlCol="0" anchor="ctr"/>
          <a:lstStyle/>
          <a:p>
            <a:pPr marL="0" indent="0">
              <a:buNone/>
            </a:pPr>
            <a:r>
              <a:rPr lang="en-US" sz="1150" b="1" kern="0" spc="40" dirty="0">
                <a:solidFill>
                  <a:srgbClr val="26242B"/>
                </a:solidFill>
                <a:latin typeface="Arial" pitchFamily="34" charset="0"/>
                <a:ea typeface="Arial" pitchFamily="34" charset="-122"/>
                <a:cs typeface="Arial" pitchFamily="34" charset="-120"/>
              </a:rPr>
              <a:t>What it can still do</a:t>
            </a:r>
            <a:endParaRPr lang="en-US" sz="1150" dirty="0"/>
          </a:p>
        </p:txBody>
      </p:sp>
      <p:sp>
        <p:nvSpPr>
          <p:cNvPr id="27" name="Text 25"/>
          <p:cNvSpPr txBox="1"/>
          <p:nvPr/>
        </p:nvSpPr>
        <p:spPr>
          <a:xfrm>
            <a:off x="4846320" y="3099816"/>
            <a:ext cx="3392424" cy="1069848"/>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6242B"/>
                </a:solidFill>
                <a:latin typeface="Arial" pitchFamily="34" charset="0"/>
                <a:ea typeface="Arial" pitchFamily="34" charset="-122"/>
                <a:cs typeface="Arial" pitchFamily="34" charset="-120"/>
              </a:rPr>
              <a:t>Refuse service, delete or reorder objects — out of scope by our threat model</a:t>
            </a:r>
            <a:endParaRPr lang="en-US" sz="1050" dirty="0"/>
          </a:p>
          <a:p>
            <a:pPr marL="342900" indent="-342900">
              <a:spcAft>
                <a:spcPts val="400"/>
              </a:spcAft>
              <a:buSzPct val="100000"/>
              <a:buChar char="–"/>
            </a:pPr>
            <a:r>
              <a:rPr lang="en-US" sz="1050" dirty="0">
                <a:solidFill>
                  <a:srgbClr val="26242B"/>
                </a:solidFill>
                <a:latin typeface="Arial" pitchFamily="34" charset="0"/>
                <a:ea typeface="Arial" pitchFamily="34" charset="-122"/>
                <a:cs typeface="Arial" pitchFamily="34" charset="-120"/>
              </a:rPr>
              <a:t>See owner, filename, size and time, which is why those fields are authenticated rather than hidden</a:t>
            </a:r>
            <a:endParaRPr lang="en-US" sz="1050" dirty="0"/>
          </a:p>
        </p:txBody>
      </p:sp>
      <p:sp>
        <p:nvSpPr>
          <p:cNvPr id="28" name="Shape 26"/>
          <p:cNvSpPr/>
          <p:nvPr/>
        </p:nvSpPr>
        <p:spPr>
          <a:xfrm>
            <a:off x="8668512" y="2606040"/>
            <a:ext cx="2871216" cy="1691640"/>
          </a:xfrm>
          <a:prstGeom prst="rect">
            <a:avLst/>
          </a:prstGeom>
          <a:solidFill>
            <a:srgbClr val="3C4F3F"/>
          </a:solidFill>
          <a:ln w="12700">
            <a:solidFill>
              <a:srgbClr val="3C4F3F"/>
            </a:solidFill>
            <a:prstDash val="solid"/>
          </a:ln>
        </p:spPr>
      </p:sp>
      <p:sp>
        <p:nvSpPr>
          <p:cNvPr id="29" name="Text 27"/>
          <p:cNvSpPr txBox="1"/>
          <p:nvPr/>
        </p:nvSpPr>
        <p:spPr>
          <a:xfrm>
            <a:off x="8869680" y="2743200"/>
            <a:ext cx="2468880" cy="292608"/>
          </a:xfrm>
          <a:prstGeom prst="rect">
            <a:avLst/>
          </a:prstGeom>
          <a:noFill/>
          <a:ln/>
        </p:spPr>
        <p:txBody>
          <a:bodyPr wrap="square" lIns="0" tIns="0" rIns="0" bIns="0" rtlCol="0" anchor="ctr"/>
          <a:lstStyle/>
          <a:p>
            <a:pPr marL="0" indent="0">
              <a:buNone/>
            </a:pPr>
            <a:r>
              <a:rPr lang="en-US" sz="1150" b="1" kern="0" spc="40" dirty="0">
                <a:solidFill>
                  <a:srgbClr val="FFFFFF"/>
                </a:solidFill>
                <a:latin typeface="Arial" pitchFamily="34" charset="0"/>
                <a:ea typeface="Arial" pitchFamily="34" charset="-122"/>
                <a:cs typeface="Arial" pitchFamily="34" charset="-120"/>
              </a:rPr>
              <a:t>Delivery detail</a:t>
            </a:r>
            <a:endParaRPr lang="en-US" sz="1150" dirty="0"/>
          </a:p>
        </p:txBody>
      </p:sp>
      <p:sp>
        <p:nvSpPr>
          <p:cNvPr id="30" name="Text 28"/>
          <p:cNvSpPr txBox="1"/>
          <p:nvPr/>
        </p:nvSpPr>
        <p:spPr>
          <a:xfrm>
            <a:off x="8869680" y="3099816"/>
            <a:ext cx="2468880" cy="1069848"/>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DCE3DC"/>
                </a:solidFill>
                <a:latin typeface="Arial" pitchFamily="34" charset="0"/>
                <a:ea typeface="Arial" pitchFamily="34" charset="-122"/>
                <a:cs typeface="Arial" pitchFamily="34" charset="-120"/>
              </a:rPr>
              <a:t>A message is written to a temporary file, then renamed</a:t>
            </a:r>
            <a:endParaRPr lang="en-US" sz="1050" dirty="0"/>
          </a:p>
          <a:p>
            <a:pPr marL="342900" indent="-342900">
              <a:spcAft>
                <a:spcPts val="400"/>
              </a:spcAft>
              <a:buSzPct val="100000"/>
              <a:buChar char="–"/>
            </a:pPr>
            <a:r>
              <a:rPr lang="en-US" sz="1050" dirty="0">
                <a:solidFill>
                  <a:srgbClr val="DCE3DC"/>
                </a:solidFill>
                <a:latin typeface="Arial" pitchFamily="34" charset="0"/>
                <a:ea typeface="Arial" pitchFamily="34" charset="-122"/>
                <a:cs typeface="Arial" pitchFamily="34" charset="-120"/>
              </a:rPr>
              <a:t>Readers never see partial messages</a:t>
            </a:r>
            <a:endParaRPr lang="en-US" sz="1050" dirty="0"/>
          </a:p>
          <a:p>
            <a:pPr marL="342900" indent="-342900">
              <a:spcAft>
                <a:spcPts val="400"/>
              </a:spcAft>
              <a:buSzPct val="100000"/>
              <a:buChar char="–"/>
            </a:pPr>
            <a:r>
              <a:rPr lang="en-US" sz="1050" dirty="0">
                <a:solidFill>
                  <a:srgbClr val="DCE3DC"/>
                </a:solidFill>
                <a:latin typeface="Arial" pitchFamily="34" charset="0"/>
                <a:ea typeface="Arial" pitchFamily="34" charset="-122"/>
                <a:cs typeface="Arial" pitchFamily="34" charset="-120"/>
              </a:rPr>
              <a:t>A deployed system would use a real authenticated channel</a:t>
            </a:r>
            <a:endParaRPr lang="en-US" sz="1050" dirty="0"/>
          </a:p>
        </p:txBody>
      </p:sp>
      <p:sp>
        <p:nvSpPr>
          <p:cNvPr id="31" name="Shape 29"/>
          <p:cNvSpPr/>
          <p:nvPr/>
        </p:nvSpPr>
        <p:spPr>
          <a:xfrm>
            <a:off x="621792" y="4526280"/>
            <a:ext cx="10917936" cy="1463040"/>
          </a:xfrm>
          <a:prstGeom prst="rect">
            <a:avLst/>
          </a:prstGeom>
          <a:solidFill>
            <a:srgbClr val="F7F5F6"/>
          </a:solidFill>
          <a:ln w="15875">
            <a:solidFill>
              <a:srgbClr val="C0392F"/>
            </a:solidFill>
            <a:prstDash val="solid"/>
          </a:ln>
        </p:spPr>
      </p:sp>
      <p:sp>
        <p:nvSpPr>
          <p:cNvPr id="32" name="Text 30"/>
          <p:cNvSpPr txBox="1"/>
          <p:nvPr/>
        </p:nvSpPr>
        <p:spPr>
          <a:xfrm>
            <a:off x="822960" y="4663440"/>
            <a:ext cx="10515600" cy="292608"/>
          </a:xfrm>
          <a:prstGeom prst="rect">
            <a:avLst/>
          </a:prstGeom>
          <a:noFill/>
          <a:ln/>
        </p:spPr>
        <p:txBody>
          <a:bodyPr wrap="square" lIns="0" tIns="0" rIns="0" bIns="0" rtlCol="0" anchor="ctr"/>
          <a:lstStyle/>
          <a:p>
            <a:pPr marL="0" indent="0">
              <a:buNone/>
            </a:pPr>
            <a:r>
              <a:rPr lang="en-US" sz="1150" b="1" kern="0" spc="40" dirty="0">
                <a:solidFill>
                  <a:srgbClr val="C0392F"/>
                </a:solidFill>
                <a:latin typeface="Arial" pitchFamily="34" charset="0"/>
                <a:ea typeface="Arial" pitchFamily="34" charset="-122"/>
                <a:cs typeface="Arial" pitchFamily="34" charset="-120"/>
              </a:rPr>
              <a:t>A weakness in the envelope, stated plainly</a:t>
            </a:r>
            <a:endParaRPr lang="en-US" sz="1150" dirty="0"/>
          </a:p>
        </p:txBody>
      </p:sp>
      <p:sp>
        <p:nvSpPr>
          <p:cNvPr id="33" name="Text 31"/>
          <p:cNvSpPr txBox="1"/>
          <p:nvPr/>
        </p:nvSpPr>
        <p:spPr>
          <a:xfrm>
            <a:off x="822960" y="5001768"/>
            <a:ext cx="10515600" cy="859536"/>
          </a:xfrm>
          <a:prstGeom prst="rect">
            <a:avLst/>
          </a:prstGeom>
          <a:noFill/>
          <a:ln/>
        </p:spPr>
        <p:txBody>
          <a:bodyPr wrap="square" lIns="0" tIns="0" rIns="0" bIns="0" rtlCol="0" anchor="t"/>
          <a:lstStyle/>
          <a:p>
            <a:pPr marL="0" indent="0">
              <a:buNone/>
            </a:pPr>
            <a:r>
              <a:rPr lang="en-US" sz="1050" dirty="0">
                <a:solidFill>
                  <a:srgbClr val="26242B"/>
                </a:solidFill>
                <a:latin typeface="Arial" pitchFamily="34" charset="0"/>
                <a:ea typeface="Arial" pitchFamily="34" charset="-122"/>
                <a:cs typeface="Arial" pitchFamily="34" charset="-120"/>
              </a:rPr>
              <a:t>The reply address in a message envelope is not authenticated, so a network attacker can redirect a response to an inbox of their choosing. The one-time request identifier still blocks replay, and nothing in a redirected reply is usable without the password </a:t>
            </a:r>
            <a:r>
              <a:rPr lang="ar-PS" sz="1050" dirty="0">
                <a:solidFill>
                  <a:srgbClr val="26242B"/>
                </a:solidFill>
                <a:latin typeface="Arial" pitchFamily="34" charset="0"/>
                <a:ea typeface="Arial" pitchFamily="34" charset="-122"/>
                <a:cs typeface="Arial" pitchFamily="34" charset="-120"/>
              </a:rPr>
              <a:t>,</a:t>
            </a:r>
            <a:r>
              <a:rPr lang="en-US" sz="1050" dirty="0">
                <a:solidFill>
                  <a:srgbClr val="26242B"/>
                </a:solidFill>
                <a:latin typeface="Arial" pitchFamily="34" charset="0"/>
                <a:ea typeface="Arial" pitchFamily="34" charset="-122"/>
                <a:cs typeface="Arial" pitchFamily="34" charset="-120"/>
              </a:rPr>
              <a:t> the private-key bundle is still wrapped and the session key is derived on both sides rather than transmitted. Authenticating the envelope, not only the body, would close it. This is the one place the simulated transport shows through into the security argument, and we would rather name it than have it found.</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21792" y="329184"/>
            <a:ext cx="9820656" cy="237744"/>
          </a:xfrm>
          <a:prstGeom prst="rect">
            <a:avLst/>
          </a:prstGeom>
          <a:noFill/>
          <a:ln/>
        </p:spPr>
        <p:txBody>
          <a:bodyPr wrap="square" lIns="0" tIns="0" rIns="0" bIns="0" rtlCol="0" anchor="ctr"/>
          <a:lstStyle/>
          <a:p>
            <a:pPr marL="0" indent="0">
              <a:buNone/>
            </a:pPr>
            <a:r>
              <a:rPr lang="en-US" sz="950" b="1" kern="0" spc="250" dirty="0">
                <a:solidFill>
                  <a:srgbClr val="C0392F"/>
                </a:solidFill>
                <a:latin typeface="Arial" pitchFamily="34" charset="0"/>
                <a:ea typeface="Arial" pitchFamily="34" charset="-122"/>
                <a:cs typeface="Arial" pitchFamily="34" charset="-120"/>
              </a:rPr>
              <a:t>PART 2 · EVIDENCE</a:t>
            </a:r>
            <a:endParaRPr lang="en-US" sz="950" dirty="0"/>
          </a:p>
        </p:txBody>
      </p:sp>
      <p:sp>
        <p:nvSpPr>
          <p:cNvPr id="3" name="Text 1"/>
          <p:cNvSpPr txBox="1"/>
          <p:nvPr/>
        </p:nvSpPr>
        <p:spPr>
          <a:xfrm>
            <a:off x="621792" y="603504"/>
            <a:ext cx="10917936" cy="530352"/>
          </a:xfrm>
          <a:prstGeom prst="rect">
            <a:avLst/>
          </a:prstGeom>
          <a:noFill/>
          <a:ln/>
        </p:spPr>
        <p:txBody>
          <a:bodyPr wrap="square" lIns="0" tIns="0" rIns="0" bIns="0" rtlCol="0" anchor="ctr"/>
          <a:lstStyle/>
          <a:p>
            <a:pPr marL="0" indent="0">
              <a:buNone/>
            </a:pPr>
            <a:r>
              <a:rPr lang="en-US" sz="2500" b="1" dirty="0">
                <a:solidFill>
                  <a:srgbClr val="26242B"/>
                </a:solidFill>
                <a:latin typeface="Bookman Old Style" pitchFamily="34" charset="0"/>
                <a:ea typeface="Bookman Old Style" pitchFamily="34" charset="-122"/>
                <a:cs typeface="Bookman Old Style" pitchFamily="34" charset="-120"/>
              </a:rPr>
              <a:t>Part 2 — evidence</a:t>
            </a:r>
            <a:endParaRPr lang="en-US" sz="2500" dirty="0"/>
          </a:p>
        </p:txBody>
      </p:sp>
      <p:sp>
        <p:nvSpPr>
          <p:cNvPr id="4" name="Text 2"/>
          <p:cNvSpPr txBox="1"/>
          <p:nvPr/>
        </p:nvSpPr>
        <p:spPr>
          <a:xfrm>
            <a:off x="621792" y="1133856"/>
            <a:ext cx="10917936" cy="274320"/>
          </a:xfrm>
          <a:prstGeom prst="rect">
            <a:avLst/>
          </a:prstGeom>
          <a:noFill/>
          <a:ln/>
        </p:spPr>
        <p:txBody>
          <a:bodyPr wrap="square" lIns="0" tIns="0" rIns="0" bIns="0" rtlCol="0" anchor="ctr"/>
          <a:lstStyle/>
          <a:p>
            <a:pPr marL="0" indent="0">
              <a:buNone/>
            </a:pPr>
            <a:r>
              <a:rPr lang="en-US" sz="1200" dirty="0">
                <a:solidFill>
                  <a:srgbClr val="76737E"/>
                </a:solidFill>
                <a:latin typeface="Arial" pitchFamily="34" charset="0"/>
                <a:ea typeface="Arial" pitchFamily="34" charset="-122"/>
                <a:cs typeface="Arial" pitchFamily="34" charset="-120"/>
              </a:rPr>
              <a:t>Primitives against published vectors; plumbing tested end to end</a:t>
            </a:r>
            <a:endParaRPr lang="en-US" sz="1200" dirty="0"/>
          </a:p>
        </p:txBody>
      </p:sp>
      <p:sp>
        <p:nvSpPr>
          <p:cNvPr id="5" name="Text 3"/>
          <p:cNvSpPr txBox="1"/>
          <p:nvPr/>
        </p:nvSpPr>
        <p:spPr>
          <a:xfrm>
            <a:off x="10899648" y="310896"/>
            <a:ext cx="640080" cy="274320"/>
          </a:xfrm>
          <a:prstGeom prst="rect">
            <a:avLst/>
          </a:prstGeom>
          <a:noFill/>
          <a:ln/>
        </p:spPr>
        <p:txBody>
          <a:bodyPr wrap="square" lIns="0" tIns="0" rIns="0" bIns="0" rtlCol="0" anchor="ctr"/>
          <a:lstStyle/>
          <a:p>
            <a:pPr marL="0" indent="0" algn="r">
              <a:buNone/>
            </a:pPr>
            <a:r>
              <a:rPr lang="en-US" sz="1100" b="1" dirty="0">
                <a:solidFill>
                  <a:srgbClr val="DEDCE2"/>
                </a:solidFill>
                <a:latin typeface="Arial" pitchFamily="34" charset="0"/>
                <a:ea typeface="Arial" pitchFamily="34" charset="-122"/>
                <a:cs typeface="Arial" pitchFamily="34" charset="-120"/>
              </a:rPr>
              <a:t>14</a:t>
            </a:r>
            <a:endParaRPr lang="en-US" sz="1100" dirty="0"/>
          </a:p>
        </p:txBody>
      </p:sp>
      <p:sp>
        <p:nvSpPr>
          <p:cNvPr id="6" name="Shape 4"/>
          <p:cNvSpPr/>
          <p:nvPr/>
        </p:nvSpPr>
        <p:spPr>
          <a:xfrm>
            <a:off x="621792" y="1481328"/>
            <a:ext cx="5577840" cy="1920240"/>
          </a:xfrm>
          <a:prstGeom prst="rect">
            <a:avLst/>
          </a:prstGeom>
          <a:solidFill>
            <a:srgbClr val="FFFFFF"/>
          </a:solidFill>
          <a:ln w="12700">
            <a:solidFill>
              <a:srgbClr val="DEDCE2"/>
            </a:solidFill>
            <a:prstDash val="solid"/>
          </a:ln>
        </p:spPr>
        <p:txBody>
          <a:bodyPr/>
          <a:lstStyle/>
          <a:p>
            <a:endParaRPr/>
          </a:p>
        </p:txBody>
      </p:sp>
      <p:sp>
        <p:nvSpPr>
          <p:cNvPr id="7" name="Text 5"/>
          <p:cNvSpPr txBox="1"/>
          <p:nvPr/>
        </p:nvSpPr>
        <p:spPr>
          <a:xfrm>
            <a:off x="822960" y="1618488"/>
            <a:ext cx="5175504" cy="292608"/>
          </a:xfrm>
          <a:prstGeom prst="rect">
            <a:avLst/>
          </a:prstGeom>
          <a:noFill/>
          <a:ln/>
        </p:spPr>
        <p:txBody>
          <a:bodyPr wrap="square" lIns="0" tIns="0" rIns="0" bIns="0" rtlCol="0" anchor="ctr"/>
          <a:lstStyle/>
          <a:p>
            <a:pPr marL="0" indent="0">
              <a:buNone/>
            </a:pPr>
            <a:r>
              <a:rPr lang="en-US" sz="1150" b="1" kern="0" spc="40" dirty="0">
                <a:solidFill>
                  <a:srgbClr val="26242B"/>
                </a:solidFill>
                <a:latin typeface="Arial" pitchFamily="34" charset="0"/>
                <a:ea typeface="Arial" pitchFamily="34" charset="-122"/>
                <a:cs typeface="Arial" pitchFamily="34" charset="-120"/>
              </a:rPr>
              <a:t>Primitives, against published vectors</a:t>
            </a:r>
            <a:endParaRPr lang="en-US" sz="1150" dirty="0"/>
          </a:p>
        </p:txBody>
      </p:sp>
      <p:sp>
        <p:nvSpPr>
          <p:cNvPr id="8" name="Text 6"/>
          <p:cNvSpPr txBox="1"/>
          <p:nvPr/>
        </p:nvSpPr>
        <p:spPr>
          <a:xfrm>
            <a:off x="822960" y="1975104"/>
            <a:ext cx="5175504" cy="1298448"/>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6242B"/>
                </a:solidFill>
                <a:latin typeface="Arial" pitchFamily="34" charset="0"/>
                <a:ea typeface="Arial" pitchFamily="34" charset="-122"/>
                <a:cs typeface="Arial" pitchFamily="34" charset="-120"/>
              </a:rPr>
              <a:t>ChaCha20 block function — RFC 8439 §2.3.2 matches</a:t>
            </a:r>
            <a:endParaRPr lang="en-US" sz="1050" dirty="0"/>
          </a:p>
          <a:p>
            <a:pPr marL="342900" indent="-342900">
              <a:spcAft>
                <a:spcPts val="400"/>
              </a:spcAft>
              <a:buSzPct val="100000"/>
              <a:buChar char="–"/>
            </a:pPr>
            <a:r>
              <a:rPr lang="en-US" sz="1050" dirty="0">
                <a:solidFill>
                  <a:srgbClr val="26242B"/>
                </a:solidFill>
                <a:latin typeface="Arial" pitchFamily="34" charset="0"/>
                <a:ea typeface="Arial" pitchFamily="34" charset="-122"/>
                <a:cs typeface="Arial" pitchFamily="34" charset="-120"/>
              </a:rPr>
              <a:t>ChaCha20 encryption — RFC 8439 §2.4.2 matches</a:t>
            </a:r>
            <a:endParaRPr lang="en-US" sz="1050" dirty="0"/>
          </a:p>
          <a:p>
            <a:pPr marL="342900" indent="-342900">
              <a:spcAft>
                <a:spcPts val="400"/>
              </a:spcAft>
              <a:buSzPct val="100000"/>
              <a:buChar char="–"/>
            </a:pPr>
            <a:r>
              <a:rPr lang="en-US" sz="1050" dirty="0">
                <a:solidFill>
                  <a:srgbClr val="26242B"/>
                </a:solidFill>
                <a:latin typeface="Arial" pitchFamily="34" charset="0"/>
                <a:ea typeface="Arial" pitchFamily="34" charset="-122"/>
                <a:cs typeface="Arial" pitchFamily="34" charset="-120"/>
              </a:rPr>
              <a:t>Poly1305 — RFC 8439 §2.5.2 matches, including the empty-message case</a:t>
            </a:r>
            <a:endParaRPr lang="en-US" sz="1050" dirty="0"/>
          </a:p>
          <a:p>
            <a:pPr marL="342900" indent="-342900">
              <a:spcAft>
                <a:spcPts val="400"/>
              </a:spcAft>
              <a:buSzPct val="100000"/>
              <a:buChar char="–"/>
            </a:pPr>
            <a:r>
              <a:rPr lang="en-US" sz="1050" dirty="0">
                <a:solidFill>
                  <a:srgbClr val="26242B"/>
                </a:solidFill>
                <a:latin typeface="Arial" pitchFamily="34" charset="0"/>
                <a:ea typeface="Arial" pitchFamily="34" charset="-122"/>
                <a:cs typeface="Arial" pitchFamily="34" charset="-120"/>
              </a:rPr>
              <a:t>Full ChaCha20-Poly1305 — RFC 8439 §2.8.2 ciphertext and tag both match</a:t>
            </a:r>
            <a:endParaRPr lang="en-US" sz="1050" dirty="0"/>
          </a:p>
          <a:p>
            <a:pPr marL="342900" indent="-342900">
              <a:spcAft>
                <a:spcPts val="400"/>
              </a:spcAft>
              <a:buSzPct val="100000"/>
              <a:buChar char="–"/>
            </a:pPr>
            <a:r>
              <a:rPr lang="en-US" sz="1050" dirty="0">
                <a:solidFill>
                  <a:srgbClr val="26242B"/>
                </a:solidFill>
                <a:latin typeface="Arial" pitchFamily="34" charset="0"/>
                <a:ea typeface="Arial" pitchFamily="34" charset="-122"/>
                <a:cs typeface="Arial" pitchFamily="34" charset="-120"/>
              </a:rPr>
              <a:t>SHA-256 — agrees with a reference implementation</a:t>
            </a:r>
            <a:endParaRPr lang="en-US" sz="1050" dirty="0"/>
          </a:p>
        </p:txBody>
      </p:sp>
      <p:sp>
        <p:nvSpPr>
          <p:cNvPr id="9" name="Shape 7"/>
          <p:cNvSpPr/>
          <p:nvPr/>
        </p:nvSpPr>
        <p:spPr>
          <a:xfrm>
            <a:off x="6565392" y="1481328"/>
            <a:ext cx="4974336" cy="1920240"/>
          </a:xfrm>
          <a:prstGeom prst="rect">
            <a:avLst/>
          </a:prstGeom>
          <a:solidFill>
            <a:srgbClr val="FFFFFF"/>
          </a:solidFill>
          <a:ln w="12700">
            <a:solidFill>
              <a:srgbClr val="DEDCE2"/>
            </a:solidFill>
            <a:prstDash val="solid"/>
          </a:ln>
        </p:spPr>
        <p:txBody>
          <a:bodyPr/>
          <a:lstStyle/>
          <a:p>
            <a:endParaRPr/>
          </a:p>
        </p:txBody>
      </p:sp>
      <p:sp>
        <p:nvSpPr>
          <p:cNvPr id="10" name="Text 8"/>
          <p:cNvSpPr txBox="1"/>
          <p:nvPr/>
        </p:nvSpPr>
        <p:spPr>
          <a:xfrm>
            <a:off x="6766560" y="1618488"/>
            <a:ext cx="4572000" cy="292608"/>
          </a:xfrm>
          <a:prstGeom prst="rect">
            <a:avLst/>
          </a:prstGeom>
          <a:noFill/>
          <a:ln/>
        </p:spPr>
        <p:txBody>
          <a:bodyPr wrap="square" lIns="0" tIns="0" rIns="0" bIns="0" rtlCol="0" anchor="ctr"/>
          <a:lstStyle/>
          <a:p>
            <a:pPr marL="0" indent="0">
              <a:buNone/>
            </a:pPr>
            <a:r>
              <a:rPr lang="en-US" sz="1150" b="1" kern="0" spc="40" dirty="0">
                <a:solidFill>
                  <a:srgbClr val="26242B"/>
                </a:solidFill>
                <a:latin typeface="Arial" pitchFamily="34" charset="0"/>
                <a:ea typeface="Arial" pitchFamily="34" charset="-122"/>
                <a:cs typeface="Arial" pitchFamily="34" charset="-120"/>
              </a:rPr>
              <a:t>The application path</a:t>
            </a:r>
            <a:endParaRPr lang="en-US" sz="1150" dirty="0"/>
          </a:p>
        </p:txBody>
      </p:sp>
      <p:sp>
        <p:nvSpPr>
          <p:cNvPr id="11" name="Text 9"/>
          <p:cNvSpPr txBox="1"/>
          <p:nvPr/>
        </p:nvSpPr>
        <p:spPr>
          <a:xfrm>
            <a:off x="6766560" y="1975104"/>
            <a:ext cx="4572000" cy="1298448"/>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6242B"/>
                </a:solidFill>
                <a:latin typeface="Arial" pitchFamily="34" charset="0"/>
                <a:ea typeface="Arial" pitchFamily="34" charset="-122"/>
                <a:cs typeface="Arial" pitchFamily="34" charset="-120"/>
              </a:rPr>
              <a:t>Parsers reject wrong headers, truncated fields and trailing bytes</a:t>
            </a:r>
            <a:endParaRPr lang="en-US" sz="1050" dirty="0"/>
          </a:p>
          <a:p>
            <a:pPr marL="342900" indent="-342900">
              <a:spcAft>
                <a:spcPts val="400"/>
              </a:spcAft>
              <a:buSzPct val="100000"/>
              <a:buChar char="–"/>
            </a:pPr>
            <a:r>
              <a:rPr lang="en-US" sz="1050" dirty="0">
                <a:solidFill>
                  <a:srgbClr val="26242B"/>
                </a:solidFill>
                <a:latin typeface="Arial" pitchFamily="34" charset="0"/>
                <a:ea typeface="Arial" pitchFamily="34" charset="-122"/>
                <a:cs typeface="Arial" pitchFamily="34" charset="-120"/>
              </a:rPr>
              <a:t>A tampered tag or altered metadata fails before any plaintext is returned</a:t>
            </a:r>
            <a:endParaRPr lang="en-US" sz="1050" dirty="0"/>
          </a:p>
          <a:p>
            <a:pPr marL="342900" indent="-342900">
              <a:spcAft>
                <a:spcPts val="400"/>
              </a:spcAft>
              <a:buSzPct val="100000"/>
              <a:buChar char="–"/>
            </a:pPr>
            <a:r>
              <a:rPr lang="en-US" sz="1050" dirty="0">
                <a:solidFill>
                  <a:srgbClr val="26242B"/>
                </a:solidFill>
                <a:latin typeface="Arial" pitchFamily="34" charset="0"/>
                <a:ea typeface="Arial" pitchFamily="34" charset="-122"/>
                <a:cs typeface="Arial" pitchFamily="34" charset="-120"/>
              </a:rPr>
              <a:t>A full-system runner executes the real Layla → Omar flow and tests replay, tampering and TOFU substitution</a:t>
            </a:r>
            <a:endParaRPr lang="en-US" sz="1050" dirty="0"/>
          </a:p>
          <a:p>
            <a:pPr marL="342900" indent="-342900">
              <a:spcAft>
                <a:spcPts val="400"/>
              </a:spcAft>
              <a:buSzPct val="100000"/>
              <a:buChar char="–"/>
            </a:pPr>
            <a:r>
              <a:rPr lang="en-US" sz="1050" dirty="0">
                <a:solidFill>
                  <a:srgbClr val="26242B"/>
                </a:solidFill>
                <a:latin typeface="Arial" pitchFamily="34" charset="0"/>
                <a:ea typeface="Arial" pitchFamily="34" charset="-122"/>
                <a:cs typeface="Arial" pitchFamily="34" charset="-120"/>
              </a:rPr>
              <a:t>Two client directories keep separate identities through a server restart</a:t>
            </a:r>
            <a:endParaRPr lang="en-US" sz="1050" dirty="0"/>
          </a:p>
        </p:txBody>
      </p:sp>
      <p:sp>
        <p:nvSpPr>
          <p:cNvPr id="12" name="Shape 10"/>
          <p:cNvSpPr/>
          <p:nvPr/>
        </p:nvSpPr>
        <p:spPr>
          <a:xfrm>
            <a:off x="621792" y="3566160"/>
            <a:ext cx="5577840" cy="1463040"/>
          </a:xfrm>
          <a:prstGeom prst="rect">
            <a:avLst/>
          </a:prstGeom>
          <a:solidFill>
            <a:srgbClr val="FFFFFF"/>
          </a:solidFill>
          <a:ln w="12700">
            <a:solidFill>
              <a:srgbClr val="DEDCE2"/>
            </a:solidFill>
            <a:prstDash val="solid"/>
          </a:ln>
        </p:spPr>
        <p:txBody>
          <a:bodyPr/>
          <a:lstStyle/>
          <a:p>
            <a:endParaRPr/>
          </a:p>
        </p:txBody>
      </p:sp>
      <p:sp>
        <p:nvSpPr>
          <p:cNvPr id="13" name="Text 11"/>
          <p:cNvSpPr txBox="1"/>
          <p:nvPr/>
        </p:nvSpPr>
        <p:spPr>
          <a:xfrm>
            <a:off x="822960" y="3703320"/>
            <a:ext cx="5175504" cy="292608"/>
          </a:xfrm>
          <a:prstGeom prst="rect">
            <a:avLst/>
          </a:prstGeom>
          <a:noFill/>
          <a:ln/>
        </p:spPr>
        <p:txBody>
          <a:bodyPr wrap="square" lIns="0" tIns="0" rIns="0" bIns="0" rtlCol="0" anchor="ctr"/>
          <a:lstStyle/>
          <a:p>
            <a:pPr marL="0" indent="0">
              <a:buNone/>
            </a:pPr>
            <a:r>
              <a:rPr lang="en-US" sz="1150" b="1" kern="0" spc="40" dirty="0">
                <a:solidFill>
                  <a:srgbClr val="26242B"/>
                </a:solidFill>
                <a:latin typeface="Arial" pitchFamily="34" charset="0"/>
                <a:ea typeface="Arial" pitchFamily="34" charset="-122"/>
                <a:cs typeface="Arial" pitchFamily="34" charset="-120"/>
              </a:rPr>
              <a:t>What this proves, and what it does not</a:t>
            </a:r>
            <a:endParaRPr lang="en-US" sz="1150" dirty="0"/>
          </a:p>
        </p:txBody>
      </p:sp>
      <p:sp>
        <p:nvSpPr>
          <p:cNvPr id="14" name="Text 12"/>
          <p:cNvSpPr txBox="1"/>
          <p:nvPr/>
        </p:nvSpPr>
        <p:spPr>
          <a:xfrm>
            <a:off x="822960" y="4041648"/>
            <a:ext cx="5175504" cy="859536"/>
          </a:xfrm>
          <a:prstGeom prst="rect">
            <a:avLst/>
          </a:prstGeom>
          <a:noFill/>
          <a:ln/>
        </p:spPr>
        <p:txBody>
          <a:bodyPr wrap="square" lIns="0" tIns="0" rIns="0" bIns="0" rtlCol="0" anchor="t"/>
          <a:lstStyle/>
          <a:p>
            <a:pPr marL="0" indent="0">
              <a:buNone/>
            </a:pPr>
            <a:r>
              <a:rPr lang="en-US" sz="1050" dirty="0">
                <a:solidFill>
                  <a:srgbClr val="26242B"/>
                </a:solidFill>
                <a:latin typeface="Arial" pitchFamily="34" charset="0"/>
                <a:ea typeface="Arial" pitchFamily="34" charset="-122"/>
                <a:cs typeface="Arial" pitchFamily="34" charset="-120"/>
              </a:rPr>
              <a:t>It proves the primitives match known correct outputs rather than merely being self-consistent, and that the parts work together over the real path. It does not prove the absence of side channels, which we have not measured beyond the login timing check.</a:t>
            </a:r>
            <a:endParaRPr lang="en-US" sz="1050" dirty="0"/>
          </a:p>
        </p:txBody>
      </p:sp>
      <p:sp>
        <p:nvSpPr>
          <p:cNvPr id="15" name="Shape 13"/>
          <p:cNvSpPr/>
          <p:nvPr/>
        </p:nvSpPr>
        <p:spPr>
          <a:xfrm>
            <a:off x="6565392" y="3566160"/>
            <a:ext cx="4974336" cy="1463040"/>
          </a:xfrm>
          <a:prstGeom prst="rect">
            <a:avLst/>
          </a:prstGeom>
          <a:solidFill>
            <a:srgbClr val="3C4F3F"/>
          </a:solidFill>
          <a:ln w="12700">
            <a:solidFill>
              <a:srgbClr val="3C4F3F"/>
            </a:solidFill>
            <a:prstDash val="solid"/>
          </a:ln>
        </p:spPr>
        <p:txBody>
          <a:bodyPr/>
          <a:lstStyle/>
          <a:p>
            <a:endParaRPr/>
          </a:p>
        </p:txBody>
      </p:sp>
      <p:sp>
        <p:nvSpPr>
          <p:cNvPr id="16" name="Text 14"/>
          <p:cNvSpPr txBox="1"/>
          <p:nvPr/>
        </p:nvSpPr>
        <p:spPr>
          <a:xfrm>
            <a:off x="6766560" y="3703320"/>
            <a:ext cx="4572000" cy="292608"/>
          </a:xfrm>
          <a:prstGeom prst="rect">
            <a:avLst/>
          </a:prstGeom>
          <a:noFill/>
          <a:ln/>
        </p:spPr>
        <p:txBody>
          <a:bodyPr wrap="square" lIns="0" tIns="0" rIns="0" bIns="0" rtlCol="0" anchor="ctr"/>
          <a:lstStyle/>
          <a:p>
            <a:pPr marL="0" indent="0">
              <a:buNone/>
            </a:pPr>
            <a:r>
              <a:rPr lang="en-US" sz="1150" b="1" kern="0" spc="40" dirty="0">
                <a:solidFill>
                  <a:srgbClr val="FFFFFF"/>
                </a:solidFill>
                <a:latin typeface="Arial" pitchFamily="34" charset="0"/>
                <a:ea typeface="Arial" pitchFamily="34" charset="-122"/>
                <a:cs typeface="Arial" pitchFamily="34" charset="-120"/>
              </a:rPr>
              <a:t>Library declaration for this part</a:t>
            </a:r>
            <a:endParaRPr lang="en-US" sz="1150" dirty="0"/>
          </a:p>
        </p:txBody>
      </p:sp>
      <p:sp>
        <p:nvSpPr>
          <p:cNvPr id="17" name="Text 15"/>
          <p:cNvSpPr txBox="1"/>
          <p:nvPr/>
        </p:nvSpPr>
        <p:spPr>
          <a:xfrm>
            <a:off x="6766560" y="4041648"/>
            <a:ext cx="4572000" cy="859536"/>
          </a:xfrm>
          <a:prstGeom prst="rect">
            <a:avLst/>
          </a:prstGeom>
          <a:noFill/>
          <a:ln/>
        </p:spPr>
        <p:txBody>
          <a:bodyPr wrap="square" lIns="0" tIns="0" rIns="0" bIns="0" rtlCol="0" anchor="t"/>
          <a:lstStyle/>
          <a:p>
            <a:pPr marL="0" indent="0">
              <a:buNone/>
            </a:pPr>
            <a:r>
              <a:rPr lang="en-US" sz="1050" dirty="0">
                <a:solidFill>
                  <a:srgbClr val="DCE3DC"/>
                </a:solidFill>
                <a:latin typeface="Arial" pitchFamily="34" charset="0"/>
                <a:ea typeface="Arial" pitchFamily="34" charset="-122"/>
                <a:cs typeface="Arial" pitchFamily="34" charset="-120"/>
              </a:rPr>
              <a:t>None. SHA-256, ChaCha20, Poly1305 and the AEAD construction are all written by the team. A reference library appears only inside test files, to compare our output against — never as the implementation.</a:t>
            </a:r>
            <a:endParaRPr lang="en-US" sz="1050" dirty="0"/>
          </a:p>
        </p:txBody>
      </p:sp>
      <p:sp>
        <p:nvSpPr>
          <p:cNvPr id="18" name="Shape 16"/>
          <p:cNvSpPr/>
          <p:nvPr/>
        </p:nvSpPr>
        <p:spPr>
          <a:xfrm>
            <a:off x="621792" y="5193792"/>
            <a:ext cx="10917936" cy="795528"/>
          </a:xfrm>
          <a:prstGeom prst="rect">
            <a:avLst/>
          </a:prstGeom>
          <a:solidFill>
            <a:srgbClr val="F7F5F6"/>
          </a:solidFill>
          <a:ln w="15875">
            <a:solidFill>
              <a:srgbClr val="C0392F"/>
            </a:solidFill>
            <a:prstDash val="solid"/>
          </a:ln>
        </p:spPr>
        <p:txBody>
          <a:bodyPr/>
          <a:lstStyle/>
          <a:p>
            <a:endParaRPr/>
          </a:p>
        </p:txBody>
      </p:sp>
      <p:sp>
        <p:nvSpPr>
          <p:cNvPr id="19" name="Text 17"/>
          <p:cNvSpPr txBox="1"/>
          <p:nvPr/>
        </p:nvSpPr>
        <p:spPr>
          <a:xfrm>
            <a:off x="822960" y="5330952"/>
            <a:ext cx="10515600" cy="292608"/>
          </a:xfrm>
          <a:prstGeom prst="rect">
            <a:avLst/>
          </a:prstGeom>
          <a:noFill/>
          <a:ln/>
        </p:spPr>
        <p:txBody>
          <a:bodyPr wrap="square" lIns="0" tIns="0" rIns="0" bIns="0" rtlCol="0" anchor="ctr"/>
          <a:lstStyle/>
          <a:p>
            <a:pPr marL="0" indent="0">
              <a:buNone/>
            </a:pPr>
            <a:r>
              <a:rPr lang="en-US" sz="1150" b="1" kern="0" spc="40" dirty="0">
                <a:solidFill>
                  <a:srgbClr val="C0392F"/>
                </a:solidFill>
                <a:latin typeface="Arial" pitchFamily="34" charset="0"/>
                <a:ea typeface="Arial" pitchFamily="34" charset="-122"/>
                <a:cs typeface="Arial" pitchFamily="34" charset="-120"/>
              </a:rPr>
              <a:t>The test that mattered most during integration</a:t>
            </a:r>
            <a:endParaRPr lang="en-US" sz="1150" dirty="0"/>
          </a:p>
        </p:txBody>
      </p:sp>
      <p:sp>
        <p:nvSpPr>
          <p:cNvPr id="20" name="Text 18"/>
          <p:cNvSpPr txBox="1"/>
          <p:nvPr/>
        </p:nvSpPr>
        <p:spPr>
          <a:xfrm>
            <a:off x="822960" y="5669280"/>
            <a:ext cx="10515600" cy="320040"/>
          </a:xfrm>
          <a:prstGeom prst="rect">
            <a:avLst/>
          </a:prstGeom>
          <a:noFill/>
          <a:ln/>
        </p:spPr>
        <p:txBody>
          <a:bodyPr wrap="square" lIns="0" tIns="0" rIns="0" bIns="0" rtlCol="0" anchor="t"/>
          <a:lstStyle/>
          <a:p>
            <a:pPr marL="0" indent="0">
              <a:buNone/>
            </a:pPr>
            <a:r>
              <a:rPr lang="en-US" sz="1050" dirty="0">
                <a:solidFill>
                  <a:srgbClr val="26242B"/>
                </a:solidFill>
                <a:latin typeface="Arial" pitchFamily="34" charset="0"/>
                <a:ea typeface="Arial" pitchFamily="34" charset="-122"/>
                <a:cs typeface="Arial" pitchFamily="34" charset="-120"/>
              </a:rPr>
              <a:t>This caught a seam bug: changing the AEAD function signature could swap AAD and plaintext without a type error. The integration test caught the wrong result instead of letting a silent mismatch pass.</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C1B1F"/>
        </a:solidFill>
        <a:effectLst/>
      </p:bgPr>
    </p:bg>
    <p:spTree>
      <p:nvGrpSpPr>
        <p:cNvPr id="1" name=""/>
        <p:cNvGrpSpPr/>
        <p:nvPr/>
      </p:nvGrpSpPr>
      <p:grpSpPr>
        <a:xfrm>
          <a:off x="0" y="0"/>
          <a:ext cx="0" cy="0"/>
          <a:chOff x="0" y="0"/>
          <a:chExt cx="0" cy="0"/>
        </a:xfrm>
      </p:grpSpPr>
      <p:sp>
        <p:nvSpPr>
          <p:cNvPr id="2" name="Text 0"/>
          <p:cNvSpPr txBox="1"/>
          <p:nvPr/>
        </p:nvSpPr>
        <p:spPr>
          <a:xfrm>
            <a:off x="621792" y="1828800"/>
            <a:ext cx="10917936" cy="274320"/>
          </a:xfrm>
          <a:prstGeom prst="rect">
            <a:avLst/>
          </a:prstGeom>
          <a:noFill/>
          <a:ln/>
        </p:spPr>
        <p:txBody>
          <a:bodyPr wrap="square" lIns="0" tIns="0" rIns="0" bIns="0" rtlCol="0" anchor="ctr"/>
          <a:lstStyle/>
          <a:p>
            <a:pPr marL="0" indent="0">
              <a:buNone/>
            </a:pPr>
            <a:r>
              <a:rPr lang="en-US" sz="1100" b="1" kern="0" spc="300" dirty="0">
                <a:solidFill>
                  <a:srgbClr val="C0392F"/>
                </a:solidFill>
                <a:latin typeface="Arial" pitchFamily="34" charset="0"/>
                <a:ea typeface="Arial" pitchFamily="34" charset="-122"/>
                <a:cs typeface="Arial" pitchFamily="34" charset="-120"/>
              </a:rPr>
              <a:t>PART THREE</a:t>
            </a:r>
            <a:endParaRPr lang="en-US" sz="1100" dirty="0"/>
          </a:p>
        </p:txBody>
      </p:sp>
      <p:sp>
        <p:nvSpPr>
          <p:cNvPr id="3" name="Text 1"/>
          <p:cNvSpPr txBox="1"/>
          <p:nvPr/>
        </p:nvSpPr>
        <p:spPr>
          <a:xfrm>
            <a:off x="621792" y="2212848"/>
            <a:ext cx="9089136" cy="1005840"/>
          </a:xfrm>
          <a:prstGeom prst="rect">
            <a:avLst/>
          </a:prstGeom>
          <a:noFill/>
          <a:ln/>
        </p:spPr>
        <p:txBody>
          <a:bodyPr wrap="square" lIns="0" tIns="0" rIns="0" bIns="0" rtlCol="0" anchor="ctr"/>
          <a:lstStyle/>
          <a:p>
            <a:pPr marL="0" indent="0">
              <a:buNone/>
            </a:pPr>
            <a:r>
              <a:rPr lang="en-US" sz="3600" b="1" dirty="0">
                <a:solidFill>
                  <a:srgbClr val="FFFFFF"/>
                </a:solidFill>
                <a:latin typeface="Bookman Old Style" pitchFamily="34" charset="0"/>
                <a:ea typeface="Bookman Old Style" pitchFamily="34" charset="-122"/>
                <a:cs typeface="Bookman Old Style" pitchFamily="34" charset="-120"/>
              </a:rPr>
              <a:t>Sharing, trust and freshness</a:t>
            </a:r>
            <a:endParaRPr lang="en-US" sz="3600" dirty="0"/>
          </a:p>
        </p:txBody>
      </p:sp>
      <p:sp>
        <p:nvSpPr>
          <p:cNvPr id="4" name="Text 2"/>
          <p:cNvSpPr txBox="1"/>
          <p:nvPr/>
        </p:nvSpPr>
        <p:spPr>
          <a:xfrm>
            <a:off x="621792" y="3310128"/>
            <a:ext cx="8174736" cy="457200"/>
          </a:xfrm>
          <a:prstGeom prst="rect">
            <a:avLst/>
          </a:prstGeom>
          <a:noFill/>
          <a:ln/>
        </p:spPr>
        <p:txBody>
          <a:bodyPr wrap="square" lIns="0" tIns="0" rIns="0" bIns="0" rtlCol="0" anchor="ctr"/>
          <a:lstStyle/>
          <a:p>
            <a:pPr marL="0" indent="0">
              <a:buNone/>
            </a:pPr>
            <a:r>
              <a:rPr lang="en-US" sz="1350" dirty="0">
                <a:solidFill>
                  <a:srgbClr val="A6A2AE"/>
                </a:solidFill>
                <a:latin typeface="Arial" pitchFamily="34" charset="0"/>
                <a:ea typeface="Arial" pitchFamily="34" charset="-122"/>
                <a:cs typeface="Arial" pitchFamily="34" charset="-120"/>
              </a:rPr>
              <a:t>Getting one document key from Layla to Omar over an untrusted server</a:t>
            </a:r>
            <a:endParaRPr lang="en-US" sz="1350" dirty="0"/>
          </a:p>
        </p:txBody>
      </p:sp>
      <p:sp>
        <p:nvSpPr>
          <p:cNvPr id="5" name="Shape 3"/>
          <p:cNvSpPr/>
          <p:nvPr/>
        </p:nvSpPr>
        <p:spPr>
          <a:xfrm>
            <a:off x="621792" y="4069080"/>
            <a:ext cx="10917936" cy="0"/>
          </a:xfrm>
          <a:prstGeom prst="line">
            <a:avLst/>
          </a:prstGeom>
          <a:noFill/>
          <a:ln w="9525">
            <a:solidFill>
              <a:srgbClr val="4A4653"/>
            </a:solidFill>
            <a:prstDash val="solid"/>
          </a:ln>
        </p:spPr>
      </p:sp>
      <p:sp>
        <p:nvSpPr>
          <p:cNvPr id="6" name="Text 4"/>
          <p:cNvSpPr txBox="1"/>
          <p:nvPr/>
        </p:nvSpPr>
        <p:spPr>
          <a:xfrm>
            <a:off x="621792" y="4224528"/>
            <a:ext cx="548640" cy="274320"/>
          </a:xfrm>
          <a:prstGeom prst="rect">
            <a:avLst/>
          </a:prstGeom>
          <a:noFill/>
          <a:ln/>
        </p:spPr>
        <p:txBody>
          <a:bodyPr wrap="square" lIns="0" tIns="0" rIns="0" bIns="0" rtlCol="0" anchor="ctr"/>
          <a:lstStyle/>
          <a:p>
            <a:pPr marL="0" indent="0">
              <a:buNone/>
            </a:pPr>
            <a:r>
              <a:rPr lang="en-US" sz="1100" b="1" dirty="0">
                <a:solidFill>
                  <a:srgbClr val="C0392F"/>
                </a:solidFill>
                <a:latin typeface="Arial" pitchFamily="34" charset="0"/>
                <a:ea typeface="Arial" pitchFamily="34" charset="-122"/>
                <a:cs typeface="Arial" pitchFamily="34" charset="-120"/>
              </a:rPr>
              <a:t>01</a:t>
            </a:r>
            <a:endParaRPr lang="en-US" sz="1100" dirty="0"/>
          </a:p>
        </p:txBody>
      </p:sp>
      <p:sp>
        <p:nvSpPr>
          <p:cNvPr id="7" name="Text 5"/>
          <p:cNvSpPr txBox="1"/>
          <p:nvPr/>
        </p:nvSpPr>
        <p:spPr>
          <a:xfrm>
            <a:off x="621792" y="4517136"/>
            <a:ext cx="3273552" cy="640080"/>
          </a:xfrm>
          <a:prstGeom prst="rect">
            <a:avLst/>
          </a:prstGeom>
          <a:noFill/>
          <a:ln/>
        </p:spPr>
        <p:txBody>
          <a:bodyPr wrap="square" lIns="0" tIns="0" rIns="0" bIns="0" rtlCol="0" anchor="t"/>
          <a:lstStyle/>
          <a:p>
            <a:pPr marL="0" indent="0">
              <a:buNone/>
            </a:pPr>
            <a:r>
              <a:rPr lang="en-US" sz="1150" dirty="0">
                <a:solidFill>
                  <a:srgbClr val="C6C2CC"/>
                </a:solidFill>
                <a:latin typeface="Arial" pitchFamily="34" charset="0"/>
                <a:ea typeface="Arial" pitchFamily="34" charset="-122"/>
                <a:cs typeface="Arial" pitchFamily="34" charset="-120"/>
              </a:rPr>
              <a:t>Decision 7.3 and Decision 7.4</a:t>
            </a:r>
            <a:endParaRPr lang="en-US" sz="1150" dirty="0"/>
          </a:p>
        </p:txBody>
      </p:sp>
      <p:sp>
        <p:nvSpPr>
          <p:cNvPr id="8" name="Text 6"/>
          <p:cNvSpPr txBox="1"/>
          <p:nvPr/>
        </p:nvSpPr>
        <p:spPr>
          <a:xfrm>
            <a:off x="4261104" y="4224528"/>
            <a:ext cx="548640" cy="274320"/>
          </a:xfrm>
          <a:prstGeom prst="rect">
            <a:avLst/>
          </a:prstGeom>
          <a:noFill/>
          <a:ln/>
        </p:spPr>
        <p:txBody>
          <a:bodyPr wrap="square" lIns="0" tIns="0" rIns="0" bIns="0" rtlCol="0" anchor="ctr"/>
          <a:lstStyle/>
          <a:p>
            <a:pPr marL="0" indent="0">
              <a:buNone/>
            </a:pPr>
            <a:r>
              <a:rPr lang="en-US" sz="1100" b="1" dirty="0">
                <a:solidFill>
                  <a:srgbClr val="C0392F"/>
                </a:solidFill>
                <a:latin typeface="Arial" pitchFamily="34" charset="0"/>
                <a:ea typeface="Arial" pitchFamily="34" charset="-122"/>
                <a:cs typeface="Arial" pitchFamily="34" charset="-120"/>
              </a:rPr>
              <a:t>02</a:t>
            </a:r>
            <a:endParaRPr lang="en-US" sz="1100" dirty="0"/>
          </a:p>
        </p:txBody>
      </p:sp>
      <p:sp>
        <p:nvSpPr>
          <p:cNvPr id="9" name="Text 7"/>
          <p:cNvSpPr txBox="1"/>
          <p:nvPr/>
        </p:nvSpPr>
        <p:spPr>
          <a:xfrm>
            <a:off x="4261104" y="4517136"/>
            <a:ext cx="3273552" cy="640080"/>
          </a:xfrm>
          <a:prstGeom prst="rect">
            <a:avLst/>
          </a:prstGeom>
          <a:noFill/>
          <a:ln/>
        </p:spPr>
        <p:txBody>
          <a:bodyPr wrap="square" lIns="0" tIns="0" rIns="0" bIns="0" rtlCol="0" anchor="t"/>
          <a:lstStyle/>
          <a:p>
            <a:pPr marL="0" indent="0">
              <a:buNone/>
            </a:pPr>
            <a:r>
              <a:rPr lang="en-US" sz="1150" dirty="0">
                <a:solidFill>
                  <a:srgbClr val="C6C2CC"/>
                </a:solidFill>
                <a:latin typeface="Arial" pitchFamily="34" charset="0"/>
                <a:ea typeface="Arial" pitchFamily="34" charset="-122"/>
                <a:cs typeface="Arial" pitchFamily="34" charset="-120"/>
              </a:rPr>
              <a:t>The share object</a:t>
            </a:r>
            <a:endParaRPr lang="en-US" sz="1150" dirty="0"/>
          </a:p>
        </p:txBody>
      </p:sp>
      <p:sp>
        <p:nvSpPr>
          <p:cNvPr id="10" name="Text 8"/>
          <p:cNvSpPr txBox="1"/>
          <p:nvPr/>
        </p:nvSpPr>
        <p:spPr>
          <a:xfrm>
            <a:off x="7900416" y="4224528"/>
            <a:ext cx="548640" cy="274320"/>
          </a:xfrm>
          <a:prstGeom prst="rect">
            <a:avLst/>
          </a:prstGeom>
          <a:noFill/>
          <a:ln/>
        </p:spPr>
        <p:txBody>
          <a:bodyPr wrap="square" lIns="0" tIns="0" rIns="0" bIns="0" rtlCol="0" anchor="ctr"/>
          <a:lstStyle/>
          <a:p>
            <a:pPr marL="0" indent="0">
              <a:buNone/>
            </a:pPr>
            <a:r>
              <a:rPr lang="en-US" sz="1100" b="1" dirty="0">
                <a:solidFill>
                  <a:srgbClr val="C0392F"/>
                </a:solidFill>
                <a:latin typeface="Arial" pitchFamily="34" charset="0"/>
                <a:ea typeface="Arial" pitchFamily="34" charset="-122"/>
                <a:cs typeface="Arial" pitchFamily="34" charset="-120"/>
              </a:rPr>
              <a:t>03</a:t>
            </a:r>
            <a:endParaRPr lang="en-US" sz="1100" dirty="0"/>
          </a:p>
        </p:txBody>
      </p:sp>
      <p:sp>
        <p:nvSpPr>
          <p:cNvPr id="11" name="Text 9"/>
          <p:cNvSpPr txBox="1"/>
          <p:nvPr/>
        </p:nvSpPr>
        <p:spPr>
          <a:xfrm>
            <a:off x="7900416" y="4517136"/>
            <a:ext cx="3273552" cy="640080"/>
          </a:xfrm>
          <a:prstGeom prst="rect">
            <a:avLst/>
          </a:prstGeom>
          <a:noFill/>
          <a:ln/>
        </p:spPr>
        <p:txBody>
          <a:bodyPr wrap="square" lIns="0" tIns="0" rIns="0" bIns="0" rtlCol="0" anchor="t"/>
          <a:lstStyle/>
          <a:p>
            <a:pPr marL="0" indent="0">
              <a:buNone/>
            </a:pPr>
            <a:r>
              <a:rPr lang="en-US" sz="1150" dirty="0">
                <a:solidFill>
                  <a:srgbClr val="C6C2CC"/>
                </a:solidFill>
                <a:latin typeface="Arial" pitchFamily="34" charset="0"/>
                <a:ea typeface="Arial" pitchFamily="34" charset="-122"/>
                <a:cs typeface="Arial" pitchFamily="34" charset="-120"/>
              </a:rPr>
              <a:t>Freshness, replay and evidence</a:t>
            </a:r>
            <a:endParaRPr lang="en-US" sz="1150" dirty="0"/>
          </a:p>
        </p:txBody>
      </p:sp>
      <p:sp>
        <p:nvSpPr>
          <p:cNvPr id="12" name="Text 10"/>
          <p:cNvSpPr txBox="1"/>
          <p:nvPr/>
        </p:nvSpPr>
        <p:spPr>
          <a:xfrm>
            <a:off x="10899648" y="6355080"/>
            <a:ext cx="640080" cy="274320"/>
          </a:xfrm>
          <a:prstGeom prst="rect">
            <a:avLst/>
          </a:prstGeom>
          <a:noFill/>
          <a:ln/>
        </p:spPr>
        <p:txBody>
          <a:bodyPr wrap="square" lIns="0" tIns="0" rIns="0" bIns="0" rtlCol="0" anchor="ctr"/>
          <a:lstStyle/>
          <a:p>
            <a:pPr marL="0" indent="0" algn="r">
              <a:buNone/>
            </a:pPr>
            <a:r>
              <a:rPr lang="en-US" sz="1100" b="1" dirty="0">
                <a:solidFill>
                  <a:srgbClr val="4A4653"/>
                </a:solidFill>
                <a:latin typeface="Arial" pitchFamily="34" charset="0"/>
                <a:ea typeface="Arial" pitchFamily="34" charset="-122"/>
                <a:cs typeface="Arial"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21792" y="329184"/>
            <a:ext cx="9820656" cy="237744"/>
          </a:xfrm>
          <a:prstGeom prst="rect">
            <a:avLst/>
          </a:prstGeom>
          <a:noFill/>
          <a:ln/>
        </p:spPr>
        <p:txBody>
          <a:bodyPr wrap="square" lIns="0" tIns="0" rIns="0" bIns="0" rtlCol="0" anchor="ctr"/>
          <a:lstStyle/>
          <a:p>
            <a:pPr marL="0" indent="0">
              <a:buNone/>
            </a:pPr>
            <a:r>
              <a:rPr lang="en-US" sz="950" b="1" kern="0" spc="250" dirty="0">
                <a:solidFill>
                  <a:srgbClr val="C0392F"/>
                </a:solidFill>
                <a:latin typeface="Arial" pitchFamily="34" charset="0"/>
                <a:ea typeface="Arial" pitchFamily="34" charset="-122"/>
                <a:cs typeface="Arial" pitchFamily="34" charset="-120"/>
              </a:rPr>
              <a:t>PART 3 · ECC</a:t>
            </a:r>
            <a:endParaRPr lang="en-US" sz="950" dirty="0"/>
          </a:p>
        </p:txBody>
      </p:sp>
      <p:sp>
        <p:nvSpPr>
          <p:cNvPr id="3" name="Text 1"/>
          <p:cNvSpPr txBox="1"/>
          <p:nvPr/>
        </p:nvSpPr>
        <p:spPr>
          <a:xfrm>
            <a:off x="621792" y="603504"/>
            <a:ext cx="10917936" cy="530352"/>
          </a:xfrm>
          <a:prstGeom prst="rect">
            <a:avLst/>
          </a:prstGeom>
          <a:noFill/>
          <a:ln/>
        </p:spPr>
        <p:txBody>
          <a:bodyPr wrap="square" lIns="0" tIns="0" rIns="0" bIns="0" rtlCol="0" anchor="ctr"/>
          <a:lstStyle/>
          <a:p>
            <a:pPr marL="0" indent="0">
              <a:buNone/>
            </a:pPr>
            <a:r>
              <a:rPr lang="en-US" sz="2500" b="1" dirty="0">
                <a:solidFill>
                  <a:srgbClr val="26242B"/>
                </a:solidFill>
                <a:latin typeface="Bookman Old Style" pitchFamily="34" charset="0"/>
                <a:ea typeface="Bookman Old Style" pitchFamily="34" charset="-122"/>
                <a:cs typeface="Bookman Old Style" pitchFamily="34" charset="-120"/>
              </a:rPr>
              <a:t>Part 3 — P-256 and ECDH</a:t>
            </a:r>
            <a:endParaRPr lang="en-US" sz="2500" dirty="0"/>
          </a:p>
        </p:txBody>
      </p:sp>
      <p:sp>
        <p:nvSpPr>
          <p:cNvPr id="4" name="Text 2"/>
          <p:cNvSpPr txBox="1"/>
          <p:nvPr/>
        </p:nvSpPr>
        <p:spPr>
          <a:xfrm>
            <a:off x="621792" y="1133856"/>
            <a:ext cx="10917936" cy="274320"/>
          </a:xfrm>
          <a:prstGeom prst="rect">
            <a:avLst/>
          </a:prstGeom>
          <a:noFill/>
          <a:ln/>
        </p:spPr>
        <p:txBody>
          <a:bodyPr wrap="square" lIns="0" tIns="0" rIns="0" bIns="0" rtlCol="0" anchor="ctr"/>
          <a:lstStyle/>
          <a:p>
            <a:pPr marL="0" indent="0">
              <a:buNone/>
            </a:pPr>
            <a:r>
              <a:rPr lang="en-US" sz="1200" dirty="0">
                <a:solidFill>
                  <a:srgbClr val="76737E"/>
                </a:solidFill>
                <a:latin typeface="Arial" pitchFamily="34" charset="0"/>
                <a:ea typeface="Arial" pitchFamily="34" charset="-122"/>
                <a:cs typeface="Arial" pitchFamily="34" charset="-120"/>
              </a:rPr>
              <a:t>Decision 7.3 — public-key roles and matching security levels</a:t>
            </a:r>
            <a:endParaRPr lang="en-US" sz="1200" dirty="0"/>
          </a:p>
        </p:txBody>
      </p:sp>
      <p:sp>
        <p:nvSpPr>
          <p:cNvPr id="5" name="Text 3"/>
          <p:cNvSpPr txBox="1"/>
          <p:nvPr/>
        </p:nvSpPr>
        <p:spPr>
          <a:xfrm>
            <a:off x="10899648" y="310896"/>
            <a:ext cx="640080" cy="274320"/>
          </a:xfrm>
          <a:prstGeom prst="rect">
            <a:avLst/>
          </a:prstGeom>
          <a:noFill/>
          <a:ln/>
        </p:spPr>
        <p:txBody>
          <a:bodyPr wrap="square" lIns="0" tIns="0" rIns="0" bIns="0" rtlCol="0" anchor="ctr"/>
          <a:lstStyle/>
          <a:p>
            <a:pPr marL="0" indent="0" algn="r">
              <a:buNone/>
            </a:pPr>
            <a:r>
              <a:rPr lang="en-US" sz="1100" b="1" dirty="0">
                <a:solidFill>
                  <a:srgbClr val="DEDCE2"/>
                </a:solidFill>
                <a:latin typeface="Arial" pitchFamily="34" charset="0"/>
                <a:ea typeface="Arial" pitchFamily="34" charset="-122"/>
                <a:cs typeface="Arial" pitchFamily="34" charset="-120"/>
              </a:rPr>
              <a:t>16</a:t>
            </a:r>
            <a:endParaRPr lang="en-US" sz="11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21792" y="1481328"/>
          <a:ext cx="5577840" cy="1211580"/>
        </p:xfrm>
        <a:graphic>
          <a:graphicData uri="http://schemas.openxmlformats.org/drawingml/2006/table">
            <a:tbl>
              <a:tblPr/>
              <a:tblGrid>
                <a:gridCol w="205740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tblGrid>
              <a:tr h="0">
                <a:tc>
                  <a:txBody>
                    <a:bodyPr/>
                    <a:lstStyle/>
                    <a:p>
                      <a:pPr marL="0" indent="0">
                        <a:buNone/>
                      </a:pPr>
                      <a:r>
                        <a:rPr lang="en-US" sz="950" b="1" kern="0" spc="100" dirty="0">
                          <a:solidFill>
                            <a:srgbClr val="C0392F"/>
                          </a:solidFill>
                          <a:latin typeface="Arial" pitchFamily="34" charset="0"/>
                          <a:ea typeface="Arial" pitchFamily="34" charset="-122"/>
                          <a:cs typeface="Arial" pitchFamily="34" charset="-120"/>
                        </a:rPr>
                        <a:t>WHERE</a:t>
                      </a:r>
                      <a:endParaRPr lang="en-US" sz="95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7F5F6"/>
                    </a:solidFill>
                  </a:tcPr>
                </a:tc>
                <a:tc>
                  <a:txBody>
                    <a:bodyPr/>
                    <a:lstStyle/>
                    <a:p>
                      <a:pPr marL="0" indent="0">
                        <a:buNone/>
                      </a:pPr>
                      <a:r>
                        <a:rPr lang="en-US" sz="950" b="1" kern="0" spc="100" dirty="0">
                          <a:solidFill>
                            <a:srgbClr val="C0392F"/>
                          </a:solidFill>
                          <a:latin typeface="Arial" pitchFamily="34" charset="0"/>
                          <a:ea typeface="Arial" pitchFamily="34" charset="-122"/>
                          <a:cs typeface="Arial" pitchFamily="34" charset="-120"/>
                        </a:rPr>
                        <a:t>PARAMETER</a:t>
                      </a:r>
                      <a:endParaRPr lang="en-US" sz="95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7F5F6"/>
                    </a:solidFill>
                  </a:tcPr>
                </a:tc>
                <a:tc>
                  <a:txBody>
                    <a:bodyPr/>
                    <a:lstStyle/>
                    <a:p>
                      <a:pPr marL="0" indent="0">
                        <a:buNone/>
                      </a:pPr>
                      <a:r>
                        <a:rPr lang="en-US" sz="950" b="1" kern="0" spc="100" dirty="0">
                          <a:solidFill>
                            <a:srgbClr val="C0392F"/>
                          </a:solidFill>
                          <a:latin typeface="Arial" pitchFamily="34" charset="0"/>
                          <a:ea typeface="Arial" pitchFamily="34" charset="-122"/>
                          <a:cs typeface="Arial" pitchFamily="34" charset="-120"/>
                        </a:rPr>
                        <a:t>LEVEL</a:t>
                      </a:r>
                      <a:endParaRPr lang="en-US" sz="95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7F5F6"/>
                    </a:solidFill>
                  </a:tcPr>
                </a:tc>
                <a:extLst>
                  <a:ext uri="{0D108BD9-81ED-4DB2-BD59-A6C34878D82A}">
                    <a16:rowId xmlns:a16="http://schemas.microsoft.com/office/drawing/2014/main" val="10000"/>
                  </a:ext>
                </a:extLst>
              </a:tr>
              <a:tr h="0">
                <a:tc>
                  <a:txBody>
                    <a:bodyPr/>
                    <a:lstStyle/>
                    <a:p>
                      <a:pPr marL="0" indent="0">
                        <a:buNone/>
                      </a:pPr>
                      <a:r>
                        <a:rPr lang="en-US" sz="1000" dirty="0">
                          <a:solidFill>
                            <a:srgbClr val="26242B"/>
                          </a:solidFill>
                          <a:latin typeface="Arial" pitchFamily="34" charset="0"/>
                          <a:ea typeface="Arial" pitchFamily="34" charset="-122"/>
                          <a:cs typeface="Arial" pitchFamily="34" charset="-120"/>
                        </a:rPr>
                        <a:t>Document and key wrapping</a:t>
                      </a:r>
                      <a:endParaRPr lang="en-US" sz="100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tc>
                  <a:txBody>
                    <a:bodyPr/>
                    <a:lstStyle/>
                    <a:p>
                      <a:pPr marL="0" indent="0">
                        <a:buNone/>
                      </a:pPr>
                      <a:r>
                        <a:rPr lang="en-US" sz="1000" dirty="0">
                          <a:solidFill>
                            <a:srgbClr val="26242B"/>
                          </a:solidFill>
                          <a:latin typeface="Arial" pitchFamily="34" charset="0"/>
                          <a:ea typeface="Arial" pitchFamily="34" charset="-122"/>
                          <a:cs typeface="Arial" pitchFamily="34" charset="-120"/>
                        </a:rPr>
                        <a:t>ChaCha20-Poly1305</a:t>
                      </a:r>
                      <a:endParaRPr lang="en-US" sz="100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tc>
                  <a:txBody>
                    <a:bodyPr/>
                    <a:lstStyle/>
                    <a:p>
                      <a:pPr marL="0" indent="0">
                        <a:buNone/>
                      </a:pPr>
                      <a:r>
                        <a:rPr lang="en-US" sz="1000" dirty="0">
                          <a:solidFill>
                            <a:srgbClr val="26242B"/>
                          </a:solidFill>
                          <a:latin typeface="Arial" pitchFamily="34" charset="0"/>
                          <a:ea typeface="Arial" pitchFamily="34" charset="-122"/>
                          <a:cs typeface="Arial" pitchFamily="34" charset="-120"/>
                        </a:rPr>
                        <a:t>256-bit key, 128-bit tag</a:t>
                      </a:r>
                      <a:endParaRPr lang="en-US" sz="100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000" dirty="0">
                          <a:solidFill>
                            <a:srgbClr val="26242B"/>
                          </a:solidFill>
                          <a:latin typeface="Arial" pitchFamily="34" charset="0"/>
                          <a:ea typeface="Arial" pitchFamily="34" charset="-122"/>
                          <a:cs typeface="Arial" pitchFamily="34" charset="-120"/>
                        </a:rPr>
                        <a:t>Key agreement</a:t>
                      </a:r>
                      <a:endParaRPr lang="en-US" sz="100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tc>
                  <a:txBody>
                    <a:bodyPr/>
                    <a:lstStyle/>
                    <a:p>
                      <a:pPr marL="0" indent="0">
                        <a:buNone/>
                      </a:pPr>
                      <a:r>
                        <a:rPr lang="en-US" sz="1000" dirty="0">
                          <a:solidFill>
                            <a:srgbClr val="26242B"/>
                          </a:solidFill>
                          <a:latin typeface="Arial" pitchFamily="34" charset="0"/>
                          <a:ea typeface="Arial" pitchFamily="34" charset="-122"/>
                          <a:cs typeface="Arial" pitchFamily="34" charset="-120"/>
                        </a:rPr>
                        <a:t>P-256 (secp256r1)</a:t>
                      </a:r>
                      <a:endParaRPr lang="en-US" sz="100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tc>
                  <a:txBody>
                    <a:bodyPr/>
                    <a:lstStyle/>
                    <a:p>
                      <a:pPr marL="0" indent="0">
                        <a:buNone/>
                      </a:pPr>
                      <a:r>
                        <a:rPr lang="en-US" sz="1000" dirty="0">
                          <a:solidFill>
                            <a:srgbClr val="26242B"/>
                          </a:solidFill>
                          <a:latin typeface="Arial" pitchFamily="34" charset="0"/>
                          <a:ea typeface="Arial" pitchFamily="34" charset="-122"/>
                          <a:cs typeface="Arial" pitchFamily="34" charset="-120"/>
                        </a:rPr>
                        <a:t>≈ 128-bit</a:t>
                      </a:r>
                      <a:endParaRPr lang="en-US" sz="100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buNone/>
                      </a:pPr>
                      <a:r>
                        <a:rPr lang="en-US" sz="1000" dirty="0">
                          <a:solidFill>
                            <a:srgbClr val="26242B"/>
                          </a:solidFill>
                          <a:latin typeface="Arial" pitchFamily="34" charset="0"/>
                          <a:ea typeface="Arial" pitchFamily="34" charset="-122"/>
                          <a:cs typeface="Arial" pitchFamily="34" charset="-120"/>
                        </a:rPr>
                        <a:t>Signatures</a:t>
                      </a:r>
                      <a:endParaRPr lang="en-US" sz="100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tc>
                  <a:txBody>
                    <a:bodyPr/>
                    <a:lstStyle/>
                    <a:p>
                      <a:pPr marL="0" indent="0">
                        <a:buNone/>
                      </a:pPr>
                      <a:r>
                        <a:rPr lang="en-US" sz="1000" dirty="0">
                          <a:solidFill>
                            <a:srgbClr val="26242B"/>
                          </a:solidFill>
                          <a:latin typeface="Arial" pitchFamily="34" charset="0"/>
                          <a:ea typeface="Arial" pitchFamily="34" charset="-122"/>
                          <a:cs typeface="Arial" pitchFamily="34" charset="-120"/>
                        </a:rPr>
                        <a:t>RSA-3072 with PSS</a:t>
                      </a:r>
                      <a:endParaRPr lang="en-US" sz="100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tc>
                  <a:txBody>
                    <a:bodyPr/>
                    <a:lstStyle/>
                    <a:p>
                      <a:pPr marL="0" indent="0">
                        <a:buNone/>
                      </a:pPr>
                      <a:r>
                        <a:rPr lang="en-US" sz="1000" dirty="0">
                          <a:solidFill>
                            <a:srgbClr val="26242B"/>
                          </a:solidFill>
                          <a:latin typeface="Arial" pitchFamily="34" charset="0"/>
                          <a:ea typeface="Arial" pitchFamily="34" charset="-122"/>
                          <a:cs typeface="Arial" pitchFamily="34" charset="-120"/>
                        </a:rPr>
                        <a:t>≈ 128-bit</a:t>
                      </a:r>
                      <a:endParaRPr lang="en-US" sz="100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000" dirty="0">
                          <a:solidFill>
                            <a:srgbClr val="26242B"/>
                          </a:solidFill>
                          <a:latin typeface="Arial" pitchFamily="34" charset="0"/>
                          <a:ea typeface="Arial" pitchFamily="34" charset="-122"/>
                          <a:cs typeface="Arial" pitchFamily="34" charset="-120"/>
                        </a:rPr>
                        <a:t>Hashing throughout</a:t>
                      </a:r>
                      <a:endParaRPr lang="en-US" sz="100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tc>
                  <a:txBody>
                    <a:bodyPr/>
                    <a:lstStyle/>
                    <a:p>
                      <a:pPr marL="0" indent="0">
                        <a:buNone/>
                      </a:pPr>
                      <a:r>
                        <a:rPr lang="en-US" sz="1000" dirty="0">
                          <a:solidFill>
                            <a:srgbClr val="26242B"/>
                          </a:solidFill>
                          <a:latin typeface="Arial" pitchFamily="34" charset="0"/>
                          <a:ea typeface="Arial" pitchFamily="34" charset="-122"/>
                          <a:cs typeface="Arial" pitchFamily="34" charset="-120"/>
                        </a:rPr>
                        <a:t>SHA-256</a:t>
                      </a:r>
                      <a:endParaRPr lang="en-US" sz="100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tc>
                  <a:txBody>
                    <a:bodyPr/>
                    <a:lstStyle/>
                    <a:p>
                      <a:pPr marL="0" indent="0">
                        <a:buNone/>
                      </a:pPr>
                      <a:r>
                        <a:rPr lang="en-US" sz="1000" dirty="0">
                          <a:solidFill>
                            <a:srgbClr val="26242B"/>
                          </a:solidFill>
                          <a:latin typeface="Arial" pitchFamily="34" charset="0"/>
                          <a:ea typeface="Arial" pitchFamily="34" charset="-122"/>
                          <a:cs typeface="Arial" pitchFamily="34" charset="-120"/>
                        </a:rPr>
                        <a:t>128-bit collisions</a:t>
                      </a:r>
                      <a:endParaRPr lang="en-US" sz="100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7" name="Shape 4"/>
          <p:cNvSpPr/>
          <p:nvPr/>
        </p:nvSpPr>
        <p:spPr>
          <a:xfrm>
            <a:off x="6565392" y="1481328"/>
            <a:ext cx="4974336" cy="1965960"/>
          </a:xfrm>
          <a:prstGeom prst="rect">
            <a:avLst/>
          </a:prstGeom>
          <a:solidFill>
            <a:srgbClr val="FFFFFF"/>
          </a:solidFill>
          <a:ln w="12700">
            <a:solidFill>
              <a:srgbClr val="DEDCE2"/>
            </a:solidFill>
            <a:prstDash val="solid"/>
          </a:ln>
        </p:spPr>
      </p:sp>
      <p:sp>
        <p:nvSpPr>
          <p:cNvPr id="8" name="Text 5"/>
          <p:cNvSpPr txBox="1"/>
          <p:nvPr/>
        </p:nvSpPr>
        <p:spPr>
          <a:xfrm>
            <a:off x="6766560" y="1618488"/>
            <a:ext cx="4572000" cy="292608"/>
          </a:xfrm>
          <a:prstGeom prst="rect">
            <a:avLst/>
          </a:prstGeom>
          <a:noFill/>
          <a:ln/>
        </p:spPr>
        <p:txBody>
          <a:bodyPr wrap="square" lIns="0" tIns="0" rIns="0" bIns="0" rtlCol="0" anchor="ctr"/>
          <a:lstStyle/>
          <a:p>
            <a:pPr marL="0" indent="0">
              <a:buNone/>
            </a:pPr>
            <a:r>
              <a:rPr lang="en-US" sz="1150" b="1" kern="0" spc="40" dirty="0">
                <a:solidFill>
                  <a:srgbClr val="26242B"/>
                </a:solidFill>
                <a:latin typeface="Arial" pitchFamily="34" charset="0"/>
                <a:ea typeface="Arial" pitchFamily="34" charset="-122"/>
                <a:cs typeface="Arial" pitchFamily="34" charset="-120"/>
              </a:rPr>
              <a:t>Why P-256, and why hybrid</a:t>
            </a:r>
            <a:endParaRPr lang="en-US" sz="1150" dirty="0"/>
          </a:p>
        </p:txBody>
      </p:sp>
      <p:sp>
        <p:nvSpPr>
          <p:cNvPr id="9" name="Text 6"/>
          <p:cNvSpPr txBox="1"/>
          <p:nvPr/>
        </p:nvSpPr>
        <p:spPr>
          <a:xfrm>
            <a:off x="6766560" y="1975104"/>
            <a:ext cx="4572000" cy="1344168"/>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6242B"/>
                </a:solidFill>
                <a:latin typeface="Arial" pitchFamily="34" charset="0"/>
                <a:ea typeface="Arial" pitchFamily="34" charset="-122"/>
                <a:cs typeface="Arial" pitchFamily="34" charset="-120"/>
              </a:rPr>
              <a:t>A clearly published parameter set we could implement and check against known points</a:t>
            </a:r>
            <a:endParaRPr lang="en-US" sz="1050" dirty="0"/>
          </a:p>
          <a:p>
            <a:pPr marL="342900" indent="-342900">
              <a:spcAft>
                <a:spcPts val="400"/>
              </a:spcAft>
              <a:buSzPct val="100000"/>
              <a:buChar char="–"/>
            </a:pPr>
            <a:r>
              <a:rPr lang="en-US" sz="1050" dirty="0">
                <a:solidFill>
                  <a:srgbClr val="26242B"/>
                </a:solidFill>
                <a:latin typeface="Arial" pitchFamily="34" charset="0"/>
                <a:ea typeface="Arial" pitchFamily="34" charset="-122"/>
                <a:cs typeface="Arial" pitchFamily="34" charset="-120"/>
              </a:rPr>
              <a:t>Cofactor 1, so an on-curve check is sufficient — no small-subgroup check needed</a:t>
            </a:r>
            <a:endParaRPr lang="en-US" sz="1050" dirty="0"/>
          </a:p>
          <a:p>
            <a:pPr marL="342900" indent="-342900">
              <a:spcAft>
                <a:spcPts val="400"/>
              </a:spcAft>
              <a:buSzPct val="100000"/>
              <a:buChar char="–"/>
            </a:pPr>
            <a:r>
              <a:rPr lang="en-US" sz="1050" dirty="0">
                <a:solidFill>
                  <a:srgbClr val="26242B"/>
                </a:solidFill>
                <a:latin typeface="Arial" pitchFamily="34" charset="0"/>
                <a:ea typeface="Arial" pitchFamily="34" charset="-122"/>
                <a:cs typeface="Arial" pitchFamily="34" charset="-120"/>
              </a:rPr>
              <a:t>The document is encrypted once under a symmetric key; ECDH only wraps those 32 bytes</a:t>
            </a:r>
            <a:endParaRPr lang="en-US" sz="1050" dirty="0"/>
          </a:p>
          <a:p>
            <a:pPr marL="342900" indent="-342900">
              <a:spcAft>
                <a:spcPts val="400"/>
              </a:spcAft>
              <a:buSzPct val="100000"/>
              <a:buChar char="–"/>
            </a:pPr>
            <a:r>
              <a:rPr lang="en-US" sz="1050" dirty="0">
                <a:solidFill>
                  <a:srgbClr val="26242B"/>
                </a:solidFill>
                <a:latin typeface="Arial" pitchFamily="34" charset="0"/>
                <a:ea typeface="Arial" pitchFamily="34" charset="-122"/>
                <a:cs typeface="Arial" pitchFamily="34" charset="-120"/>
              </a:rPr>
              <a:t>Sharing with a second person costs one more small wrap, not a second copy of the file</a:t>
            </a:r>
            <a:endParaRPr lang="en-US" sz="1050" dirty="0"/>
          </a:p>
        </p:txBody>
      </p:sp>
      <p:sp>
        <p:nvSpPr>
          <p:cNvPr id="10" name="Text 7"/>
          <p:cNvSpPr txBox="1"/>
          <p:nvPr/>
        </p:nvSpPr>
        <p:spPr>
          <a:xfrm>
            <a:off x="621792" y="3657600"/>
            <a:ext cx="822960" cy="402336"/>
          </a:xfrm>
          <a:prstGeom prst="rect">
            <a:avLst/>
          </a:prstGeom>
          <a:noFill/>
          <a:ln/>
        </p:spPr>
        <p:txBody>
          <a:bodyPr wrap="square" lIns="0" tIns="0" rIns="0" bIns="0" rtlCol="0" anchor="ctr"/>
          <a:lstStyle/>
          <a:p>
            <a:pPr marL="0" indent="0">
              <a:buNone/>
            </a:pPr>
            <a:r>
              <a:rPr lang="en-US" sz="2200" b="1" dirty="0">
                <a:solidFill>
                  <a:srgbClr val="C0392F"/>
                </a:solidFill>
                <a:latin typeface="Bookman Old Style" pitchFamily="34" charset="0"/>
                <a:ea typeface="Bookman Old Style" pitchFamily="34" charset="-122"/>
                <a:cs typeface="Bookman Old Style" pitchFamily="34" charset="-120"/>
              </a:rPr>
              <a:t>01</a:t>
            </a:r>
            <a:endParaRPr lang="en-US" sz="2200" dirty="0"/>
          </a:p>
        </p:txBody>
      </p:sp>
      <p:sp>
        <p:nvSpPr>
          <p:cNvPr id="11" name="Text 8"/>
          <p:cNvSpPr txBox="1"/>
          <p:nvPr/>
        </p:nvSpPr>
        <p:spPr>
          <a:xfrm>
            <a:off x="621792" y="4059936"/>
            <a:ext cx="2496312" cy="274320"/>
          </a:xfrm>
          <a:prstGeom prst="rect">
            <a:avLst/>
          </a:prstGeom>
          <a:noFill/>
          <a:ln/>
        </p:spPr>
        <p:txBody>
          <a:bodyPr wrap="square" lIns="0" tIns="0" rIns="0" bIns="0" rtlCol="0" anchor="ctr"/>
          <a:lstStyle/>
          <a:p>
            <a:pPr marL="0" indent="0">
              <a:buNone/>
            </a:pPr>
            <a:r>
              <a:rPr lang="en-US" sz="1200" b="1" dirty="0">
                <a:solidFill>
                  <a:srgbClr val="26242B"/>
                </a:solidFill>
                <a:latin typeface="Arial" pitchFamily="34" charset="0"/>
                <a:ea typeface="Arial" pitchFamily="34" charset="-122"/>
                <a:cs typeface="Arial" pitchFamily="34" charset="-120"/>
              </a:rPr>
              <a:t>Ephemeral key</a:t>
            </a:r>
            <a:endParaRPr lang="en-US" sz="1200" dirty="0"/>
          </a:p>
        </p:txBody>
      </p:sp>
      <p:sp>
        <p:nvSpPr>
          <p:cNvPr id="12" name="Text 9"/>
          <p:cNvSpPr txBox="1"/>
          <p:nvPr/>
        </p:nvSpPr>
        <p:spPr>
          <a:xfrm>
            <a:off x="621792" y="4334256"/>
            <a:ext cx="2496312" cy="566928"/>
          </a:xfrm>
          <a:prstGeom prst="rect">
            <a:avLst/>
          </a:prstGeom>
          <a:noFill/>
          <a:ln/>
        </p:spPr>
        <p:txBody>
          <a:bodyPr wrap="square" lIns="0" tIns="0" rIns="0" bIns="0" rtlCol="0" anchor="t"/>
          <a:lstStyle/>
          <a:p>
            <a:pPr marL="0" indent="0">
              <a:buNone/>
            </a:pPr>
            <a:r>
              <a:rPr lang="en-US" sz="1050" dirty="0">
                <a:solidFill>
                  <a:srgbClr val="76737E"/>
                </a:solidFill>
                <a:latin typeface="Arial" pitchFamily="34" charset="0"/>
                <a:ea typeface="Arial" pitchFamily="34" charset="-122"/>
                <a:cs typeface="Arial" pitchFamily="34" charset="-120"/>
              </a:rPr>
              <a:t>Layla generates a one-time P-256 pair</a:t>
            </a:r>
            <a:endParaRPr lang="en-US" sz="1050" dirty="0"/>
          </a:p>
        </p:txBody>
      </p:sp>
      <p:sp>
        <p:nvSpPr>
          <p:cNvPr id="13" name="Shape 10"/>
          <p:cNvSpPr/>
          <p:nvPr/>
        </p:nvSpPr>
        <p:spPr>
          <a:xfrm>
            <a:off x="621792" y="4023360"/>
            <a:ext cx="2496312" cy="0"/>
          </a:xfrm>
          <a:prstGeom prst="line">
            <a:avLst/>
          </a:prstGeom>
          <a:noFill/>
          <a:ln w="9525">
            <a:solidFill>
              <a:srgbClr val="DEDCE2"/>
            </a:solidFill>
            <a:prstDash val="solid"/>
          </a:ln>
        </p:spPr>
      </p:sp>
      <p:sp>
        <p:nvSpPr>
          <p:cNvPr id="14" name="Text 11"/>
          <p:cNvSpPr txBox="1"/>
          <p:nvPr/>
        </p:nvSpPr>
        <p:spPr>
          <a:xfrm>
            <a:off x="3429000" y="3657600"/>
            <a:ext cx="822960" cy="402336"/>
          </a:xfrm>
          <a:prstGeom prst="rect">
            <a:avLst/>
          </a:prstGeom>
          <a:noFill/>
          <a:ln/>
        </p:spPr>
        <p:txBody>
          <a:bodyPr wrap="square" lIns="0" tIns="0" rIns="0" bIns="0" rtlCol="0" anchor="ctr"/>
          <a:lstStyle/>
          <a:p>
            <a:pPr marL="0" indent="0">
              <a:buNone/>
            </a:pPr>
            <a:r>
              <a:rPr lang="en-US" sz="2200" b="1" dirty="0">
                <a:solidFill>
                  <a:srgbClr val="C0392F"/>
                </a:solidFill>
                <a:latin typeface="Bookman Old Style" pitchFamily="34" charset="0"/>
                <a:ea typeface="Bookman Old Style" pitchFamily="34" charset="-122"/>
                <a:cs typeface="Bookman Old Style" pitchFamily="34" charset="-120"/>
              </a:rPr>
              <a:t>02</a:t>
            </a:r>
            <a:endParaRPr lang="en-US" sz="2200" dirty="0"/>
          </a:p>
        </p:txBody>
      </p:sp>
      <p:sp>
        <p:nvSpPr>
          <p:cNvPr id="15" name="Text 12"/>
          <p:cNvSpPr txBox="1"/>
          <p:nvPr/>
        </p:nvSpPr>
        <p:spPr>
          <a:xfrm>
            <a:off x="3429000" y="4059936"/>
            <a:ext cx="2496312" cy="274320"/>
          </a:xfrm>
          <a:prstGeom prst="rect">
            <a:avLst/>
          </a:prstGeom>
          <a:noFill/>
          <a:ln/>
        </p:spPr>
        <p:txBody>
          <a:bodyPr wrap="square" lIns="0" tIns="0" rIns="0" bIns="0" rtlCol="0" anchor="ctr"/>
          <a:lstStyle/>
          <a:p>
            <a:pPr marL="0" indent="0">
              <a:buNone/>
            </a:pPr>
            <a:r>
              <a:rPr lang="en-US" sz="1200" b="1" dirty="0">
                <a:solidFill>
                  <a:srgbClr val="26242B"/>
                </a:solidFill>
                <a:latin typeface="Arial" pitchFamily="34" charset="0"/>
                <a:ea typeface="Arial" pitchFamily="34" charset="-122"/>
                <a:cs typeface="Arial" pitchFamily="34" charset="-120"/>
              </a:rPr>
              <a:t>ECDH</a:t>
            </a:r>
            <a:endParaRPr lang="en-US" sz="1200" dirty="0"/>
          </a:p>
        </p:txBody>
      </p:sp>
      <p:sp>
        <p:nvSpPr>
          <p:cNvPr id="16" name="Text 13"/>
          <p:cNvSpPr txBox="1"/>
          <p:nvPr/>
        </p:nvSpPr>
        <p:spPr>
          <a:xfrm>
            <a:off x="3429000" y="4334256"/>
            <a:ext cx="2496312" cy="566928"/>
          </a:xfrm>
          <a:prstGeom prst="rect">
            <a:avLst/>
          </a:prstGeom>
          <a:noFill/>
          <a:ln/>
        </p:spPr>
        <p:txBody>
          <a:bodyPr wrap="square" lIns="0" tIns="0" rIns="0" bIns="0" rtlCol="0" anchor="t"/>
          <a:lstStyle/>
          <a:p>
            <a:pPr marL="0" indent="0">
              <a:buNone/>
            </a:pPr>
            <a:r>
              <a:rPr lang="en-US" sz="1050" dirty="0">
                <a:solidFill>
                  <a:srgbClr val="76737E"/>
                </a:solidFill>
                <a:latin typeface="Arial" pitchFamily="34" charset="0"/>
                <a:ea typeface="Arial" pitchFamily="34" charset="-122"/>
                <a:cs typeface="Arial" pitchFamily="34" charset="-120"/>
              </a:rPr>
              <a:t>Her ephemeral private key with Omar's public key</a:t>
            </a:r>
            <a:endParaRPr lang="en-US" sz="1050" dirty="0"/>
          </a:p>
        </p:txBody>
      </p:sp>
      <p:sp>
        <p:nvSpPr>
          <p:cNvPr id="6" name="Shape 14"/>
          <p:cNvSpPr/>
          <p:nvPr/>
        </p:nvSpPr>
        <p:spPr>
          <a:xfrm>
            <a:off x="3429000" y="4023360"/>
            <a:ext cx="2496312" cy="0"/>
          </a:xfrm>
          <a:prstGeom prst="line">
            <a:avLst/>
          </a:prstGeom>
          <a:noFill/>
          <a:ln w="9525">
            <a:solidFill>
              <a:srgbClr val="DEDCE2"/>
            </a:solidFill>
            <a:prstDash val="solid"/>
          </a:ln>
        </p:spPr>
      </p:sp>
      <p:sp>
        <p:nvSpPr>
          <p:cNvPr id="18" name="Text 15"/>
          <p:cNvSpPr txBox="1"/>
          <p:nvPr/>
        </p:nvSpPr>
        <p:spPr>
          <a:xfrm>
            <a:off x="6236208" y="3657600"/>
            <a:ext cx="822960" cy="402336"/>
          </a:xfrm>
          <a:prstGeom prst="rect">
            <a:avLst/>
          </a:prstGeom>
          <a:noFill/>
          <a:ln/>
        </p:spPr>
        <p:txBody>
          <a:bodyPr wrap="square" lIns="0" tIns="0" rIns="0" bIns="0" rtlCol="0" anchor="ctr"/>
          <a:lstStyle/>
          <a:p>
            <a:pPr marL="0" indent="0">
              <a:buNone/>
            </a:pPr>
            <a:r>
              <a:rPr lang="en-US" sz="2200" b="1" dirty="0">
                <a:solidFill>
                  <a:srgbClr val="C0392F"/>
                </a:solidFill>
                <a:latin typeface="Bookman Old Style" pitchFamily="34" charset="0"/>
                <a:ea typeface="Bookman Old Style" pitchFamily="34" charset="-122"/>
                <a:cs typeface="Bookman Old Style" pitchFamily="34" charset="-120"/>
              </a:rPr>
              <a:t>03</a:t>
            </a:r>
            <a:endParaRPr lang="en-US" sz="2200" dirty="0"/>
          </a:p>
        </p:txBody>
      </p:sp>
      <p:sp>
        <p:nvSpPr>
          <p:cNvPr id="19" name="Text 16"/>
          <p:cNvSpPr txBox="1"/>
          <p:nvPr/>
        </p:nvSpPr>
        <p:spPr>
          <a:xfrm>
            <a:off x="6236208" y="4059936"/>
            <a:ext cx="2496312" cy="274320"/>
          </a:xfrm>
          <a:prstGeom prst="rect">
            <a:avLst/>
          </a:prstGeom>
          <a:noFill/>
          <a:ln/>
        </p:spPr>
        <p:txBody>
          <a:bodyPr wrap="square" lIns="0" tIns="0" rIns="0" bIns="0" rtlCol="0" anchor="ctr"/>
          <a:lstStyle/>
          <a:p>
            <a:pPr marL="0" indent="0">
              <a:buNone/>
            </a:pPr>
            <a:r>
              <a:rPr lang="en-US" sz="1200" b="1" dirty="0">
                <a:solidFill>
                  <a:srgbClr val="26242B"/>
                </a:solidFill>
                <a:latin typeface="Arial" pitchFamily="34" charset="0"/>
                <a:ea typeface="Arial" pitchFamily="34" charset="-122"/>
                <a:cs typeface="Arial" pitchFamily="34" charset="-120"/>
              </a:rPr>
              <a:t>HKDF</a:t>
            </a:r>
            <a:endParaRPr lang="en-US" sz="1200" dirty="0"/>
          </a:p>
        </p:txBody>
      </p:sp>
      <p:sp>
        <p:nvSpPr>
          <p:cNvPr id="20" name="Text 17"/>
          <p:cNvSpPr txBox="1"/>
          <p:nvPr/>
        </p:nvSpPr>
        <p:spPr>
          <a:xfrm>
            <a:off x="6236208" y="4334256"/>
            <a:ext cx="2496312" cy="566928"/>
          </a:xfrm>
          <a:prstGeom prst="rect">
            <a:avLst/>
          </a:prstGeom>
          <a:noFill/>
          <a:ln/>
        </p:spPr>
        <p:txBody>
          <a:bodyPr wrap="square" lIns="0" tIns="0" rIns="0" bIns="0" rtlCol="0" anchor="t"/>
          <a:lstStyle/>
          <a:p>
            <a:pPr marL="0" indent="0">
              <a:buNone/>
            </a:pPr>
            <a:r>
              <a:rPr lang="en-US" sz="1050" dirty="0">
                <a:solidFill>
                  <a:srgbClr val="76737E"/>
                </a:solidFill>
                <a:latin typeface="Arial" pitchFamily="34" charset="0"/>
                <a:ea typeface="Arial" pitchFamily="34" charset="-122"/>
                <a:cs typeface="Arial" pitchFamily="34" charset="-120"/>
              </a:rPr>
              <a:t>Derive the share-wrapping key</a:t>
            </a:r>
            <a:endParaRPr lang="en-US" sz="1050" dirty="0"/>
          </a:p>
        </p:txBody>
      </p:sp>
      <p:sp>
        <p:nvSpPr>
          <p:cNvPr id="21" name="Shape 18"/>
          <p:cNvSpPr/>
          <p:nvPr/>
        </p:nvSpPr>
        <p:spPr>
          <a:xfrm>
            <a:off x="6236208" y="4023360"/>
            <a:ext cx="2496312" cy="0"/>
          </a:xfrm>
          <a:prstGeom prst="line">
            <a:avLst/>
          </a:prstGeom>
          <a:noFill/>
          <a:ln w="9525">
            <a:solidFill>
              <a:srgbClr val="DEDCE2"/>
            </a:solidFill>
            <a:prstDash val="solid"/>
          </a:ln>
        </p:spPr>
      </p:sp>
      <p:sp>
        <p:nvSpPr>
          <p:cNvPr id="22" name="Text 19"/>
          <p:cNvSpPr txBox="1"/>
          <p:nvPr/>
        </p:nvSpPr>
        <p:spPr>
          <a:xfrm>
            <a:off x="9043416" y="3657600"/>
            <a:ext cx="822960" cy="402336"/>
          </a:xfrm>
          <a:prstGeom prst="rect">
            <a:avLst/>
          </a:prstGeom>
          <a:noFill/>
          <a:ln/>
        </p:spPr>
        <p:txBody>
          <a:bodyPr wrap="square" lIns="0" tIns="0" rIns="0" bIns="0" rtlCol="0" anchor="ctr"/>
          <a:lstStyle/>
          <a:p>
            <a:pPr marL="0" indent="0">
              <a:buNone/>
            </a:pPr>
            <a:r>
              <a:rPr lang="en-US" sz="2200" b="1" dirty="0">
                <a:solidFill>
                  <a:srgbClr val="C0392F"/>
                </a:solidFill>
                <a:latin typeface="Bookman Old Style" pitchFamily="34" charset="0"/>
                <a:ea typeface="Bookman Old Style" pitchFamily="34" charset="-122"/>
                <a:cs typeface="Bookman Old Style" pitchFamily="34" charset="-120"/>
              </a:rPr>
              <a:t>04</a:t>
            </a:r>
            <a:endParaRPr lang="en-US" sz="2200" dirty="0"/>
          </a:p>
        </p:txBody>
      </p:sp>
      <p:sp>
        <p:nvSpPr>
          <p:cNvPr id="23" name="Text 20"/>
          <p:cNvSpPr txBox="1"/>
          <p:nvPr/>
        </p:nvSpPr>
        <p:spPr>
          <a:xfrm>
            <a:off x="9043416" y="4059936"/>
            <a:ext cx="2496312" cy="274320"/>
          </a:xfrm>
          <a:prstGeom prst="rect">
            <a:avLst/>
          </a:prstGeom>
          <a:noFill/>
          <a:ln/>
        </p:spPr>
        <p:txBody>
          <a:bodyPr wrap="square" lIns="0" tIns="0" rIns="0" bIns="0" rtlCol="0" anchor="ctr"/>
          <a:lstStyle/>
          <a:p>
            <a:pPr marL="0" indent="0">
              <a:buNone/>
            </a:pPr>
            <a:r>
              <a:rPr lang="en-US" sz="1200" b="1" dirty="0">
                <a:solidFill>
                  <a:srgbClr val="26242B"/>
                </a:solidFill>
                <a:latin typeface="Arial" pitchFamily="34" charset="0"/>
                <a:ea typeface="Arial" pitchFamily="34" charset="-122"/>
                <a:cs typeface="Arial" pitchFamily="34" charset="-120"/>
              </a:rPr>
              <a:t>Wrap</a:t>
            </a:r>
            <a:endParaRPr lang="en-US" sz="1200" dirty="0"/>
          </a:p>
        </p:txBody>
      </p:sp>
      <p:sp>
        <p:nvSpPr>
          <p:cNvPr id="24" name="Text 21"/>
          <p:cNvSpPr txBox="1"/>
          <p:nvPr/>
        </p:nvSpPr>
        <p:spPr>
          <a:xfrm>
            <a:off x="9043416" y="4334256"/>
            <a:ext cx="2496312" cy="566928"/>
          </a:xfrm>
          <a:prstGeom prst="rect">
            <a:avLst/>
          </a:prstGeom>
          <a:noFill/>
          <a:ln/>
        </p:spPr>
        <p:txBody>
          <a:bodyPr wrap="square" lIns="0" tIns="0" rIns="0" bIns="0" rtlCol="0" anchor="t"/>
          <a:lstStyle/>
          <a:p>
            <a:pPr marL="0" indent="0">
              <a:buNone/>
            </a:pPr>
            <a:r>
              <a:rPr lang="en-US" sz="1050" dirty="0">
                <a:solidFill>
                  <a:srgbClr val="76737E"/>
                </a:solidFill>
                <a:latin typeface="Arial" pitchFamily="34" charset="0"/>
                <a:ea typeface="Arial" pitchFamily="34" charset="-122"/>
                <a:cs typeface="Arial" pitchFamily="34" charset="-120"/>
              </a:rPr>
              <a:t>AEAD encrypts the 32-byte document key</a:t>
            </a:r>
            <a:endParaRPr lang="en-US" sz="1050" dirty="0"/>
          </a:p>
        </p:txBody>
      </p:sp>
      <p:sp>
        <p:nvSpPr>
          <p:cNvPr id="25" name="Shape 22"/>
          <p:cNvSpPr/>
          <p:nvPr/>
        </p:nvSpPr>
        <p:spPr>
          <a:xfrm>
            <a:off x="9043416" y="4023360"/>
            <a:ext cx="2496312" cy="0"/>
          </a:xfrm>
          <a:prstGeom prst="line">
            <a:avLst/>
          </a:prstGeom>
          <a:noFill/>
          <a:ln w="9525">
            <a:solidFill>
              <a:srgbClr val="DEDCE2"/>
            </a:solidFill>
            <a:prstDash val="solid"/>
          </a:ln>
        </p:spPr>
      </p:sp>
      <p:sp>
        <p:nvSpPr>
          <p:cNvPr id="26" name="Shape 23"/>
          <p:cNvSpPr/>
          <p:nvPr/>
        </p:nvSpPr>
        <p:spPr>
          <a:xfrm>
            <a:off x="621792" y="5029200"/>
            <a:ext cx="10917936" cy="960120"/>
          </a:xfrm>
          <a:prstGeom prst="rect">
            <a:avLst/>
          </a:prstGeom>
          <a:solidFill>
            <a:srgbClr val="3C4F3F"/>
          </a:solidFill>
          <a:ln w="12700">
            <a:solidFill>
              <a:srgbClr val="3C4F3F"/>
            </a:solidFill>
            <a:prstDash val="solid"/>
          </a:ln>
        </p:spPr>
      </p:sp>
      <p:sp>
        <p:nvSpPr>
          <p:cNvPr id="27" name="Text 24"/>
          <p:cNvSpPr txBox="1"/>
          <p:nvPr/>
        </p:nvSpPr>
        <p:spPr>
          <a:xfrm>
            <a:off x="822960" y="5166360"/>
            <a:ext cx="10515600" cy="292608"/>
          </a:xfrm>
          <a:prstGeom prst="rect">
            <a:avLst/>
          </a:prstGeom>
          <a:noFill/>
          <a:ln/>
        </p:spPr>
        <p:txBody>
          <a:bodyPr wrap="square" lIns="0" tIns="0" rIns="0" bIns="0" rtlCol="0" anchor="ctr"/>
          <a:lstStyle/>
          <a:p>
            <a:pPr marL="0" indent="0">
              <a:buNone/>
            </a:pPr>
            <a:r>
              <a:rPr lang="en-US" sz="1150" b="1" kern="0" spc="40" dirty="0">
                <a:solidFill>
                  <a:srgbClr val="FFFFFF"/>
                </a:solidFill>
                <a:latin typeface="Arial" pitchFamily="34" charset="0"/>
                <a:ea typeface="Arial" pitchFamily="34" charset="-122"/>
                <a:cs typeface="Arial" pitchFamily="34" charset="-120"/>
              </a:rPr>
              <a:t>Quantifying the ECC choice — size advantage, security match</a:t>
            </a:r>
            <a:endParaRPr lang="en-US" sz="1150" dirty="0"/>
          </a:p>
        </p:txBody>
      </p:sp>
      <p:sp>
        <p:nvSpPr>
          <p:cNvPr id="32" name="TextBox 31">
            <a:extLst>
              <a:ext uri="{FF2B5EF4-FFF2-40B4-BE49-F238E27FC236}">
                <a16:creationId xmlns:a16="http://schemas.microsoft.com/office/drawing/2014/main" id="{24F6B65E-80AA-93E2-FA30-32A2CD7FDCB8}"/>
              </a:ext>
            </a:extLst>
          </p:cNvPr>
          <p:cNvSpPr txBox="1"/>
          <p:nvPr/>
        </p:nvSpPr>
        <p:spPr>
          <a:xfrm>
            <a:off x="833548" y="5390388"/>
            <a:ext cx="10183528" cy="577081"/>
          </a:xfrm>
          <a:prstGeom prst="rect">
            <a:avLst/>
          </a:prstGeom>
          <a:noFill/>
        </p:spPr>
        <p:txBody>
          <a:bodyPr wrap="square" rtlCol="0">
            <a:spAutoFit/>
          </a:bodyPr>
          <a:lstStyle/>
          <a:p>
            <a:r>
              <a:rPr lang="en-US" sz="1050" dirty="0">
                <a:solidFill>
                  <a:schemeClr val="bg1"/>
                </a:solidFill>
                <a:latin typeface="Arial" panose="020B0604020202020204" pitchFamily="34" charset="0"/>
                <a:cs typeface="Arial" panose="020B0604020202020204" pitchFamily="34" charset="0"/>
              </a:rPr>
              <a:t>Public key size is the clear advantage: a P-256 point is 65 bytes, while a 3072-bit finite-field value is 384 bytes (about 5.9× larger). We do not claim a speed win: our measured 52 </a:t>
            </a:r>
            <a:r>
              <a:rPr lang="en-US" sz="1050" dirty="0" err="1">
                <a:solidFill>
                  <a:schemeClr val="bg1"/>
                </a:solidFill>
                <a:latin typeface="Arial" panose="020B0604020202020204" pitchFamily="34" charset="0"/>
                <a:cs typeface="Arial" panose="020B0604020202020204" pitchFamily="34" charset="0"/>
              </a:rPr>
              <a:t>ms</a:t>
            </a:r>
            <a:r>
              <a:rPr lang="en-US" sz="1050" dirty="0">
                <a:solidFill>
                  <a:schemeClr val="bg1"/>
                </a:solidFill>
                <a:latin typeface="Arial" panose="020B0604020202020204" pitchFamily="34" charset="0"/>
                <a:cs typeface="Arial" panose="020B0604020202020204" pitchFamily="34" charset="0"/>
              </a:rPr>
              <a:t> for a P-256 scalar multiplication against 6 </a:t>
            </a:r>
            <a:r>
              <a:rPr lang="en-US" sz="1050" dirty="0" err="1">
                <a:solidFill>
                  <a:schemeClr val="bg1"/>
                </a:solidFill>
                <a:latin typeface="Arial" panose="020B0604020202020204" pitchFamily="34" charset="0"/>
                <a:cs typeface="Arial" panose="020B0604020202020204" pitchFamily="34" charset="0"/>
              </a:rPr>
              <a:t>ms</a:t>
            </a:r>
            <a:r>
              <a:rPr lang="en-US" sz="1050" dirty="0">
                <a:solidFill>
                  <a:schemeClr val="bg1"/>
                </a:solidFill>
                <a:latin typeface="Arial" panose="020B0604020202020204" pitchFamily="34" charset="0"/>
                <a:cs typeface="Arial" panose="020B0604020202020204" pitchFamily="34" charset="0"/>
              </a:rPr>
              <a:t> for a 3072-bit modular exponentiation is implementation-dependent, not an ECC result. The important point is that P-256, RSA-3072 and SHA-256 all target about 128-bit security, so no component is weaker than the rest</a:t>
            </a:r>
            <a:r>
              <a:rPr lang="ar-PS" sz="1050" dirty="0">
                <a:solidFill>
                  <a:schemeClr val="bg1"/>
                </a:solidFill>
                <a:latin typeface="Arial" panose="020B0604020202020204" pitchFamily="34" charset="0"/>
                <a:cs typeface="Arial" panose="020B0604020202020204" pitchFamily="34" charset="0"/>
              </a:rPr>
              <a:t>.</a:t>
            </a:r>
            <a:endParaRPr lang="en-US" sz="1050" dirty="0">
              <a:solidFill>
                <a:schemeClr val="bg1"/>
              </a:solidFill>
              <a:latin typeface="Arial" panose="020B0604020202020204" pitchFamily="34" charset="0"/>
              <a:cs typeface="Arial" panose="020B060402020202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21792" y="329184"/>
            <a:ext cx="9820656" cy="237744"/>
          </a:xfrm>
          <a:prstGeom prst="rect">
            <a:avLst/>
          </a:prstGeom>
          <a:noFill/>
          <a:ln/>
        </p:spPr>
        <p:txBody>
          <a:bodyPr wrap="square" lIns="0" tIns="0" rIns="0" bIns="0" rtlCol="0" anchor="ctr"/>
          <a:lstStyle/>
          <a:p>
            <a:pPr marL="0" indent="0">
              <a:buNone/>
            </a:pPr>
            <a:r>
              <a:rPr lang="en-US" sz="950" b="1" kern="0" spc="250" dirty="0">
                <a:solidFill>
                  <a:srgbClr val="C0392F"/>
                </a:solidFill>
                <a:latin typeface="Arial" pitchFamily="34" charset="0"/>
                <a:ea typeface="Arial" pitchFamily="34" charset="-122"/>
                <a:cs typeface="Arial" pitchFamily="34" charset="-120"/>
              </a:rPr>
              <a:t>PART 3 · TRUST</a:t>
            </a:r>
            <a:endParaRPr lang="en-US" sz="950" dirty="0"/>
          </a:p>
        </p:txBody>
      </p:sp>
      <p:sp>
        <p:nvSpPr>
          <p:cNvPr id="3" name="Text 1"/>
          <p:cNvSpPr txBox="1"/>
          <p:nvPr/>
        </p:nvSpPr>
        <p:spPr>
          <a:xfrm>
            <a:off x="621792" y="603504"/>
            <a:ext cx="10917936" cy="530352"/>
          </a:xfrm>
          <a:prstGeom prst="rect">
            <a:avLst/>
          </a:prstGeom>
          <a:noFill/>
          <a:ln/>
        </p:spPr>
        <p:txBody>
          <a:bodyPr wrap="square" lIns="0" tIns="0" rIns="0" bIns="0" rtlCol="0" anchor="ctr"/>
          <a:lstStyle/>
          <a:p>
            <a:pPr marL="0" indent="0">
              <a:buNone/>
            </a:pPr>
            <a:r>
              <a:rPr lang="en-US" sz="2500" b="1" dirty="0">
                <a:solidFill>
                  <a:srgbClr val="26242B"/>
                </a:solidFill>
                <a:latin typeface="Bookman Old Style" pitchFamily="34" charset="0"/>
                <a:ea typeface="Bookman Old Style" pitchFamily="34" charset="-122"/>
                <a:cs typeface="Bookman Old Style" pitchFamily="34" charset="-120"/>
              </a:rPr>
              <a:t>Part 3 — trusting a public key</a:t>
            </a:r>
            <a:endParaRPr lang="en-US" sz="2500" dirty="0"/>
          </a:p>
        </p:txBody>
      </p:sp>
      <p:sp>
        <p:nvSpPr>
          <p:cNvPr id="4" name="Text 2"/>
          <p:cNvSpPr txBox="1"/>
          <p:nvPr/>
        </p:nvSpPr>
        <p:spPr>
          <a:xfrm>
            <a:off x="621792" y="1133856"/>
            <a:ext cx="10917936" cy="274320"/>
          </a:xfrm>
          <a:prstGeom prst="rect">
            <a:avLst/>
          </a:prstGeom>
          <a:noFill/>
          <a:ln/>
        </p:spPr>
        <p:txBody>
          <a:bodyPr wrap="square" lIns="0" tIns="0" rIns="0" bIns="0" rtlCol="0" anchor="ctr"/>
          <a:lstStyle/>
          <a:p>
            <a:pPr marL="0" indent="0">
              <a:buNone/>
            </a:pPr>
            <a:r>
              <a:rPr lang="en-US" sz="1200" dirty="0">
                <a:solidFill>
                  <a:srgbClr val="76737E"/>
                </a:solidFill>
                <a:latin typeface="Arial" pitchFamily="34" charset="0"/>
                <a:ea typeface="Arial" pitchFamily="34" charset="-122"/>
                <a:cs typeface="Arial" pitchFamily="34" charset="-120"/>
              </a:rPr>
              <a:t>Decision 7.4 — the server gives us keys, and the server is not trusted</a:t>
            </a:r>
            <a:endParaRPr lang="en-US" sz="1200" dirty="0"/>
          </a:p>
        </p:txBody>
      </p:sp>
      <p:sp>
        <p:nvSpPr>
          <p:cNvPr id="5" name="Text 3"/>
          <p:cNvSpPr txBox="1"/>
          <p:nvPr/>
        </p:nvSpPr>
        <p:spPr>
          <a:xfrm>
            <a:off x="10899648" y="310896"/>
            <a:ext cx="640080" cy="274320"/>
          </a:xfrm>
          <a:prstGeom prst="rect">
            <a:avLst/>
          </a:prstGeom>
          <a:noFill/>
          <a:ln/>
        </p:spPr>
        <p:txBody>
          <a:bodyPr wrap="square" lIns="0" tIns="0" rIns="0" bIns="0" rtlCol="0" anchor="ctr"/>
          <a:lstStyle/>
          <a:p>
            <a:pPr marL="0" indent="0" algn="r">
              <a:buNone/>
            </a:pPr>
            <a:r>
              <a:rPr lang="en-US" sz="1100" b="1" dirty="0">
                <a:solidFill>
                  <a:srgbClr val="DEDCE2"/>
                </a:solidFill>
                <a:latin typeface="Arial" pitchFamily="34" charset="0"/>
                <a:ea typeface="Arial" pitchFamily="34" charset="-122"/>
                <a:cs typeface="Arial" pitchFamily="34" charset="-120"/>
              </a:rPr>
              <a:t>17</a:t>
            </a:r>
            <a:endParaRPr lang="en-US" sz="1100" dirty="0"/>
          </a:p>
        </p:txBody>
      </p:sp>
      <p:sp>
        <p:nvSpPr>
          <p:cNvPr id="6" name="Shape 4"/>
          <p:cNvSpPr/>
          <p:nvPr/>
        </p:nvSpPr>
        <p:spPr>
          <a:xfrm>
            <a:off x="621792" y="1481328"/>
            <a:ext cx="3794760" cy="1691640"/>
          </a:xfrm>
          <a:prstGeom prst="rect">
            <a:avLst/>
          </a:prstGeom>
          <a:solidFill>
            <a:srgbClr val="FFFFFF"/>
          </a:solidFill>
          <a:ln w="12700">
            <a:solidFill>
              <a:srgbClr val="DEDCE2"/>
            </a:solidFill>
            <a:prstDash val="solid"/>
          </a:ln>
        </p:spPr>
      </p:sp>
      <p:sp>
        <p:nvSpPr>
          <p:cNvPr id="7" name="Text 5"/>
          <p:cNvSpPr txBox="1"/>
          <p:nvPr/>
        </p:nvSpPr>
        <p:spPr>
          <a:xfrm>
            <a:off x="822960" y="1618488"/>
            <a:ext cx="3392424" cy="292608"/>
          </a:xfrm>
          <a:prstGeom prst="rect">
            <a:avLst/>
          </a:prstGeom>
          <a:noFill/>
          <a:ln/>
        </p:spPr>
        <p:txBody>
          <a:bodyPr wrap="square" lIns="0" tIns="0" rIns="0" bIns="0" rtlCol="0" anchor="ctr"/>
          <a:lstStyle/>
          <a:p>
            <a:pPr marL="0" indent="0">
              <a:buNone/>
            </a:pPr>
            <a:r>
              <a:rPr lang="en-US" sz="1150" b="1" kern="0" spc="40" dirty="0">
                <a:solidFill>
                  <a:srgbClr val="26242B"/>
                </a:solidFill>
                <a:latin typeface="Arial" pitchFamily="34" charset="0"/>
                <a:ea typeface="Arial" pitchFamily="34" charset="-122"/>
                <a:cs typeface="Arial" pitchFamily="34" charset="-120"/>
              </a:rPr>
              <a:t>What we chose</a:t>
            </a:r>
            <a:endParaRPr lang="en-US" sz="1150" dirty="0"/>
          </a:p>
        </p:txBody>
      </p:sp>
      <p:sp>
        <p:nvSpPr>
          <p:cNvPr id="8" name="Text 6"/>
          <p:cNvSpPr txBox="1"/>
          <p:nvPr/>
        </p:nvSpPr>
        <p:spPr>
          <a:xfrm>
            <a:off x="822960" y="1975104"/>
            <a:ext cx="3392424" cy="1069848"/>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6242B"/>
                </a:solidFill>
                <a:latin typeface="Arial" pitchFamily="34" charset="0"/>
                <a:ea typeface="Arial" pitchFamily="34" charset="-122"/>
                <a:cs typeface="Arial" pitchFamily="34" charset="-120"/>
              </a:rPr>
              <a:t>Trust on first use, with change detection</a:t>
            </a:r>
            <a:endParaRPr lang="en-US" sz="1050" dirty="0"/>
          </a:p>
          <a:p>
            <a:pPr marL="342900" indent="-342900">
              <a:spcAft>
                <a:spcPts val="400"/>
              </a:spcAft>
              <a:buSzPct val="100000"/>
              <a:buChar char="–"/>
            </a:pPr>
            <a:r>
              <a:rPr lang="en-US" sz="1050" dirty="0">
                <a:solidFill>
                  <a:srgbClr val="26242B"/>
                </a:solidFill>
                <a:latin typeface="Arial" pitchFamily="34" charset="0"/>
                <a:ea typeface="Arial" pitchFamily="34" charset="-122"/>
                <a:cs typeface="Arial" pitchFamily="34" charset="-120"/>
              </a:rPr>
              <a:t>The first public key seen is pinned</a:t>
            </a:r>
            <a:endParaRPr lang="en-US" sz="1050" dirty="0"/>
          </a:p>
          <a:p>
            <a:pPr marL="342900" indent="-342900">
              <a:spcAft>
                <a:spcPts val="400"/>
              </a:spcAft>
              <a:buSzPct val="100000"/>
              <a:buChar char="–"/>
            </a:pPr>
            <a:r>
              <a:rPr lang="en-US" sz="1050" dirty="0">
                <a:solidFill>
                  <a:srgbClr val="26242B"/>
                </a:solidFill>
                <a:latin typeface="Arial" pitchFamily="34" charset="0"/>
                <a:ea typeface="Arial" pitchFamily="34" charset="-122"/>
                <a:cs typeface="Arial" pitchFamily="34" charset="-120"/>
              </a:rPr>
              <a:t>Any later change is refused, not silently accepted</a:t>
            </a:r>
            <a:endParaRPr lang="en-US" sz="1050" dirty="0"/>
          </a:p>
        </p:txBody>
      </p:sp>
      <p:sp>
        <p:nvSpPr>
          <p:cNvPr id="9" name="Shape 7"/>
          <p:cNvSpPr/>
          <p:nvPr/>
        </p:nvSpPr>
        <p:spPr>
          <a:xfrm>
            <a:off x="4645152" y="1481328"/>
            <a:ext cx="3794760" cy="1691640"/>
          </a:xfrm>
          <a:prstGeom prst="rect">
            <a:avLst/>
          </a:prstGeom>
          <a:solidFill>
            <a:srgbClr val="FFFFFF"/>
          </a:solidFill>
          <a:ln w="12700">
            <a:solidFill>
              <a:srgbClr val="DEDCE2"/>
            </a:solidFill>
            <a:prstDash val="solid"/>
          </a:ln>
        </p:spPr>
      </p:sp>
      <p:sp>
        <p:nvSpPr>
          <p:cNvPr id="10" name="Text 8"/>
          <p:cNvSpPr txBox="1"/>
          <p:nvPr/>
        </p:nvSpPr>
        <p:spPr>
          <a:xfrm>
            <a:off x="4846320" y="1618488"/>
            <a:ext cx="3392424" cy="292608"/>
          </a:xfrm>
          <a:prstGeom prst="rect">
            <a:avLst/>
          </a:prstGeom>
          <a:noFill/>
          <a:ln/>
        </p:spPr>
        <p:txBody>
          <a:bodyPr wrap="square" lIns="0" tIns="0" rIns="0" bIns="0" rtlCol="0" anchor="ctr"/>
          <a:lstStyle/>
          <a:p>
            <a:pPr marL="0" indent="0">
              <a:buNone/>
            </a:pPr>
            <a:r>
              <a:rPr lang="en-US" sz="1150" b="1" kern="0" spc="40" dirty="0">
                <a:solidFill>
                  <a:srgbClr val="26242B"/>
                </a:solidFill>
                <a:latin typeface="Arial" pitchFamily="34" charset="0"/>
                <a:ea typeface="Arial" pitchFamily="34" charset="-122"/>
                <a:cs typeface="Arial" pitchFamily="34" charset="-120"/>
              </a:rPr>
              <a:t>What the fingerprint covers</a:t>
            </a:r>
            <a:endParaRPr lang="en-US" sz="1150" dirty="0"/>
          </a:p>
        </p:txBody>
      </p:sp>
      <p:sp>
        <p:nvSpPr>
          <p:cNvPr id="11" name="Text 9"/>
          <p:cNvSpPr txBox="1"/>
          <p:nvPr/>
        </p:nvSpPr>
        <p:spPr>
          <a:xfrm>
            <a:off x="4846320" y="1975104"/>
            <a:ext cx="3392424" cy="1069848"/>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6242B"/>
                </a:solidFill>
                <a:latin typeface="Arial" pitchFamily="34" charset="0"/>
                <a:ea typeface="Arial" pitchFamily="34" charset="-122"/>
                <a:cs typeface="Arial" pitchFamily="34" charset="-120"/>
              </a:rPr>
              <a:t>SHA-256 over the canonical PublicKey record — exactly the bytes the server stores</a:t>
            </a:r>
            <a:endParaRPr lang="en-US" sz="1050" dirty="0"/>
          </a:p>
          <a:p>
            <a:pPr marL="342900" indent="-342900">
              <a:spcAft>
                <a:spcPts val="400"/>
              </a:spcAft>
              <a:buSzPct val="100000"/>
              <a:buChar char="–"/>
            </a:pPr>
            <a:r>
              <a:rPr lang="en-US" sz="1050" dirty="0">
                <a:solidFill>
                  <a:srgbClr val="26242B"/>
                </a:solidFill>
                <a:latin typeface="Arial" pitchFamily="34" charset="0"/>
                <a:ea typeface="Arial" pitchFamily="34" charset="-122"/>
                <a:cs typeface="Arial" pitchFamily="34" charset="-120"/>
              </a:rPr>
              <a:t>The user ID as well as both public keys, so a key cannot be moved to another identity</a:t>
            </a:r>
            <a:endParaRPr lang="en-US" sz="1050" dirty="0"/>
          </a:p>
          <a:p>
            <a:pPr marL="342900" indent="-342900">
              <a:spcAft>
                <a:spcPts val="400"/>
              </a:spcAft>
              <a:buSzPct val="100000"/>
              <a:buChar char="–"/>
            </a:pPr>
            <a:r>
              <a:rPr lang="en-US" sz="1050" dirty="0">
                <a:solidFill>
                  <a:srgbClr val="26242B"/>
                </a:solidFill>
                <a:latin typeface="Arial" pitchFamily="34" charset="0"/>
                <a:ea typeface="Arial" pitchFamily="34" charset="-122"/>
                <a:cs typeface="Arial" pitchFamily="34" charset="-120"/>
              </a:rPr>
              <a:t>Changing either key, or the identity, changes the fingerprint</a:t>
            </a:r>
            <a:endParaRPr lang="en-US" sz="1050" dirty="0"/>
          </a:p>
        </p:txBody>
      </p:sp>
      <p:sp>
        <p:nvSpPr>
          <p:cNvPr id="12" name="Shape 10"/>
          <p:cNvSpPr/>
          <p:nvPr/>
        </p:nvSpPr>
        <p:spPr>
          <a:xfrm>
            <a:off x="8668512" y="1481328"/>
            <a:ext cx="2871216" cy="1691640"/>
          </a:xfrm>
          <a:prstGeom prst="rect">
            <a:avLst/>
          </a:prstGeom>
          <a:solidFill>
            <a:srgbClr val="3C4F3F"/>
          </a:solidFill>
          <a:ln w="12700">
            <a:solidFill>
              <a:srgbClr val="3C4F3F"/>
            </a:solidFill>
            <a:prstDash val="solid"/>
          </a:ln>
        </p:spPr>
      </p:sp>
      <p:sp>
        <p:nvSpPr>
          <p:cNvPr id="13" name="Text 11"/>
          <p:cNvSpPr txBox="1"/>
          <p:nvPr/>
        </p:nvSpPr>
        <p:spPr>
          <a:xfrm>
            <a:off x="8869680" y="1618488"/>
            <a:ext cx="2468880" cy="292608"/>
          </a:xfrm>
          <a:prstGeom prst="rect">
            <a:avLst/>
          </a:prstGeom>
          <a:noFill/>
          <a:ln/>
        </p:spPr>
        <p:txBody>
          <a:bodyPr wrap="square" lIns="0" tIns="0" rIns="0" bIns="0" rtlCol="0" anchor="ctr"/>
          <a:lstStyle/>
          <a:p>
            <a:pPr marL="0" indent="0">
              <a:buNone/>
            </a:pPr>
            <a:r>
              <a:rPr lang="en-US" sz="1150" b="1" kern="0" spc="40" dirty="0">
                <a:solidFill>
                  <a:srgbClr val="FFFFFF"/>
                </a:solidFill>
                <a:latin typeface="Arial" pitchFamily="34" charset="0"/>
                <a:ea typeface="Arial" pitchFamily="34" charset="-122"/>
                <a:cs typeface="Arial" pitchFamily="34" charset="-120"/>
              </a:rPr>
              <a:t>Why not a certificate authority</a:t>
            </a:r>
            <a:endParaRPr lang="en-US" sz="1150" dirty="0"/>
          </a:p>
        </p:txBody>
      </p:sp>
      <p:sp>
        <p:nvSpPr>
          <p:cNvPr id="14" name="Text 12"/>
          <p:cNvSpPr txBox="1"/>
          <p:nvPr/>
        </p:nvSpPr>
        <p:spPr>
          <a:xfrm>
            <a:off x="8869680" y="1975104"/>
            <a:ext cx="2468880" cy="1069848"/>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DCE3DC"/>
                </a:solidFill>
                <a:latin typeface="Arial" pitchFamily="34" charset="0"/>
                <a:ea typeface="Arial" pitchFamily="34" charset="-122"/>
                <a:cs typeface="Arial" pitchFamily="34" charset="-120"/>
              </a:rPr>
              <a:t>It moves the trust to the CA key</a:t>
            </a:r>
            <a:endParaRPr lang="en-US" sz="1050" dirty="0"/>
          </a:p>
          <a:p>
            <a:pPr marL="342900" indent="-342900">
              <a:spcAft>
                <a:spcPts val="400"/>
              </a:spcAft>
              <a:buSzPct val="100000"/>
              <a:buChar char="–"/>
            </a:pPr>
            <a:r>
              <a:rPr lang="en-US" sz="1050" dirty="0">
                <a:solidFill>
                  <a:srgbClr val="DCE3DC"/>
                </a:solidFill>
                <a:latin typeface="Arial" pitchFamily="34" charset="0"/>
                <a:ea typeface="Arial" pitchFamily="34" charset="-122"/>
                <a:cs typeface="Arial" pitchFamily="34" charset="-120"/>
              </a:rPr>
              <a:t>More code and more operational trust to defend</a:t>
            </a:r>
            <a:endParaRPr lang="en-US" sz="1050" dirty="0"/>
          </a:p>
          <a:p>
            <a:pPr marL="342900" indent="-342900">
              <a:spcAft>
                <a:spcPts val="400"/>
              </a:spcAft>
              <a:buSzPct val="100000"/>
              <a:buChar char="–"/>
            </a:pPr>
            <a:r>
              <a:rPr lang="en-US" sz="1050" dirty="0">
                <a:solidFill>
                  <a:srgbClr val="DCE3DC"/>
                </a:solidFill>
                <a:latin typeface="Arial" pitchFamily="34" charset="0"/>
                <a:ea typeface="Arial" pitchFamily="34" charset="-122"/>
                <a:cs typeface="Arial" pitchFamily="34" charset="-120"/>
              </a:rPr>
              <a:t>Trust on first use is simpler and testable inside this scope</a:t>
            </a:r>
            <a:endParaRPr lang="en-US" sz="1050" dirty="0"/>
          </a:p>
        </p:txBody>
      </p:sp>
      <p:sp>
        <p:nvSpPr>
          <p:cNvPr id="15" name="Shape 13"/>
          <p:cNvSpPr/>
          <p:nvPr/>
        </p:nvSpPr>
        <p:spPr>
          <a:xfrm>
            <a:off x="621792" y="3337560"/>
            <a:ext cx="5577840" cy="1417320"/>
          </a:xfrm>
          <a:prstGeom prst="rect">
            <a:avLst/>
          </a:prstGeom>
          <a:solidFill>
            <a:srgbClr val="F7F5F6"/>
          </a:solidFill>
          <a:ln w="15875">
            <a:solidFill>
              <a:srgbClr val="C0392F"/>
            </a:solidFill>
            <a:prstDash val="solid"/>
          </a:ln>
        </p:spPr>
      </p:sp>
      <p:sp>
        <p:nvSpPr>
          <p:cNvPr id="16" name="Text 14"/>
          <p:cNvSpPr txBox="1"/>
          <p:nvPr/>
        </p:nvSpPr>
        <p:spPr>
          <a:xfrm>
            <a:off x="822960" y="3474720"/>
            <a:ext cx="5175504" cy="292608"/>
          </a:xfrm>
          <a:prstGeom prst="rect">
            <a:avLst/>
          </a:prstGeom>
          <a:noFill/>
          <a:ln/>
        </p:spPr>
        <p:txBody>
          <a:bodyPr wrap="square" lIns="0" tIns="0" rIns="0" bIns="0" rtlCol="0" anchor="ctr"/>
          <a:lstStyle/>
          <a:p>
            <a:pPr marL="0" indent="0">
              <a:buNone/>
            </a:pPr>
            <a:r>
              <a:rPr lang="en-US" sz="1150" b="1" kern="0" spc="40" dirty="0">
                <a:solidFill>
                  <a:srgbClr val="C0392F"/>
                </a:solidFill>
                <a:latin typeface="Arial" pitchFamily="34" charset="0"/>
                <a:ea typeface="Arial" pitchFamily="34" charset="-122"/>
                <a:cs typeface="Arial" pitchFamily="34" charset="-120"/>
              </a:rPr>
              <a:t>The assumption, stated plainly</a:t>
            </a:r>
            <a:endParaRPr lang="en-US" sz="1150" dirty="0"/>
          </a:p>
        </p:txBody>
      </p:sp>
      <p:sp>
        <p:nvSpPr>
          <p:cNvPr id="17" name="Text 15"/>
          <p:cNvSpPr txBox="1"/>
          <p:nvPr/>
        </p:nvSpPr>
        <p:spPr>
          <a:xfrm>
            <a:off x="822960" y="3813048"/>
            <a:ext cx="5175504" cy="813816"/>
          </a:xfrm>
          <a:prstGeom prst="rect">
            <a:avLst/>
          </a:prstGeom>
          <a:noFill/>
          <a:ln/>
        </p:spPr>
        <p:txBody>
          <a:bodyPr wrap="square" lIns="0" tIns="0" rIns="0" bIns="0" rtlCol="0" anchor="t"/>
          <a:lstStyle/>
          <a:p>
            <a:pPr marL="0" indent="0">
              <a:buNone/>
            </a:pPr>
            <a:r>
              <a:rPr lang="en-US" sz="1050" dirty="0">
                <a:solidFill>
                  <a:srgbClr val="26242B"/>
                </a:solidFill>
                <a:latin typeface="Arial" pitchFamily="34" charset="0"/>
                <a:ea typeface="Arial" pitchFamily="34" charset="-122"/>
                <a:cs typeface="Arial" pitchFamily="34" charset="-120"/>
              </a:rPr>
              <a:t>Trust on first use is exactly as strong as the first contact. If the server substitutes a key before Layla and Omar ever interact, nothing detects it  we only guarantee that the key never changes afterwards without a refusal. Closing that needs the users to compare fingerprints once, out of band; our client prints the fingerprint at login for exactly that.</a:t>
            </a:r>
            <a:endParaRPr lang="en-US" sz="1050" dirty="0"/>
          </a:p>
        </p:txBody>
      </p:sp>
      <p:sp>
        <p:nvSpPr>
          <p:cNvPr id="18" name="Shape 16"/>
          <p:cNvSpPr/>
          <p:nvPr/>
        </p:nvSpPr>
        <p:spPr>
          <a:xfrm>
            <a:off x="6565392" y="3337560"/>
            <a:ext cx="4974336" cy="1417320"/>
          </a:xfrm>
          <a:prstGeom prst="rect">
            <a:avLst/>
          </a:prstGeom>
          <a:solidFill>
            <a:srgbClr val="FFFFFF"/>
          </a:solidFill>
          <a:ln w="12700">
            <a:solidFill>
              <a:srgbClr val="DEDCE2"/>
            </a:solidFill>
            <a:prstDash val="solid"/>
          </a:ln>
        </p:spPr>
      </p:sp>
      <p:sp>
        <p:nvSpPr>
          <p:cNvPr id="19" name="Text 17"/>
          <p:cNvSpPr txBox="1"/>
          <p:nvPr/>
        </p:nvSpPr>
        <p:spPr>
          <a:xfrm>
            <a:off x="6766560" y="3474720"/>
            <a:ext cx="4572000" cy="292608"/>
          </a:xfrm>
          <a:prstGeom prst="rect">
            <a:avLst/>
          </a:prstGeom>
          <a:noFill/>
          <a:ln/>
        </p:spPr>
        <p:txBody>
          <a:bodyPr wrap="square" lIns="0" tIns="0" rIns="0" bIns="0" rtlCol="0" anchor="ctr"/>
          <a:lstStyle/>
          <a:p>
            <a:pPr marL="0" indent="0">
              <a:buNone/>
            </a:pPr>
            <a:r>
              <a:rPr lang="en-US" sz="1150" b="1" kern="0" spc="40" dirty="0">
                <a:solidFill>
                  <a:srgbClr val="26242B"/>
                </a:solidFill>
                <a:latin typeface="Arial" pitchFamily="34" charset="0"/>
                <a:ea typeface="Arial" pitchFamily="34" charset="-122"/>
                <a:cs typeface="Arial" pitchFamily="34" charset="-120"/>
              </a:rPr>
              <a:t>A real bug this slide exists because of</a:t>
            </a:r>
            <a:endParaRPr lang="en-US" sz="1150" dirty="0"/>
          </a:p>
        </p:txBody>
      </p:sp>
      <p:sp>
        <p:nvSpPr>
          <p:cNvPr id="20" name="Text 18"/>
          <p:cNvSpPr txBox="1"/>
          <p:nvPr/>
        </p:nvSpPr>
        <p:spPr>
          <a:xfrm>
            <a:off x="6766560" y="3813048"/>
            <a:ext cx="4572000" cy="813816"/>
          </a:xfrm>
          <a:prstGeom prst="rect">
            <a:avLst/>
          </a:prstGeom>
          <a:noFill/>
          <a:ln/>
        </p:spPr>
        <p:txBody>
          <a:bodyPr wrap="square" lIns="0" tIns="0" rIns="0" bIns="0" rtlCol="0" anchor="t"/>
          <a:lstStyle/>
          <a:p>
            <a:pPr marL="0" indent="0">
              <a:buNone/>
            </a:pPr>
            <a:r>
              <a:rPr lang="en-US" sz="1050" dirty="0">
                <a:solidFill>
                  <a:srgbClr val="26242B"/>
                </a:solidFill>
                <a:latin typeface="Arial" pitchFamily="34" charset="0"/>
                <a:ea typeface="Arial" pitchFamily="34" charset="-122"/>
                <a:cs typeface="Arial" pitchFamily="34" charset="-120"/>
              </a:rPr>
              <a:t>Two parts of the project computed the fingerprint from different byte layouts. Each side agreed with itself, so all their tests passed  but the value a user would compare out of band was not the value bound into a share. We found it only when we wrote a test that compared the two definitions directly.</a:t>
            </a:r>
            <a:endParaRPr lang="en-US" sz="1050" dirty="0"/>
          </a:p>
        </p:txBody>
      </p:sp>
      <p:sp>
        <p:nvSpPr>
          <p:cNvPr id="21" name="Shape 19"/>
          <p:cNvSpPr/>
          <p:nvPr/>
        </p:nvSpPr>
        <p:spPr>
          <a:xfrm>
            <a:off x="621792" y="4919472"/>
            <a:ext cx="10917936" cy="1069848"/>
          </a:xfrm>
          <a:prstGeom prst="rect">
            <a:avLst/>
          </a:prstGeom>
          <a:solidFill>
            <a:srgbClr val="3C4F3F"/>
          </a:solidFill>
          <a:ln w="12700">
            <a:solidFill>
              <a:srgbClr val="3C4F3F"/>
            </a:solidFill>
            <a:prstDash val="solid"/>
          </a:ln>
        </p:spPr>
      </p:sp>
      <p:sp>
        <p:nvSpPr>
          <p:cNvPr id="22" name="Text 20"/>
          <p:cNvSpPr txBox="1"/>
          <p:nvPr/>
        </p:nvSpPr>
        <p:spPr>
          <a:xfrm>
            <a:off x="822960" y="5056632"/>
            <a:ext cx="10515600" cy="292608"/>
          </a:xfrm>
          <a:prstGeom prst="rect">
            <a:avLst/>
          </a:prstGeom>
          <a:noFill/>
          <a:ln/>
        </p:spPr>
        <p:txBody>
          <a:bodyPr wrap="square" lIns="0" tIns="0" rIns="0" bIns="0" rtlCol="0" anchor="ctr"/>
          <a:lstStyle/>
          <a:p>
            <a:pPr marL="0" indent="0">
              <a:buNone/>
            </a:pPr>
            <a:r>
              <a:rPr lang="en-US" sz="1150" b="1" kern="0" spc="40" dirty="0">
                <a:solidFill>
                  <a:srgbClr val="FFFFFF"/>
                </a:solidFill>
                <a:latin typeface="Arial" pitchFamily="34" charset="0"/>
                <a:ea typeface="Arial" pitchFamily="34" charset="-122"/>
                <a:cs typeface="Arial" pitchFamily="34" charset="-120"/>
              </a:rPr>
              <a:t>What we did about it</a:t>
            </a:r>
            <a:endParaRPr lang="en-US" sz="1150" dirty="0"/>
          </a:p>
        </p:txBody>
      </p:sp>
      <p:sp>
        <p:nvSpPr>
          <p:cNvPr id="23" name="Text 21"/>
          <p:cNvSpPr txBox="1"/>
          <p:nvPr/>
        </p:nvSpPr>
        <p:spPr>
          <a:xfrm>
            <a:off x="822960" y="5394960"/>
            <a:ext cx="10515600" cy="466344"/>
          </a:xfrm>
          <a:prstGeom prst="rect">
            <a:avLst/>
          </a:prstGeom>
          <a:noFill/>
          <a:ln/>
        </p:spPr>
        <p:txBody>
          <a:bodyPr wrap="square" lIns="0" tIns="0" rIns="0" bIns="0" rtlCol="0" anchor="t"/>
          <a:lstStyle/>
          <a:p>
            <a:pPr marL="0" indent="0">
              <a:buNone/>
            </a:pPr>
            <a:r>
              <a:rPr lang="en-US" sz="1050" dirty="0">
                <a:solidFill>
                  <a:srgbClr val="DCE3DC"/>
                </a:solidFill>
                <a:latin typeface="Arial" pitchFamily="34" charset="0"/>
                <a:ea typeface="Arial" pitchFamily="34" charset="-122"/>
                <a:cs typeface="Arial" pitchFamily="34" charset="-120"/>
              </a:rPr>
              <a:t>One definition now: both paths hash the canonical PublicKey record. The cross-boundary test that exposed the split is kept in the suite  it failed on the old build and passes on the fixed one, so the two definitions cannot drift apart again without something going red. The wider lesson is the one on slide 05: each part was well tested on its own, and the defect lived in the seam between them.</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21792" y="329184"/>
            <a:ext cx="9820656" cy="237744"/>
          </a:xfrm>
          <a:prstGeom prst="rect">
            <a:avLst/>
          </a:prstGeom>
          <a:noFill/>
          <a:ln/>
        </p:spPr>
        <p:txBody>
          <a:bodyPr wrap="square" lIns="0" tIns="0" rIns="0" bIns="0" rtlCol="0" anchor="ctr"/>
          <a:lstStyle/>
          <a:p>
            <a:pPr marL="0" indent="0">
              <a:buNone/>
            </a:pPr>
            <a:r>
              <a:rPr lang="en-US" sz="950" b="1" kern="0" spc="250" dirty="0">
                <a:solidFill>
                  <a:srgbClr val="C0392F"/>
                </a:solidFill>
                <a:latin typeface="Arial" pitchFamily="34" charset="0"/>
                <a:ea typeface="Arial" pitchFamily="34" charset="-122"/>
                <a:cs typeface="Arial" pitchFamily="34" charset="-120"/>
              </a:rPr>
              <a:t>PART 3 · SHARING</a:t>
            </a:r>
            <a:endParaRPr lang="en-US" sz="950" dirty="0"/>
          </a:p>
        </p:txBody>
      </p:sp>
      <p:sp>
        <p:nvSpPr>
          <p:cNvPr id="3" name="Text 1"/>
          <p:cNvSpPr txBox="1"/>
          <p:nvPr/>
        </p:nvSpPr>
        <p:spPr>
          <a:xfrm>
            <a:off x="621792" y="603504"/>
            <a:ext cx="10917936" cy="530352"/>
          </a:xfrm>
          <a:prstGeom prst="rect">
            <a:avLst/>
          </a:prstGeom>
          <a:noFill/>
          <a:ln/>
        </p:spPr>
        <p:txBody>
          <a:bodyPr wrap="square" lIns="0" tIns="0" rIns="0" bIns="0" rtlCol="0" anchor="ctr"/>
          <a:lstStyle/>
          <a:p>
            <a:pPr marL="0" indent="0">
              <a:buNone/>
            </a:pPr>
            <a:r>
              <a:rPr lang="en-US" sz="2500" b="1" dirty="0">
                <a:solidFill>
                  <a:srgbClr val="26242B"/>
                </a:solidFill>
                <a:latin typeface="Bookman Old Style" pitchFamily="34" charset="0"/>
                <a:ea typeface="Bookman Old Style" pitchFamily="34" charset="-122"/>
                <a:cs typeface="Bookman Old Style" pitchFamily="34" charset="-120"/>
              </a:rPr>
              <a:t>Part 3 — sharing a document key</a:t>
            </a:r>
            <a:endParaRPr lang="en-US" sz="2500" dirty="0"/>
          </a:p>
        </p:txBody>
      </p:sp>
      <p:sp>
        <p:nvSpPr>
          <p:cNvPr id="4" name="Text 2"/>
          <p:cNvSpPr txBox="1"/>
          <p:nvPr/>
        </p:nvSpPr>
        <p:spPr>
          <a:xfrm>
            <a:off x="621792" y="1133856"/>
            <a:ext cx="10917936" cy="274320"/>
          </a:xfrm>
          <a:prstGeom prst="rect">
            <a:avLst/>
          </a:prstGeom>
          <a:noFill/>
          <a:ln/>
        </p:spPr>
        <p:txBody>
          <a:bodyPr wrap="square" lIns="0" tIns="0" rIns="0" bIns="0" rtlCol="0" anchor="ctr"/>
          <a:lstStyle/>
          <a:p>
            <a:pPr marL="0" indent="0">
              <a:buNone/>
            </a:pPr>
            <a:r>
              <a:rPr lang="en-US" sz="1200" dirty="0">
                <a:solidFill>
                  <a:srgbClr val="76737E"/>
                </a:solidFill>
                <a:latin typeface="Arial" pitchFamily="34" charset="0"/>
                <a:ea typeface="Arial" pitchFamily="34" charset="-122"/>
                <a:cs typeface="Arial" pitchFamily="34" charset="-120"/>
              </a:rPr>
              <a:t>Encryption and signing do two different jobs</a:t>
            </a:r>
            <a:endParaRPr lang="en-US" sz="1200" dirty="0"/>
          </a:p>
        </p:txBody>
      </p:sp>
      <p:sp>
        <p:nvSpPr>
          <p:cNvPr id="5" name="Text 3"/>
          <p:cNvSpPr txBox="1"/>
          <p:nvPr/>
        </p:nvSpPr>
        <p:spPr>
          <a:xfrm>
            <a:off x="10899648" y="310896"/>
            <a:ext cx="640080" cy="274320"/>
          </a:xfrm>
          <a:prstGeom prst="rect">
            <a:avLst/>
          </a:prstGeom>
          <a:noFill/>
          <a:ln/>
        </p:spPr>
        <p:txBody>
          <a:bodyPr wrap="square" lIns="0" tIns="0" rIns="0" bIns="0" rtlCol="0" anchor="ctr"/>
          <a:lstStyle/>
          <a:p>
            <a:pPr marL="0" indent="0" algn="r">
              <a:buNone/>
            </a:pPr>
            <a:r>
              <a:rPr lang="en-US" sz="1100" b="1" dirty="0">
                <a:solidFill>
                  <a:srgbClr val="DEDCE2"/>
                </a:solidFill>
                <a:latin typeface="Arial" pitchFamily="34" charset="0"/>
                <a:ea typeface="Arial" pitchFamily="34" charset="-122"/>
                <a:cs typeface="Arial" pitchFamily="34" charset="-120"/>
              </a:rPr>
              <a:t>18</a:t>
            </a:r>
            <a:endParaRPr lang="en-US" sz="1100" dirty="0"/>
          </a:p>
        </p:txBody>
      </p:sp>
      <p:sp>
        <p:nvSpPr>
          <p:cNvPr id="6" name="Text 4"/>
          <p:cNvSpPr txBox="1"/>
          <p:nvPr/>
        </p:nvSpPr>
        <p:spPr>
          <a:xfrm>
            <a:off x="621792" y="1481328"/>
            <a:ext cx="822960" cy="402336"/>
          </a:xfrm>
          <a:prstGeom prst="rect">
            <a:avLst/>
          </a:prstGeom>
          <a:noFill/>
          <a:ln/>
        </p:spPr>
        <p:txBody>
          <a:bodyPr wrap="square" lIns="0" tIns="0" rIns="0" bIns="0" rtlCol="0" anchor="ctr"/>
          <a:lstStyle/>
          <a:p>
            <a:pPr marL="0" indent="0">
              <a:buNone/>
            </a:pPr>
            <a:r>
              <a:rPr lang="en-US" sz="2200" b="1" dirty="0">
                <a:solidFill>
                  <a:srgbClr val="C0392F"/>
                </a:solidFill>
                <a:latin typeface="Bookman Old Style" pitchFamily="34" charset="0"/>
                <a:ea typeface="Bookman Old Style" pitchFamily="34" charset="-122"/>
                <a:cs typeface="Bookman Old Style" pitchFamily="34" charset="-120"/>
              </a:rPr>
              <a:t>01</a:t>
            </a:r>
            <a:endParaRPr lang="en-US" sz="2200" dirty="0"/>
          </a:p>
        </p:txBody>
      </p:sp>
      <p:sp>
        <p:nvSpPr>
          <p:cNvPr id="7" name="Text 5"/>
          <p:cNvSpPr txBox="1"/>
          <p:nvPr/>
        </p:nvSpPr>
        <p:spPr>
          <a:xfrm>
            <a:off x="621792" y="1883664"/>
            <a:ext cx="2496312" cy="274320"/>
          </a:xfrm>
          <a:prstGeom prst="rect">
            <a:avLst/>
          </a:prstGeom>
          <a:noFill/>
          <a:ln/>
        </p:spPr>
        <p:txBody>
          <a:bodyPr wrap="square" lIns="0" tIns="0" rIns="0" bIns="0" rtlCol="0" anchor="ctr"/>
          <a:lstStyle/>
          <a:p>
            <a:pPr marL="0" indent="0">
              <a:buNone/>
            </a:pPr>
            <a:r>
              <a:rPr lang="en-US" sz="1200" b="1" dirty="0">
                <a:solidFill>
                  <a:srgbClr val="26242B"/>
                </a:solidFill>
                <a:latin typeface="Arial" pitchFamily="34" charset="0"/>
                <a:ea typeface="Arial" pitchFamily="34" charset="-122"/>
                <a:cs typeface="Arial" pitchFamily="34" charset="-120"/>
              </a:rPr>
              <a:t>Ephemeral key</a:t>
            </a:r>
            <a:endParaRPr lang="en-US" sz="1200" dirty="0"/>
          </a:p>
        </p:txBody>
      </p:sp>
      <p:sp>
        <p:nvSpPr>
          <p:cNvPr id="8" name="Text 6"/>
          <p:cNvSpPr txBox="1"/>
          <p:nvPr/>
        </p:nvSpPr>
        <p:spPr>
          <a:xfrm>
            <a:off x="621792" y="2157984"/>
            <a:ext cx="2496312" cy="566928"/>
          </a:xfrm>
          <a:prstGeom prst="rect">
            <a:avLst/>
          </a:prstGeom>
          <a:noFill/>
          <a:ln/>
        </p:spPr>
        <p:txBody>
          <a:bodyPr wrap="square" lIns="0" tIns="0" rIns="0" bIns="0" rtlCol="0" anchor="t"/>
          <a:lstStyle/>
          <a:p>
            <a:pPr marL="0" indent="0">
              <a:buNone/>
            </a:pPr>
            <a:r>
              <a:rPr lang="en-US" sz="1050" dirty="0">
                <a:solidFill>
                  <a:srgbClr val="76737E"/>
                </a:solidFill>
                <a:latin typeface="Arial" pitchFamily="34" charset="0"/>
                <a:ea typeface="Arial" pitchFamily="34" charset="-122"/>
                <a:cs typeface="Arial" pitchFamily="34" charset="-120"/>
              </a:rPr>
              <a:t>A one-time P-256 pair, so the sender's long-term key never touches the agreement</a:t>
            </a:r>
            <a:endParaRPr lang="en-US" sz="1050" dirty="0"/>
          </a:p>
        </p:txBody>
      </p:sp>
      <p:sp>
        <p:nvSpPr>
          <p:cNvPr id="9" name="Shape 7"/>
          <p:cNvSpPr/>
          <p:nvPr/>
        </p:nvSpPr>
        <p:spPr>
          <a:xfrm>
            <a:off x="621792" y="1847088"/>
            <a:ext cx="2496312" cy="0"/>
          </a:xfrm>
          <a:prstGeom prst="line">
            <a:avLst/>
          </a:prstGeom>
          <a:noFill/>
          <a:ln w="9525">
            <a:solidFill>
              <a:srgbClr val="DEDCE2"/>
            </a:solidFill>
            <a:prstDash val="solid"/>
          </a:ln>
        </p:spPr>
      </p:sp>
      <p:sp>
        <p:nvSpPr>
          <p:cNvPr id="10" name="Text 8"/>
          <p:cNvSpPr txBox="1"/>
          <p:nvPr/>
        </p:nvSpPr>
        <p:spPr>
          <a:xfrm>
            <a:off x="3429000" y="1481328"/>
            <a:ext cx="822960" cy="402336"/>
          </a:xfrm>
          <a:prstGeom prst="rect">
            <a:avLst/>
          </a:prstGeom>
          <a:noFill/>
          <a:ln/>
        </p:spPr>
        <p:txBody>
          <a:bodyPr wrap="square" lIns="0" tIns="0" rIns="0" bIns="0" rtlCol="0" anchor="ctr"/>
          <a:lstStyle/>
          <a:p>
            <a:pPr marL="0" indent="0">
              <a:buNone/>
            </a:pPr>
            <a:r>
              <a:rPr lang="en-US" sz="2200" b="1" dirty="0">
                <a:solidFill>
                  <a:srgbClr val="C0392F"/>
                </a:solidFill>
                <a:latin typeface="Bookman Old Style" pitchFamily="34" charset="0"/>
                <a:ea typeface="Bookman Old Style" pitchFamily="34" charset="-122"/>
                <a:cs typeface="Bookman Old Style" pitchFamily="34" charset="-120"/>
              </a:rPr>
              <a:t>02</a:t>
            </a:r>
            <a:endParaRPr lang="en-US" sz="2200" dirty="0"/>
          </a:p>
        </p:txBody>
      </p:sp>
      <p:sp>
        <p:nvSpPr>
          <p:cNvPr id="11" name="Text 9"/>
          <p:cNvSpPr txBox="1"/>
          <p:nvPr/>
        </p:nvSpPr>
        <p:spPr>
          <a:xfrm>
            <a:off x="3429000" y="1883664"/>
            <a:ext cx="2496312" cy="274320"/>
          </a:xfrm>
          <a:prstGeom prst="rect">
            <a:avLst/>
          </a:prstGeom>
          <a:noFill/>
          <a:ln/>
        </p:spPr>
        <p:txBody>
          <a:bodyPr wrap="square" lIns="0" tIns="0" rIns="0" bIns="0" rtlCol="0" anchor="ctr"/>
          <a:lstStyle/>
          <a:p>
            <a:pPr marL="0" indent="0">
              <a:buNone/>
            </a:pPr>
            <a:r>
              <a:rPr lang="en-US" sz="1200" b="1" dirty="0">
                <a:solidFill>
                  <a:srgbClr val="26242B"/>
                </a:solidFill>
                <a:latin typeface="Arial" pitchFamily="34" charset="0"/>
                <a:ea typeface="Arial" pitchFamily="34" charset="-122"/>
                <a:cs typeface="Arial" pitchFamily="34" charset="-120"/>
              </a:rPr>
              <a:t>ECDH and HKDF</a:t>
            </a:r>
            <a:endParaRPr lang="en-US" sz="1200" dirty="0"/>
          </a:p>
        </p:txBody>
      </p:sp>
      <p:sp>
        <p:nvSpPr>
          <p:cNvPr id="12" name="Text 10"/>
          <p:cNvSpPr txBox="1"/>
          <p:nvPr/>
        </p:nvSpPr>
        <p:spPr>
          <a:xfrm>
            <a:off x="3429000" y="2157984"/>
            <a:ext cx="2496312" cy="566928"/>
          </a:xfrm>
          <a:prstGeom prst="rect">
            <a:avLst/>
          </a:prstGeom>
          <a:noFill/>
          <a:ln/>
        </p:spPr>
        <p:txBody>
          <a:bodyPr wrap="square" lIns="0" tIns="0" rIns="0" bIns="0" rtlCol="0" anchor="t"/>
          <a:lstStyle/>
          <a:p>
            <a:pPr marL="0" indent="0">
              <a:buNone/>
            </a:pPr>
            <a:r>
              <a:rPr lang="en-US" sz="1050" dirty="0">
                <a:solidFill>
                  <a:srgbClr val="76737E"/>
                </a:solidFill>
                <a:latin typeface="Arial" pitchFamily="34" charset="0"/>
                <a:ea typeface="Arial" pitchFamily="34" charset="-122"/>
                <a:cs typeface="Arial" pitchFamily="34" charset="-120"/>
              </a:rPr>
              <a:t>Derive a wrapping key only Omar can reproduce</a:t>
            </a:r>
            <a:endParaRPr lang="en-US" sz="1050" dirty="0"/>
          </a:p>
        </p:txBody>
      </p:sp>
      <p:sp>
        <p:nvSpPr>
          <p:cNvPr id="13" name="Shape 11"/>
          <p:cNvSpPr/>
          <p:nvPr/>
        </p:nvSpPr>
        <p:spPr>
          <a:xfrm>
            <a:off x="3429000" y="1847088"/>
            <a:ext cx="2496312" cy="0"/>
          </a:xfrm>
          <a:prstGeom prst="line">
            <a:avLst/>
          </a:prstGeom>
          <a:noFill/>
          <a:ln w="9525">
            <a:solidFill>
              <a:srgbClr val="DEDCE2"/>
            </a:solidFill>
            <a:prstDash val="solid"/>
          </a:ln>
        </p:spPr>
      </p:sp>
      <p:sp>
        <p:nvSpPr>
          <p:cNvPr id="14" name="Text 12"/>
          <p:cNvSpPr txBox="1"/>
          <p:nvPr/>
        </p:nvSpPr>
        <p:spPr>
          <a:xfrm>
            <a:off x="6236208" y="1481328"/>
            <a:ext cx="822960" cy="402336"/>
          </a:xfrm>
          <a:prstGeom prst="rect">
            <a:avLst/>
          </a:prstGeom>
          <a:noFill/>
          <a:ln/>
        </p:spPr>
        <p:txBody>
          <a:bodyPr wrap="square" lIns="0" tIns="0" rIns="0" bIns="0" rtlCol="0" anchor="ctr"/>
          <a:lstStyle/>
          <a:p>
            <a:pPr marL="0" indent="0">
              <a:buNone/>
            </a:pPr>
            <a:r>
              <a:rPr lang="en-US" sz="2200" b="1" dirty="0">
                <a:solidFill>
                  <a:srgbClr val="C0392F"/>
                </a:solidFill>
                <a:latin typeface="Bookman Old Style" pitchFamily="34" charset="0"/>
                <a:ea typeface="Bookman Old Style" pitchFamily="34" charset="-122"/>
                <a:cs typeface="Bookman Old Style" pitchFamily="34" charset="-120"/>
              </a:rPr>
              <a:t>03</a:t>
            </a:r>
            <a:endParaRPr lang="en-US" sz="2200" dirty="0"/>
          </a:p>
        </p:txBody>
      </p:sp>
      <p:sp>
        <p:nvSpPr>
          <p:cNvPr id="15" name="Text 13"/>
          <p:cNvSpPr txBox="1"/>
          <p:nvPr/>
        </p:nvSpPr>
        <p:spPr>
          <a:xfrm>
            <a:off x="6236208" y="1883664"/>
            <a:ext cx="2496312" cy="274320"/>
          </a:xfrm>
          <a:prstGeom prst="rect">
            <a:avLst/>
          </a:prstGeom>
          <a:noFill/>
          <a:ln/>
        </p:spPr>
        <p:txBody>
          <a:bodyPr wrap="square" lIns="0" tIns="0" rIns="0" bIns="0" rtlCol="0" anchor="ctr"/>
          <a:lstStyle/>
          <a:p>
            <a:pPr marL="0" indent="0">
              <a:buNone/>
            </a:pPr>
            <a:r>
              <a:rPr lang="en-US" sz="1200" b="1" dirty="0">
                <a:solidFill>
                  <a:srgbClr val="26242B"/>
                </a:solidFill>
                <a:latin typeface="Arial" pitchFamily="34" charset="0"/>
                <a:ea typeface="Arial" pitchFamily="34" charset="-122"/>
                <a:cs typeface="Arial" pitchFamily="34" charset="-120"/>
              </a:rPr>
              <a:t>Wrap</a:t>
            </a:r>
            <a:endParaRPr lang="en-US" sz="1200" dirty="0"/>
          </a:p>
        </p:txBody>
      </p:sp>
      <p:sp>
        <p:nvSpPr>
          <p:cNvPr id="16" name="Text 14"/>
          <p:cNvSpPr txBox="1"/>
          <p:nvPr/>
        </p:nvSpPr>
        <p:spPr>
          <a:xfrm>
            <a:off x="6236208" y="2157984"/>
            <a:ext cx="2496312" cy="566928"/>
          </a:xfrm>
          <a:prstGeom prst="rect">
            <a:avLst/>
          </a:prstGeom>
          <a:noFill/>
          <a:ln/>
        </p:spPr>
        <p:txBody>
          <a:bodyPr wrap="square" lIns="0" tIns="0" rIns="0" bIns="0" rtlCol="0" anchor="t"/>
          <a:lstStyle/>
          <a:p>
            <a:pPr marL="0" indent="0">
              <a:buNone/>
            </a:pPr>
            <a:r>
              <a:rPr lang="en-US" sz="1050" dirty="0">
                <a:solidFill>
                  <a:srgbClr val="76737E"/>
                </a:solidFill>
                <a:latin typeface="Arial" pitchFamily="34" charset="0"/>
                <a:ea typeface="Arial" pitchFamily="34" charset="-122"/>
                <a:cs typeface="Arial" pitchFamily="34" charset="-120"/>
              </a:rPr>
              <a:t>AEAD over the document key, all share metadata in the associated data</a:t>
            </a:r>
            <a:endParaRPr lang="en-US" sz="1050" dirty="0"/>
          </a:p>
        </p:txBody>
      </p:sp>
      <p:sp>
        <p:nvSpPr>
          <p:cNvPr id="17" name="Shape 15"/>
          <p:cNvSpPr/>
          <p:nvPr/>
        </p:nvSpPr>
        <p:spPr>
          <a:xfrm>
            <a:off x="6236208" y="1847088"/>
            <a:ext cx="2496312" cy="0"/>
          </a:xfrm>
          <a:prstGeom prst="line">
            <a:avLst/>
          </a:prstGeom>
          <a:noFill/>
          <a:ln w="9525">
            <a:solidFill>
              <a:srgbClr val="DEDCE2"/>
            </a:solidFill>
            <a:prstDash val="solid"/>
          </a:ln>
        </p:spPr>
      </p:sp>
      <p:sp>
        <p:nvSpPr>
          <p:cNvPr id="18" name="Text 16"/>
          <p:cNvSpPr txBox="1"/>
          <p:nvPr/>
        </p:nvSpPr>
        <p:spPr>
          <a:xfrm>
            <a:off x="9043416" y="1481328"/>
            <a:ext cx="822960" cy="402336"/>
          </a:xfrm>
          <a:prstGeom prst="rect">
            <a:avLst/>
          </a:prstGeom>
          <a:noFill/>
          <a:ln/>
        </p:spPr>
        <p:txBody>
          <a:bodyPr wrap="square" lIns="0" tIns="0" rIns="0" bIns="0" rtlCol="0" anchor="ctr"/>
          <a:lstStyle/>
          <a:p>
            <a:pPr marL="0" indent="0">
              <a:buNone/>
            </a:pPr>
            <a:r>
              <a:rPr lang="en-US" sz="2200" b="1" dirty="0">
                <a:solidFill>
                  <a:srgbClr val="C0392F"/>
                </a:solidFill>
                <a:latin typeface="Bookman Old Style" pitchFamily="34" charset="0"/>
                <a:ea typeface="Bookman Old Style" pitchFamily="34" charset="-122"/>
                <a:cs typeface="Bookman Old Style" pitchFamily="34" charset="-120"/>
              </a:rPr>
              <a:t>04</a:t>
            </a:r>
            <a:endParaRPr lang="en-US" sz="2200" dirty="0"/>
          </a:p>
        </p:txBody>
      </p:sp>
      <p:sp>
        <p:nvSpPr>
          <p:cNvPr id="19" name="Text 17"/>
          <p:cNvSpPr txBox="1"/>
          <p:nvPr/>
        </p:nvSpPr>
        <p:spPr>
          <a:xfrm>
            <a:off x="9043416" y="1883664"/>
            <a:ext cx="2496312" cy="274320"/>
          </a:xfrm>
          <a:prstGeom prst="rect">
            <a:avLst/>
          </a:prstGeom>
          <a:noFill/>
          <a:ln/>
        </p:spPr>
        <p:txBody>
          <a:bodyPr wrap="square" lIns="0" tIns="0" rIns="0" bIns="0" rtlCol="0" anchor="ctr"/>
          <a:lstStyle/>
          <a:p>
            <a:pPr marL="0" indent="0">
              <a:buNone/>
            </a:pPr>
            <a:r>
              <a:rPr lang="en-US" sz="1200" b="1" dirty="0">
                <a:solidFill>
                  <a:srgbClr val="26242B"/>
                </a:solidFill>
                <a:latin typeface="Arial" pitchFamily="34" charset="0"/>
                <a:ea typeface="Arial" pitchFamily="34" charset="-122"/>
                <a:cs typeface="Arial" pitchFamily="34" charset="-120"/>
              </a:rPr>
              <a:t>Sign</a:t>
            </a:r>
            <a:endParaRPr lang="en-US" sz="1200" dirty="0"/>
          </a:p>
        </p:txBody>
      </p:sp>
      <p:sp>
        <p:nvSpPr>
          <p:cNvPr id="20" name="Text 18"/>
          <p:cNvSpPr txBox="1"/>
          <p:nvPr/>
        </p:nvSpPr>
        <p:spPr>
          <a:xfrm>
            <a:off x="9043416" y="2157984"/>
            <a:ext cx="2496312" cy="566928"/>
          </a:xfrm>
          <a:prstGeom prst="rect">
            <a:avLst/>
          </a:prstGeom>
          <a:noFill/>
          <a:ln/>
        </p:spPr>
        <p:txBody>
          <a:bodyPr wrap="square" lIns="0" tIns="0" rIns="0" bIns="0" rtlCol="0" anchor="t"/>
          <a:lstStyle/>
          <a:p>
            <a:pPr marL="0" indent="0">
              <a:buNone/>
            </a:pPr>
            <a:r>
              <a:rPr lang="en-US" sz="1050" dirty="0">
                <a:solidFill>
                  <a:srgbClr val="76737E"/>
                </a:solidFill>
                <a:latin typeface="Arial" pitchFamily="34" charset="0"/>
                <a:ea typeface="Arial" pitchFamily="34" charset="-122"/>
                <a:cs typeface="Arial" pitchFamily="34" charset="-120"/>
              </a:rPr>
              <a:t>RSA-PSS over the share's signed bytes</a:t>
            </a:r>
            <a:endParaRPr lang="en-US" sz="1050" dirty="0"/>
          </a:p>
        </p:txBody>
      </p:sp>
      <p:sp>
        <p:nvSpPr>
          <p:cNvPr id="21" name="Shape 19"/>
          <p:cNvSpPr/>
          <p:nvPr/>
        </p:nvSpPr>
        <p:spPr>
          <a:xfrm>
            <a:off x="9043416" y="1847088"/>
            <a:ext cx="2496312" cy="0"/>
          </a:xfrm>
          <a:prstGeom prst="line">
            <a:avLst/>
          </a:prstGeom>
          <a:noFill/>
          <a:ln w="9525">
            <a:solidFill>
              <a:srgbClr val="DEDCE2"/>
            </a:solidFill>
            <a:prstDash val="solid"/>
          </a:ln>
        </p:spPr>
      </p:sp>
      <p:sp>
        <p:nvSpPr>
          <p:cNvPr id="22" name="Text 20"/>
          <p:cNvSpPr txBox="1"/>
          <p:nvPr/>
        </p:nvSpPr>
        <p:spPr>
          <a:xfrm>
            <a:off x="621792" y="2926080"/>
            <a:ext cx="10917936" cy="256032"/>
          </a:xfrm>
          <a:prstGeom prst="rect">
            <a:avLst/>
          </a:prstGeom>
          <a:noFill/>
          <a:ln/>
        </p:spPr>
        <p:txBody>
          <a:bodyPr wrap="square" lIns="0" tIns="0" rIns="0" bIns="0" rtlCol="0" anchor="ctr"/>
          <a:lstStyle/>
          <a:p>
            <a:pPr marL="0" indent="0">
              <a:buNone/>
            </a:pPr>
            <a:r>
              <a:rPr lang="en-US" sz="1150" b="1" dirty="0">
                <a:solidFill>
                  <a:srgbClr val="26242B"/>
                </a:solidFill>
                <a:latin typeface="Arial" pitchFamily="34" charset="0"/>
                <a:ea typeface="Arial" pitchFamily="34" charset="-122"/>
                <a:cs typeface="Arial" pitchFamily="34" charset="-120"/>
              </a:rPr>
              <a:t>Omar's side, in order</a:t>
            </a:r>
            <a:r>
              <a:rPr lang="ar-PS" sz="1150" b="1" dirty="0">
                <a:solidFill>
                  <a:srgbClr val="26242B"/>
                </a:solidFill>
                <a:latin typeface="Arial" pitchFamily="34" charset="0"/>
                <a:ea typeface="Arial" pitchFamily="34" charset="-122"/>
                <a:cs typeface="Arial" pitchFamily="34" charset="-120"/>
              </a:rPr>
              <a:t>,</a:t>
            </a:r>
            <a:r>
              <a:rPr lang="en-US" sz="1150" b="1" dirty="0">
                <a:solidFill>
                  <a:srgbClr val="26242B"/>
                </a:solidFill>
                <a:latin typeface="Arial" pitchFamily="34" charset="0"/>
                <a:ea typeface="Arial" pitchFamily="34" charset="-122"/>
                <a:cs typeface="Arial" pitchFamily="34" charset="-120"/>
              </a:rPr>
              <a:t> each check stops before the next</a:t>
            </a:r>
            <a:endParaRPr lang="en-US" sz="1150" dirty="0"/>
          </a:p>
        </p:txBody>
      </p:sp>
      <p:sp>
        <p:nvSpPr>
          <p:cNvPr id="23" name="Shape 21"/>
          <p:cNvSpPr/>
          <p:nvPr/>
        </p:nvSpPr>
        <p:spPr>
          <a:xfrm>
            <a:off x="621792" y="3200400"/>
            <a:ext cx="10917936" cy="0"/>
          </a:xfrm>
          <a:prstGeom prst="line">
            <a:avLst/>
          </a:prstGeom>
          <a:noFill/>
          <a:ln w="9525">
            <a:solidFill>
              <a:srgbClr val="DEDCE2"/>
            </a:solidFill>
            <a:prstDash val="solid"/>
          </a:ln>
        </p:spPr>
      </p:sp>
      <p:sp>
        <p:nvSpPr>
          <p:cNvPr id="24" name="Text 22"/>
          <p:cNvSpPr txBox="1"/>
          <p:nvPr/>
        </p:nvSpPr>
        <p:spPr>
          <a:xfrm>
            <a:off x="621792" y="3291840"/>
            <a:ext cx="1909267" cy="274320"/>
          </a:xfrm>
          <a:prstGeom prst="rect">
            <a:avLst/>
          </a:prstGeom>
          <a:noFill/>
          <a:ln/>
        </p:spPr>
        <p:txBody>
          <a:bodyPr wrap="square" lIns="0" tIns="0" rIns="0" bIns="0" rtlCol="0" anchor="ctr"/>
          <a:lstStyle/>
          <a:p>
            <a:pPr marL="0" indent="0">
              <a:buNone/>
            </a:pPr>
            <a:r>
              <a:rPr lang="en-US" sz="1100" b="1" dirty="0">
                <a:solidFill>
                  <a:srgbClr val="26242B"/>
                </a:solidFill>
                <a:latin typeface="Arial" pitchFamily="34" charset="0"/>
                <a:ea typeface="Arial" pitchFamily="34" charset="-122"/>
                <a:cs typeface="Arial" pitchFamily="34" charset="-120"/>
              </a:rPr>
              <a:t>Sender pinned?</a:t>
            </a:r>
            <a:endParaRPr lang="en-US" sz="1100" dirty="0"/>
          </a:p>
        </p:txBody>
      </p:sp>
      <p:sp>
        <p:nvSpPr>
          <p:cNvPr id="25" name="Text 23"/>
          <p:cNvSpPr txBox="1"/>
          <p:nvPr/>
        </p:nvSpPr>
        <p:spPr>
          <a:xfrm>
            <a:off x="621792" y="3566160"/>
            <a:ext cx="1909267" cy="274320"/>
          </a:xfrm>
          <a:prstGeom prst="rect">
            <a:avLst/>
          </a:prstGeom>
          <a:noFill/>
          <a:ln/>
        </p:spPr>
        <p:txBody>
          <a:bodyPr wrap="square" lIns="0" tIns="0" rIns="0" bIns="0" rtlCol="0" anchor="ctr"/>
          <a:lstStyle/>
          <a:p>
            <a:pPr marL="0" indent="0">
              <a:buNone/>
            </a:pPr>
            <a:r>
              <a:rPr lang="en-US" sz="1000" dirty="0">
                <a:solidFill>
                  <a:srgbClr val="C0392F"/>
                </a:solidFill>
                <a:latin typeface="Arial" pitchFamily="34" charset="0"/>
                <a:ea typeface="Arial" pitchFamily="34" charset="-122"/>
                <a:cs typeface="Arial" pitchFamily="34" charset="-120"/>
              </a:rPr>
              <a:t>Key mismatch</a:t>
            </a:r>
            <a:endParaRPr lang="en-US" sz="1000" dirty="0"/>
          </a:p>
        </p:txBody>
      </p:sp>
      <p:sp>
        <p:nvSpPr>
          <p:cNvPr id="26" name="Text 24"/>
          <p:cNvSpPr txBox="1"/>
          <p:nvPr/>
        </p:nvSpPr>
        <p:spPr>
          <a:xfrm>
            <a:off x="2805379" y="3291840"/>
            <a:ext cx="1909267" cy="274320"/>
          </a:xfrm>
          <a:prstGeom prst="rect">
            <a:avLst/>
          </a:prstGeom>
          <a:noFill/>
          <a:ln/>
        </p:spPr>
        <p:txBody>
          <a:bodyPr wrap="square" lIns="0" tIns="0" rIns="0" bIns="0" rtlCol="0" anchor="ctr"/>
          <a:lstStyle/>
          <a:p>
            <a:pPr marL="0" indent="0">
              <a:buNone/>
            </a:pPr>
            <a:r>
              <a:rPr lang="en-US" sz="1100" b="1" dirty="0">
                <a:solidFill>
                  <a:srgbClr val="26242B"/>
                </a:solidFill>
                <a:latin typeface="Arial" pitchFamily="34" charset="0"/>
                <a:ea typeface="Arial" pitchFamily="34" charset="-122"/>
                <a:cs typeface="Arial" pitchFamily="34" charset="-120"/>
              </a:rPr>
              <a:t>Fingerprint matches?</a:t>
            </a:r>
            <a:endParaRPr lang="en-US" sz="1100" dirty="0"/>
          </a:p>
        </p:txBody>
      </p:sp>
      <p:sp>
        <p:nvSpPr>
          <p:cNvPr id="27" name="Text 25"/>
          <p:cNvSpPr txBox="1"/>
          <p:nvPr/>
        </p:nvSpPr>
        <p:spPr>
          <a:xfrm>
            <a:off x="2805379" y="3566160"/>
            <a:ext cx="1909267" cy="274320"/>
          </a:xfrm>
          <a:prstGeom prst="rect">
            <a:avLst/>
          </a:prstGeom>
          <a:noFill/>
          <a:ln/>
        </p:spPr>
        <p:txBody>
          <a:bodyPr wrap="square" lIns="0" tIns="0" rIns="0" bIns="0" rtlCol="0" anchor="ctr"/>
          <a:lstStyle/>
          <a:p>
            <a:pPr marL="0" indent="0">
              <a:buNone/>
            </a:pPr>
            <a:r>
              <a:rPr lang="en-US" sz="1000" dirty="0">
                <a:solidFill>
                  <a:srgbClr val="C0392F"/>
                </a:solidFill>
                <a:latin typeface="Arial" pitchFamily="34" charset="0"/>
                <a:ea typeface="Arial" pitchFamily="34" charset="-122"/>
                <a:cs typeface="Arial" pitchFamily="34" charset="-120"/>
              </a:rPr>
              <a:t>Key mismatch</a:t>
            </a:r>
            <a:endParaRPr lang="en-US" sz="1000" dirty="0"/>
          </a:p>
        </p:txBody>
      </p:sp>
      <p:sp>
        <p:nvSpPr>
          <p:cNvPr id="28" name="Text 26"/>
          <p:cNvSpPr txBox="1"/>
          <p:nvPr/>
        </p:nvSpPr>
        <p:spPr>
          <a:xfrm>
            <a:off x="4988966" y="3291840"/>
            <a:ext cx="1909267" cy="274320"/>
          </a:xfrm>
          <a:prstGeom prst="rect">
            <a:avLst/>
          </a:prstGeom>
          <a:noFill/>
          <a:ln/>
        </p:spPr>
        <p:txBody>
          <a:bodyPr wrap="square" lIns="0" tIns="0" rIns="0" bIns="0" rtlCol="0" anchor="ctr"/>
          <a:lstStyle/>
          <a:p>
            <a:pPr marL="0" indent="0">
              <a:buNone/>
            </a:pPr>
            <a:r>
              <a:rPr lang="en-US" sz="1100" b="1" dirty="0">
                <a:solidFill>
                  <a:srgbClr val="26242B"/>
                </a:solidFill>
                <a:latin typeface="Arial" pitchFamily="34" charset="0"/>
                <a:ea typeface="Arial" pitchFamily="34" charset="-122"/>
                <a:cs typeface="Arial" pitchFamily="34" charset="-120"/>
              </a:rPr>
              <a:t>Signature verifies?</a:t>
            </a:r>
            <a:endParaRPr lang="en-US" sz="1100" dirty="0"/>
          </a:p>
        </p:txBody>
      </p:sp>
      <p:sp>
        <p:nvSpPr>
          <p:cNvPr id="29" name="Text 27"/>
          <p:cNvSpPr txBox="1"/>
          <p:nvPr/>
        </p:nvSpPr>
        <p:spPr>
          <a:xfrm>
            <a:off x="4988966" y="3566160"/>
            <a:ext cx="1909267" cy="274320"/>
          </a:xfrm>
          <a:prstGeom prst="rect">
            <a:avLst/>
          </a:prstGeom>
          <a:noFill/>
          <a:ln/>
        </p:spPr>
        <p:txBody>
          <a:bodyPr wrap="square" lIns="0" tIns="0" rIns="0" bIns="0" rtlCol="0" anchor="ctr"/>
          <a:lstStyle/>
          <a:p>
            <a:pPr marL="0" indent="0">
              <a:buNone/>
            </a:pPr>
            <a:r>
              <a:rPr lang="en-US" sz="1000" dirty="0">
                <a:solidFill>
                  <a:srgbClr val="C0392F"/>
                </a:solidFill>
                <a:latin typeface="Arial" pitchFamily="34" charset="0"/>
                <a:ea typeface="Arial" pitchFamily="34" charset="-122"/>
                <a:cs typeface="Arial" pitchFamily="34" charset="-120"/>
              </a:rPr>
              <a:t>Verification failed</a:t>
            </a:r>
            <a:endParaRPr lang="en-US" sz="1000" dirty="0"/>
          </a:p>
        </p:txBody>
      </p:sp>
      <p:sp>
        <p:nvSpPr>
          <p:cNvPr id="30" name="Text 28"/>
          <p:cNvSpPr txBox="1"/>
          <p:nvPr/>
        </p:nvSpPr>
        <p:spPr>
          <a:xfrm>
            <a:off x="7172554" y="3291840"/>
            <a:ext cx="1909267" cy="274320"/>
          </a:xfrm>
          <a:prstGeom prst="rect">
            <a:avLst/>
          </a:prstGeom>
          <a:noFill/>
          <a:ln/>
        </p:spPr>
        <p:txBody>
          <a:bodyPr wrap="square" lIns="0" tIns="0" rIns="0" bIns="0" rtlCol="0" anchor="ctr"/>
          <a:lstStyle/>
          <a:p>
            <a:pPr marL="0" indent="0">
              <a:buNone/>
            </a:pPr>
            <a:r>
              <a:rPr lang="en-US" sz="1100" b="1" dirty="0">
                <a:solidFill>
                  <a:srgbClr val="26242B"/>
                </a:solidFill>
                <a:latin typeface="Arial" pitchFamily="34" charset="0"/>
                <a:ea typeface="Arial" pitchFamily="34" charset="-122"/>
                <a:cs typeface="Arial" pitchFamily="34" charset="-120"/>
              </a:rPr>
              <a:t>Is it fresh?</a:t>
            </a:r>
            <a:endParaRPr lang="en-US" sz="1100" dirty="0"/>
          </a:p>
        </p:txBody>
      </p:sp>
      <p:sp>
        <p:nvSpPr>
          <p:cNvPr id="31" name="Text 29"/>
          <p:cNvSpPr txBox="1"/>
          <p:nvPr/>
        </p:nvSpPr>
        <p:spPr>
          <a:xfrm>
            <a:off x="7172554" y="3566160"/>
            <a:ext cx="1909267" cy="274320"/>
          </a:xfrm>
          <a:prstGeom prst="rect">
            <a:avLst/>
          </a:prstGeom>
          <a:noFill/>
          <a:ln/>
        </p:spPr>
        <p:txBody>
          <a:bodyPr wrap="square" lIns="0" tIns="0" rIns="0" bIns="0" rtlCol="0" anchor="ctr"/>
          <a:lstStyle/>
          <a:p>
            <a:pPr marL="0" indent="0">
              <a:buNone/>
            </a:pPr>
            <a:r>
              <a:rPr lang="en-US" sz="1000" dirty="0">
                <a:solidFill>
                  <a:srgbClr val="C0392F"/>
                </a:solidFill>
                <a:latin typeface="Arial" pitchFamily="34" charset="0"/>
                <a:ea typeface="Arial" pitchFamily="34" charset="-122"/>
                <a:cs typeface="Arial" pitchFamily="34" charset="-120"/>
              </a:rPr>
              <a:t>Stale object</a:t>
            </a:r>
            <a:endParaRPr lang="en-US" sz="1000" dirty="0"/>
          </a:p>
        </p:txBody>
      </p:sp>
      <p:sp>
        <p:nvSpPr>
          <p:cNvPr id="32" name="Text 30"/>
          <p:cNvSpPr txBox="1"/>
          <p:nvPr/>
        </p:nvSpPr>
        <p:spPr>
          <a:xfrm>
            <a:off x="9356141" y="3291840"/>
            <a:ext cx="1909267" cy="274320"/>
          </a:xfrm>
          <a:prstGeom prst="rect">
            <a:avLst/>
          </a:prstGeom>
          <a:noFill/>
          <a:ln/>
        </p:spPr>
        <p:txBody>
          <a:bodyPr wrap="square" lIns="0" tIns="0" rIns="0" bIns="0" rtlCol="0" anchor="ctr"/>
          <a:lstStyle/>
          <a:p>
            <a:pPr marL="0" indent="0">
              <a:buNone/>
            </a:pPr>
            <a:r>
              <a:rPr lang="en-US" sz="1100" b="1" dirty="0">
                <a:solidFill>
                  <a:srgbClr val="26242B"/>
                </a:solidFill>
                <a:latin typeface="Arial" pitchFamily="34" charset="0"/>
                <a:ea typeface="Arial" pitchFamily="34" charset="-122"/>
                <a:cs typeface="Arial" pitchFamily="34" charset="-120"/>
              </a:rPr>
              <a:t>Unwrap the key</a:t>
            </a:r>
            <a:endParaRPr lang="en-US" sz="1100" dirty="0"/>
          </a:p>
        </p:txBody>
      </p:sp>
      <p:sp>
        <p:nvSpPr>
          <p:cNvPr id="33" name="Text 31"/>
          <p:cNvSpPr txBox="1"/>
          <p:nvPr/>
        </p:nvSpPr>
        <p:spPr>
          <a:xfrm>
            <a:off x="9356141" y="3566160"/>
            <a:ext cx="1909267" cy="274320"/>
          </a:xfrm>
          <a:prstGeom prst="rect">
            <a:avLst/>
          </a:prstGeom>
          <a:noFill/>
          <a:ln/>
        </p:spPr>
        <p:txBody>
          <a:bodyPr wrap="square" lIns="0" tIns="0" rIns="0" bIns="0" rtlCol="0" anchor="ctr"/>
          <a:lstStyle/>
          <a:p>
            <a:pPr marL="0" indent="0">
              <a:buNone/>
            </a:pPr>
            <a:r>
              <a:rPr lang="en-US" sz="1000" dirty="0">
                <a:solidFill>
                  <a:srgbClr val="3C4F3F"/>
                </a:solidFill>
                <a:latin typeface="Arial" pitchFamily="34" charset="0"/>
                <a:ea typeface="Arial" pitchFamily="34" charset="-122"/>
                <a:cs typeface="Arial" pitchFamily="34" charset="-120"/>
              </a:rPr>
              <a:t>Then decrypt the document</a:t>
            </a:r>
            <a:endParaRPr lang="en-US" sz="1000" dirty="0"/>
          </a:p>
        </p:txBody>
      </p:sp>
      <p:sp>
        <p:nvSpPr>
          <p:cNvPr id="34" name="Shape 32"/>
          <p:cNvSpPr/>
          <p:nvPr/>
        </p:nvSpPr>
        <p:spPr>
          <a:xfrm>
            <a:off x="621792" y="4023360"/>
            <a:ext cx="5577840" cy="1234440"/>
          </a:xfrm>
          <a:prstGeom prst="rect">
            <a:avLst/>
          </a:prstGeom>
          <a:solidFill>
            <a:srgbClr val="FFFFFF"/>
          </a:solidFill>
          <a:ln w="12700">
            <a:solidFill>
              <a:srgbClr val="DEDCE2"/>
            </a:solidFill>
            <a:prstDash val="solid"/>
          </a:ln>
        </p:spPr>
      </p:sp>
      <p:sp>
        <p:nvSpPr>
          <p:cNvPr id="35" name="Text 33"/>
          <p:cNvSpPr txBox="1"/>
          <p:nvPr/>
        </p:nvSpPr>
        <p:spPr>
          <a:xfrm>
            <a:off x="822960" y="4160520"/>
            <a:ext cx="5175504" cy="292608"/>
          </a:xfrm>
          <a:prstGeom prst="rect">
            <a:avLst/>
          </a:prstGeom>
          <a:noFill/>
          <a:ln/>
        </p:spPr>
        <p:txBody>
          <a:bodyPr wrap="square" lIns="0" tIns="0" rIns="0" bIns="0" rtlCol="0" anchor="ctr"/>
          <a:lstStyle/>
          <a:p>
            <a:pPr marL="0" indent="0">
              <a:buNone/>
            </a:pPr>
            <a:r>
              <a:rPr lang="en-US" sz="1150" b="1" kern="0" spc="40" dirty="0">
                <a:solidFill>
                  <a:srgbClr val="26242B"/>
                </a:solidFill>
                <a:latin typeface="Arial" pitchFamily="34" charset="0"/>
                <a:ea typeface="Arial" pitchFamily="34" charset="-122"/>
                <a:cs typeface="Arial" pitchFamily="34" charset="-120"/>
              </a:rPr>
              <a:t>Only three visible failures</a:t>
            </a:r>
            <a:endParaRPr lang="en-US" sz="1150" dirty="0"/>
          </a:p>
        </p:txBody>
      </p:sp>
      <p:sp>
        <p:nvSpPr>
          <p:cNvPr id="36" name="Text 34"/>
          <p:cNvSpPr txBox="1"/>
          <p:nvPr/>
        </p:nvSpPr>
        <p:spPr>
          <a:xfrm>
            <a:off x="822960" y="4498848"/>
            <a:ext cx="5175504" cy="630936"/>
          </a:xfrm>
          <a:prstGeom prst="rect">
            <a:avLst/>
          </a:prstGeom>
          <a:noFill/>
          <a:ln/>
        </p:spPr>
        <p:txBody>
          <a:bodyPr wrap="square" lIns="0" tIns="0" rIns="0" bIns="0" rtlCol="0" anchor="t"/>
          <a:lstStyle/>
          <a:p>
            <a:pPr marL="0" indent="0">
              <a:buNone/>
            </a:pPr>
            <a:r>
              <a:rPr lang="en-US" sz="1050" dirty="0">
                <a:solidFill>
                  <a:srgbClr val="26242B"/>
                </a:solidFill>
                <a:latin typeface="Arial" pitchFamily="34" charset="0"/>
                <a:ea typeface="Arial" pitchFamily="34" charset="-122"/>
                <a:cs typeface="Arial" pitchFamily="34" charset="-120"/>
              </a:rPr>
              <a:t>Key mismatch, Verification failed, Stale object. The recipient learns that something failed, not which field the attacker got wrong. A detailed error message is free information for whoever is probing.</a:t>
            </a:r>
            <a:endParaRPr lang="en-US" sz="1050" dirty="0"/>
          </a:p>
        </p:txBody>
      </p:sp>
      <p:sp>
        <p:nvSpPr>
          <p:cNvPr id="37" name="Shape 35"/>
          <p:cNvSpPr/>
          <p:nvPr/>
        </p:nvSpPr>
        <p:spPr>
          <a:xfrm>
            <a:off x="6565392" y="4023360"/>
            <a:ext cx="4974336" cy="1234440"/>
          </a:xfrm>
          <a:prstGeom prst="rect">
            <a:avLst/>
          </a:prstGeom>
          <a:solidFill>
            <a:srgbClr val="3C4F3F"/>
          </a:solidFill>
          <a:ln w="12700">
            <a:solidFill>
              <a:srgbClr val="3C4F3F"/>
            </a:solidFill>
            <a:prstDash val="solid"/>
          </a:ln>
        </p:spPr>
      </p:sp>
      <p:sp>
        <p:nvSpPr>
          <p:cNvPr id="38" name="Text 36"/>
          <p:cNvSpPr txBox="1"/>
          <p:nvPr/>
        </p:nvSpPr>
        <p:spPr>
          <a:xfrm>
            <a:off x="6766560" y="4160520"/>
            <a:ext cx="4572000" cy="292608"/>
          </a:xfrm>
          <a:prstGeom prst="rect">
            <a:avLst/>
          </a:prstGeom>
          <a:noFill/>
          <a:ln/>
        </p:spPr>
        <p:txBody>
          <a:bodyPr wrap="square" lIns="0" tIns="0" rIns="0" bIns="0" rtlCol="0" anchor="ctr"/>
          <a:lstStyle/>
          <a:p>
            <a:pPr marL="0" indent="0">
              <a:buNone/>
            </a:pPr>
            <a:r>
              <a:rPr lang="en-US" sz="1150" b="1" kern="0" spc="40" dirty="0">
                <a:solidFill>
                  <a:srgbClr val="FFFFFF"/>
                </a:solidFill>
                <a:latin typeface="Arial" pitchFamily="34" charset="0"/>
                <a:ea typeface="Arial" pitchFamily="34" charset="-122"/>
                <a:cs typeface="Arial" pitchFamily="34" charset="-120"/>
              </a:rPr>
              <a:t>Why the metadata is in the associated data</a:t>
            </a:r>
            <a:endParaRPr lang="en-US" sz="1150" dirty="0"/>
          </a:p>
        </p:txBody>
      </p:sp>
      <p:sp>
        <p:nvSpPr>
          <p:cNvPr id="39" name="Text 37"/>
          <p:cNvSpPr txBox="1"/>
          <p:nvPr/>
        </p:nvSpPr>
        <p:spPr>
          <a:xfrm>
            <a:off x="6766560" y="4498848"/>
            <a:ext cx="4572000" cy="630936"/>
          </a:xfrm>
          <a:prstGeom prst="rect">
            <a:avLst/>
          </a:prstGeom>
          <a:noFill/>
          <a:ln/>
        </p:spPr>
        <p:txBody>
          <a:bodyPr wrap="square" lIns="0" tIns="0" rIns="0" bIns="0" rtlCol="0" anchor="t"/>
          <a:lstStyle/>
          <a:p>
            <a:pPr marL="0" indent="0">
              <a:buNone/>
            </a:pPr>
            <a:r>
              <a:rPr lang="en-US" sz="1050" dirty="0">
                <a:solidFill>
                  <a:srgbClr val="DCE3DC"/>
                </a:solidFill>
                <a:latin typeface="Arial" pitchFamily="34" charset="0"/>
                <a:ea typeface="Arial" pitchFamily="34" charset="-122"/>
                <a:cs typeface="Arial" pitchFamily="34" charset="-120"/>
              </a:rPr>
              <a:t>Every field the share carries in the clear — both identities, both fingerprints, the sequence number, the timestamp and the ephemeral point — is inside the AEAD associated data and inside the signed bytes. Editing any of them breaks both checks.</a:t>
            </a:r>
            <a:endParaRPr lang="en-US" sz="1050" dirty="0"/>
          </a:p>
        </p:txBody>
      </p:sp>
      <p:sp>
        <p:nvSpPr>
          <p:cNvPr id="40" name="Shape 38"/>
          <p:cNvSpPr/>
          <p:nvPr/>
        </p:nvSpPr>
        <p:spPr>
          <a:xfrm>
            <a:off x="621792" y="5422392"/>
            <a:ext cx="10917936" cy="1106424"/>
          </a:xfrm>
          <a:prstGeom prst="rect">
            <a:avLst/>
          </a:prstGeom>
          <a:solidFill>
            <a:srgbClr val="F7F5F6"/>
          </a:solidFill>
          <a:ln w="15875">
            <a:solidFill>
              <a:srgbClr val="C0392F"/>
            </a:solidFill>
            <a:prstDash val="solid"/>
          </a:ln>
        </p:spPr>
      </p:sp>
      <p:sp>
        <p:nvSpPr>
          <p:cNvPr id="41" name="Text 39"/>
          <p:cNvSpPr txBox="1"/>
          <p:nvPr/>
        </p:nvSpPr>
        <p:spPr>
          <a:xfrm>
            <a:off x="822960" y="5559552"/>
            <a:ext cx="10515600" cy="292608"/>
          </a:xfrm>
          <a:prstGeom prst="rect">
            <a:avLst/>
          </a:prstGeom>
          <a:noFill/>
          <a:ln/>
        </p:spPr>
        <p:txBody>
          <a:bodyPr wrap="square" lIns="0" tIns="0" rIns="0" bIns="0" rtlCol="0" anchor="ctr"/>
          <a:lstStyle/>
          <a:p>
            <a:pPr marL="0" indent="0">
              <a:buNone/>
            </a:pPr>
            <a:r>
              <a:rPr lang="en-US" sz="1150" b="1" kern="0" spc="40" dirty="0">
                <a:solidFill>
                  <a:srgbClr val="C0392F"/>
                </a:solidFill>
                <a:latin typeface="Arial" pitchFamily="34" charset="0"/>
                <a:ea typeface="Arial" pitchFamily="34" charset="-122"/>
                <a:cs typeface="Arial" pitchFamily="34" charset="-120"/>
              </a:rPr>
              <a:t>Where Part 1 hands over</a:t>
            </a:r>
            <a:endParaRPr lang="en-US" sz="1150" dirty="0"/>
          </a:p>
        </p:txBody>
      </p:sp>
      <p:sp>
        <p:nvSpPr>
          <p:cNvPr id="42" name="Text 40"/>
          <p:cNvSpPr txBox="1"/>
          <p:nvPr/>
        </p:nvSpPr>
        <p:spPr>
          <a:xfrm>
            <a:off x="822960" y="5897880"/>
            <a:ext cx="10515600" cy="320040"/>
          </a:xfrm>
          <a:prstGeom prst="rect">
            <a:avLst/>
          </a:prstGeom>
          <a:noFill/>
          <a:ln/>
        </p:spPr>
        <p:txBody>
          <a:bodyPr wrap="square" lIns="0" tIns="0" rIns="0" bIns="0" rtlCol="0" anchor="t"/>
          <a:lstStyle/>
          <a:p>
            <a:pPr marL="0" indent="0">
              <a:buNone/>
            </a:pPr>
            <a:r>
              <a:rPr lang="en-US" sz="1050" dirty="0">
                <a:solidFill>
                  <a:srgbClr val="26242B"/>
                </a:solidFill>
                <a:latin typeface="Arial" pitchFamily="34" charset="0"/>
                <a:ea typeface="Arial" pitchFamily="34" charset="-122"/>
                <a:cs typeface="Arial" pitchFamily="34" charset="-120"/>
              </a:rPr>
              <a:t>The sender's RSA signing key and the recipient's P-256 public key both come out of the identity bundle that login recovers — which is why a password change must not rotate those keys.</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21792" y="329184"/>
            <a:ext cx="9820656" cy="237744"/>
          </a:xfrm>
          <a:prstGeom prst="rect">
            <a:avLst/>
          </a:prstGeom>
          <a:noFill/>
          <a:ln/>
        </p:spPr>
        <p:txBody>
          <a:bodyPr wrap="square" lIns="0" tIns="0" rIns="0" bIns="0" rtlCol="0" anchor="ctr"/>
          <a:lstStyle/>
          <a:p>
            <a:pPr marL="0" indent="0">
              <a:buNone/>
            </a:pPr>
            <a:r>
              <a:rPr lang="en-US" sz="950" b="1" kern="0" spc="250" dirty="0">
                <a:solidFill>
                  <a:srgbClr val="C0392F"/>
                </a:solidFill>
                <a:latin typeface="Arial" pitchFamily="34" charset="0"/>
                <a:ea typeface="Arial" pitchFamily="34" charset="-122"/>
                <a:cs typeface="Arial" pitchFamily="34" charset="-120"/>
              </a:rPr>
              <a:t>PART 3 · FRESHNESS</a:t>
            </a:r>
            <a:endParaRPr lang="en-US" sz="950" dirty="0"/>
          </a:p>
        </p:txBody>
      </p:sp>
      <p:sp>
        <p:nvSpPr>
          <p:cNvPr id="3" name="Text 1"/>
          <p:cNvSpPr txBox="1"/>
          <p:nvPr/>
        </p:nvSpPr>
        <p:spPr>
          <a:xfrm>
            <a:off x="621792" y="603504"/>
            <a:ext cx="10917936" cy="530352"/>
          </a:xfrm>
          <a:prstGeom prst="rect">
            <a:avLst/>
          </a:prstGeom>
          <a:noFill/>
          <a:ln/>
        </p:spPr>
        <p:txBody>
          <a:bodyPr wrap="square" lIns="0" tIns="0" rIns="0" bIns="0" rtlCol="0" anchor="ctr"/>
          <a:lstStyle/>
          <a:p>
            <a:pPr marL="0" indent="0">
              <a:buNone/>
            </a:pPr>
            <a:r>
              <a:rPr lang="en-US" sz="2500" b="1" dirty="0">
                <a:solidFill>
                  <a:srgbClr val="26242B"/>
                </a:solidFill>
                <a:latin typeface="Bookman Old Style" pitchFamily="34" charset="0"/>
                <a:ea typeface="Bookman Old Style" pitchFamily="34" charset="-122"/>
                <a:cs typeface="Bookman Old Style" pitchFamily="34" charset="-120"/>
              </a:rPr>
              <a:t>Part 3 — freshness, replay and evidence</a:t>
            </a:r>
            <a:endParaRPr lang="en-US" sz="2500" dirty="0"/>
          </a:p>
        </p:txBody>
      </p:sp>
      <p:sp>
        <p:nvSpPr>
          <p:cNvPr id="4" name="Text 2"/>
          <p:cNvSpPr txBox="1"/>
          <p:nvPr/>
        </p:nvSpPr>
        <p:spPr>
          <a:xfrm>
            <a:off x="621792" y="1133856"/>
            <a:ext cx="10917936" cy="274320"/>
          </a:xfrm>
          <a:prstGeom prst="rect">
            <a:avLst/>
          </a:prstGeom>
          <a:noFill/>
          <a:ln/>
        </p:spPr>
        <p:txBody>
          <a:bodyPr wrap="square" lIns="0" tIns="0" rIns="0" bIns="0" rtlCol="0" anchor="ctr"/>
          <a:lstStyle/>
          <a:p>
            <a:pPr marL="0" indent="0">
              <a:buNone/>
            </a:pPr>
            <a:r>
              <a:rPr lang="en-US" sz="1200" dirty="0">
                <a:solidFill>
                  <a:srgbClr val="76737E"/>
                </a:solidFill>
                <a:latin typeface="Arial" pitchFamily="34" charset="0"/>
                <a:ea typeface="Arial" pitchFamily="34" charset="-122"/>
                <a:cs typeface="Arial" pitchFamily="34" charset="-120"/>
              </a:rPr>
              <a:t>An attacker who cannot forge can still re-send an old object</a:t>
            </a:r>
            <a:endParaRPr lang="en-US" sz="1200" dirty="0"/>
          </a:p>
        </p:txBody>
      </p:sp>
      <p:sp>
        <p:nvSpPr>
          <p:cNvPr id="5" name="Text 3"/>
          <p:cNvSpPr txBox="1"/>
          <p:nvPr/>
        </p:nvSpPr>
        <p:spPr>
          <a:xfrm>
            <a:off x="10899648" y="310896"/>
            <a:ext cx="640080" cy="274320"/>
          </a:xfrm>
          <a:prstGeom prst="rect">
            <a:avLst/>
          </a:prstGeom>
          <a:noFill/>
          <a:ln/>
        </p:spPr>
        <p:txBody>
          <a:bodyPr wrap="square" lIns="0" tIns="0" rIns="0" bIns="0" rtlCol="0" anchor="ctr"/>
          <a:lstStyle/>
          <a:p>
            <a:pPr marL="0" indent="0" algn="r">
              <a:buNone/>
            </a:pPr>
            <a:r>
              <a:rPr lang="en-US" sz="1100" b="1" dirty="0">
                <a:solidFill>
                  <a:srgbClr val="DEDCE2"/>
                </a:solidFill>
                <a:latin typeface="Arial" pitchFamily="34" charset="0"/>
                <a:ea typeface="Arial" pitchFamily="34" charset="-122"/>
                <a:cs typeface="Arial" pitchFamily="34" charset="-120"/>
              </a:rPr>
              <a:t>19</a:t>
            </a:r>
            <a:endParaRPr lang="en-US" sz="1100" dirty="0"/>
          </a:p>
        </p:txBody>
      </p:sp>
      <p:sp>
        <p:nvSpPr>
          <p:cNvPr id="6" name="Shape 4"/>
          <p:cNvSpPr/>
          <p:nvPr/>
        </p:nvSpPr>
        <p:spPr>
          <a:xfrm>
            <a:off x="621792" y="1481328"/>
            <a:ext cx="3794760" cy="1645920"/>
          </a:xfrm>
          <a:prstGeom prst="rect">
            <a:avLst/>
          </a:prstGeom>
          <a:solidFill>
            <a:srgbClr val="FFFFFF"/>
          </a:solidFill>
          <a:ln w="12700">
            <a:solidFill>
              <a:srgbClr val="DEDCE2"/>
            </a:solidFill>
            <a:prstDash val="solid"/>
          </a:ln>
        </p:spPr>
      </p:sp>
      <p:sp>
        <p:nvSpPr>
          <p:cNvPr id="7" name="Text 5"/>
          <p:cNvSpPr txBox="1"/>
          <p:nvPr/>
        </p:nvSpPr>
        <p:spPr>
          <a:xfrm>
            <a:off x="822960" y="1618488"/>
            <a:ext cx="3392424" cy="292608"/>
          </a:xfrm>
          <a:prstGeom prst="rect">
            <a:avLst/>
          </a:prstGeom>
          <a:noFill/>
          <a:ln/>
        </p:spPr>
        <p:txBody>
          <a:bodyPr wrap="square" lIns="0" tIns="0" rIns="0" bIns="0" rtlCol="0" anchor="ctr"/>
          <a:lstStyle/>
          <a:p>
            <a:pPr marL="0" indent="0">
              <a:buNone/>
            </a:pPr>
            <a:r>
              <a:rPr lang="en-US" sz="1150" b="1" kern="0" spc="40" dirty="0">
                <a:solidFill>
                  <a:srgbClr val="26242B"/>
                </a:solidFill>
                <a:latin typeface="Arial" pitchFamily="34" charset="0"/>
                <a:ea typeface="Arial" pitchFamily="34" charset="-122"/>
                <a:cs typeface="Arial" pitchFamily="34" charset="-120"/>
              </a:rPr>
              <a:t>The freshness rule</a:t>
            </a:r>
            <a:endParaRPr lang="en-US" sz="1150" dirty="0"/>
          </a:p>
        </p:txBody>
      </p:sp>
      <p:sp>
        <p:nvSpPr>
          <p:cNvPr id="8" name="Text 6"/>
          <p:cNvSpPr txBox="1"/>
          <p:nvPr/>
        </p:nvSpPr>
        <p:spPr>
          <a:xfrm>
            <a:off x="822960" y="1975104"/>
            <a:ext cx="3392424" cy="1024128"/>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6242B"/>
                </a:solidFill>
                <a:latin typeface="Arial" pitchFamily="34" charset="0"/>
                <a:ea typeface="Arial" pitchFamily="34" charset="-122"/>
                <a:cs typeface="Arial" pitchFamily="34" charset="-120"/>
              </a:rPr>
              <a:t>State is kept per sender and per document</a:t>
            </a:r>
            <a:endParaRPr lang="en-US" sz="1050" dirty="0"/>
          </a:p>
          <a:p>
            <a:pPr marL="342900" indent="-342900">
              <a:spcAft>
                <a:spcPts val="400"/>
              </a:spcAft>
              <a:buSzPct val="100000"/>
              <a:buChar char="–"/>
            </a:pPr>
            <a:r>
              <a:rPr lang="en-US" sz="1050" dirty="0">
                <a:solidFill>
                  <a:srgbClr val="26242B"/>
                </a:solidFill>
                <a:latin typeface="Arial" pitchFamily="34" charset="0"/>
                <a:ea typeface="Arial" pitchFamily="34" charset="-122"/>
                <a:cs typeface="Arial" pitchFamily="34" charset="-120"/>
              </a:rPr>
              <a:t>The sequence number must strictly increase</a:t>
            </a:r>
            <a:endParaRPr lang="en-US" sz="1050" dirty="0"/>
          </a:p>
          <a:p>
            <a:pPr marL="342900" indent="-342900">
              <a:spcAft>
                <a:spcPts val="400"/>
              </a:spcAft>
              <a:buSzPct val="100000"/>
              <a:buChar char="–"/>
            </a:pPr>
            <a:r>
              <a:rPr lang="en-US" sz="1050" dirty="0">
                <a:solidFill>
                  <a:srgbClr val="26242B"/>
                </a:solidFill>
                <a:latin typeface="Arial" pitchFamily="34" charset="0"/>
                <a:ea typeface="Arial" pitchFamily="34" charset="-122"/>
                <a:cs typeface="Arial" pitchFamily="34" charset="-120"/>
              </a:rPr>
              <a:t>The timestamp may not move backwards</a:t>
            </a:r>
            <a:endParaRPr lang="en-US" sz="1050" dirty="0"/>
          </a:p>
          <a:p>
            <a:pPr marL="342900" indent="-342900">
              <a:spcAft>
                <a:spcPts val="400"/>
              </a:spcAft>
              <a:buSzPct val="100000"/>
              <a:buChar char="–"/>
            </a:pPr>
            <a:r>
              <a:rPr lang="en-US" sz="1050" dirty="0">
                <a:solidFill>
                  <a:srgbClr val="26242B"/>
                </a:solidFill>
                <a:latin typeface="Arial" pitchFamily="34" charset="0"/>
                <a:ea typeface="Arial" pitchFamily="34" charset="-122"/>
                <a:cs typeface="Arial" pitchFamily="34" charset="-120"/>
              </a:rPr>
              <a:t>State is written to disk and survives a client restart</a:t>
            </a:r>
            <a:endParaRPr lang="en-US" sz="1050" dirty="0"/>
          </a:p>
        </p:txBody>
      </p:sp>
      <p:sp>
        <p:nvSpPr>
          <p:cNvPr id="9" name="Shape 7"/>
          <p:cNvSpPr/>
          <p:nvPr/>
        </p:nvSpPr>
        <p:spPr>
          <a:xfrm>
            <a:off x="4645152" y="1481328"/>
            <a:ext cx="3794760" cy="1645920"/>
          </a:xfrm>
          <a:prstGeom prst="rect">
            <a:avLst/>
          </a:prstGeom>
          <a:solidFill>
            <a:srgbClr val="FFFFFF"/>
          </a:solidFill>
          <a:ln w="12700">
            <a:solidFill>
              <a:srgbClr val="DEDCE2"/>
            </a:solidFill>
            <a:prstDash val="solid"/>
          </a:ln>
        </p:spPr>
      </p:sp>
      <p:sp>
        <p:nvSpPr>
          <p:cNvPr id="10" name="Text 8"/>
          <p:cNvSpPr txBox="1"/>
          <p:nvPr/>
        </p:nvSpPr>
        <p:spPr>
          <a:xfrm>
            <a:off x="4846320" y="1618488"/>
            <a:ext cx="3392424" cy="292608"/>
          </a:xfrm>
          <a:prstGeom prst="rect">
            <a:avLst/>
          </a:prstGeom>
          <a:noFill/>
          <a:ln/>
        </p:spPr>
        <p:txBody>
          <a:bodyPr wrap="square" lIns="0" tIns="0" rIns="0" bIns="0" rtlCol="0" anchor="ctr"/>
          <a:lstStyle/>
          <a:p>
            <a:pPr marL="0" indent="0">
              <a:buNone/>
            </a:pPr>
            <a:r>
              <a:rPr lang="en-US" sz="1150" b="1" kern="0" spc="40" dirty="0">
                <a:solidFill>
                  <a:srgbClr val="26242B"/>
                </a:solidFill>
                <a:latin typeface="Arial" pitchFamily="34" charset="0"/>
                <a:ea typeface="Arial" pitchFamily="34" charset="-122"/>
                <a:cs typeface="Arial" pitchFamily="34" charset="-120"/>
              </a:rPr>
              <a:t>What it stops</a:t>
            </a:r>
            <a:endParaRPr lang="en-US" sz="1150" dirty="0"/>
          </a:p>
        </p:txBody>
      </p:sp>
      <p:sp>
        <p:nvSpPr>
          <p:cNvPr id="11" name="Text 9"/>
          <p:cNvSpPr txBox="1"/>
          <p:nvPr/>
        </p:nvSpPr>
        <p:spPr>
          <a:xfrm>
            <a:off x="4846320" y="1975104"/>
            <a:ext cx="3392424" cy="1024128"/>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6242B"/>
                </a:solidFill>
                <a:latin typeface="Arial" pitchFamily="34" charset="0"/>
                <a:ea typeface="Arial" pitchFamily="34" charset="-122"/>
                <a:cs typeface="Arial" pitchFamily="34" charset="-120"/>
              </a:rPr>
              <a:t>The same share delivered twice</a:t>
            </a:r>
            <a:endParaRPr lang="en-US" sz="1050" dirty="0"/>
          </a:p>
          <a:p>
            <a:pPr marL="342900" indent="-342900">
              <a:spcAft>
                <a:spcPts val="400"/>
              </a:spcAft>
              <a:buSzPct val="100000"/>
              <a:buChar char="–"/>
            </a:pPr>
            <a:r>
              <a:rPr lang="en-US" sz="1050" dirty="0">
                <a:solidFill>
                  <a:srgbClr val="26242B"/>
                </a:solidFill>
                <a:latin typeface="Arial" pitchFamily="34" charset="0"/>
                <a:ea typeface="Arial" pitchFamily="34" charset="-122"/>
                <a:cs typeface="Arial" pitchFamily="34" charset="-120"/>
              </a:rPr>
              <a:t>An older share resurrected after a newer one</a:t>
            </a:r>
            <a:endParaRPr lang="en-US" sz="1050" dirty="0"/>
          </a:p>
          <a:p>
            <a:pPr marL="342900" indent="-342900">
              <a:spcAft>
                <a:spcPts val="400"/>
              </a:spcAft>
              <a:buSzPct val="100000"/>
              <a:buChar char="–"/>
            </a:pPr>
            <a:r>
              <a:rPr lang="en-US" sz="1050" dirty="0">
                <a:solidFill>
                  <a:srgbClr val="26242B"/>
                </a:solidFill>
                <a:latin typeface="Arial" pitchFamily="34" charset="0"/>
                <a:ea typeface="Arial" pitchFamily="34" charset="-122"/>
                <a:cs typeface="Arial" pitchFamily="34" charset="-120"/>
              </a:rPr>
              <a:t>A captured share replayed after the client restarts</a:t>
            </a:r>
            <a:endParaRPr lang="en-US" sz="1050" dirty="0"/>
          </a:p>
          <a:p>
            <a:pPr marL="342900" indent="-342900">
              <a:spcAft>
                <a:spcPts val="400"/>
              </a:spcAft>
              <a:buSzPct val="100000"/>
              <a:buChar char="–"/>
            </a:pPr>
            <a:r>
              <a:rPr lang="en-US" sz="1050" dirty="0">
                <a:solidFill>
                  <a:srgbClr val="26242B"/>
                </a:solidFill>
                <a:latin typeface="Arial" pitchFamily="34" charset="0"/>
                <a:ea typeface="Arial" pitchFamily="34" charset="-122"/>
                <a:cs typeface="Arial" pitchFamily="34" charset="-120"/>
              </a:rPr>
              <a:t>Both fields are inside the signed bytes, so neither can be edited in transit</a:t>
            </a:r>
            <a:endParaRPr lang="en-US" sz="1050" dirty="0"/>
          </a:p>
        </p:txBody>
      </p:sp>
      <p:sp>
        <p:nvSpPr>
          <p:cNvPr id="12" name="Shape 10"/>
          <p:cNvSpPr/>
          <p:nvPr/>
        </p:nvSpPr>
        <p:spPr>
          <a:xfrm>
            <a:off x="8668512" y="1481328"/>
            <a:ext cx="2871216" cy="1645920"/>
          </a:xfrm>
          <a:prstGeom prst="rect">
            <a:avLst/>
          </a:prstGeom>
          <a:solidFill>
            <a:srgbClr val="3C4F3F"/>
          </a:solidFill>
          <a:ln w="12700">
            <a:solidFill>
              <a:srgbClr val="3C4F3F"/>
            </a:solidFill>
            <a:prstDash val="solid"/>
          </a:ln>
        </p:spPr>
      </p:sp>
      <p:sp>
        <p:nvSpPr>
          <p:cNvPr id="13" name="Text 11"/>
          <p:cNvSpPr txBox="1"/>
          <p:nvPr/>
        </p:nvSpPr>
        <p:spPr>
          <a:xfrm>
            <a:off x="8869680" y="1618488"/>
            <a:ext cx="2468880" cy="292608"/>
          </a:xfrm>
          <a:prstGeom prst="rect">
            <a:avLst/>
          </a:prstGeom>
          <a:noFill/>
          <a:ln/>
        </p:spPr>
        <p:txBody>
          <a:bodyPr wrap="square" lIns="0" tIns="0" rIns="0" bIns="0" rtlCol="0" anchor="ctr"/>
          <a:lstStyle/>
          <a:p>
            <a:pPr marL="0" indent="0">
              <a:buNone/>
            </a:pPr>
            <a:r>
              <a:rPr lang="en-US" sz="1150" b="1" kern="0" spc="40" dirty="0">
                <a:solidFill>
                  <a:srgbClr val="FFFFFF"/>
                </a:solidFill>
                <a:latin typeface="Arial" pitchFamily="34" charset="0"/>
                <a:ea typeface="Arial" pitchFamily="34" charset="-122"/>
                <a:cs typeface="Arial" pitchFamily="34" charset="-120"/>
              </a:rPr>
              <a:t>Evidence</a:t>
            </a:r>
            <a:endParaRPr lang="en-US" sz="1150" dirty="0"/>
          </a:p>
        </p:txBody>
      </p:sp>
      <p:sp>
        <p:nvSpPr>
          <p:cNvPr id="14" name="Text 12"/>
          <p:cNvSpPr txBox="1"/>
          <p:nvPr/>
        </p:nvSpPr>
        <p:spPr>
          <a:xfrm>
            <a:off x="8869680" y="1975104"/>
            <a:ext cx="2468880" cy="1024128"/>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DCE3DC"/>
                </a:solidFill>
                <a:latin typeface="Arial" pitchFamily="34" charset="0"/>
                <a:ea typeface="Arial" pitchFamily="34" charset="-122"/>
                <a:cs typeface="Arial" pitchFamily="34" charset="-120"/>
              </a:rPr>
              <a:t>237 tests passed in the complete pytest suite</a:t>
            </a:r>
            <a:endParaRPr lang="en-US" sz="1050" dirty="0"/>
          </a:p>
          <a:p>
            <a:pPr marL="342900" indent="-342900">
              <a:spcAft>
                <a:spcPts val="400"/>
              </a:spcAft>
              <a:buSzPct val="100000"/>
              <a:buChar char="–"/>
            </a:pPr>
            <a:r>
              <a:rPr lang="en-US" sz="1050" dirty="0">
                <a:solidFill>
                  <a:srgbClr val="DCE3DC"/>
                </a:solidFill>
                <a:latin typeface="Arial" pitchFamily="34" charset="0"/>
                <a:ea typeface="Arial" pitchFamily="34" charset="-122"/>
                <a:cs typeface="Arial" pitchFamily="34" charset="-120"/>
              </a:rPr>
              <a:t>P-256 known-point and ECDH agreement tests</a:t>
            </a:r>
            <a:endParaRPr lang="en-US" sz="1050" dirty="0"/>
          </a:p>
          <a:p>
            <a:pPr marL="342900" indent="-342900">
              <a:spcAft>
                <a:spcPts val="400"/>
              </a:spcAft>
              <a:buSzPct val="100000"/>
              <a:buChar char="–"/>
            </a:pPr>
            <a:r>
              <a:rPr lang="en-US" sz="1050" dirty="0">
                <a:solidFill>
                  <a:srgbClr val="DCE3DC"/>
                </a:solidFill>
                <a:latin typeface="Arial" pitchFamily="34" charset="0"/>
                <a:ea typeface="Arial" pitchFamily="34" charset="-122"/>
                <a:cs typeface="Arial" pitchFamily="34" charset="-120"/>
              </a:rPr>
              <a:t>Full-system replay, tampering and TOFU substitution tests</a:t>
            </a:r>
            <a:endParaRPr lang="en-US" sz="1050" dirty="0"/>
          </a:p>
        </p:txBody>
      </p:sp>
      <p:sp>
        <p:nvSpPr>
          <p:cNvPr id="15" name="Shape 13"/>
          <p:cNvSpPr/>
          <p:nvPr/>
        </p:nvSpPr>
        <p:spPr>
          <a:xfrm>
            <a:off x="621792" y="3291840"/>
            <a:ext cx="5577840" cy="1371600"/>
          </a:xfrm>
          <a:prstGeom prst="rect">
            <a:avLst/>
          </a:prstGeom>
          <a:solidFill>
            <a:srgbClr val="FFFFFF"/>
          </a:solidFill>
          <a:ln w="12700">
            <a:solidFill>
              <a:srgbClr val="DEDCE2"/>
            </a:solidFill>
            <a:prstDash val="solid"/>
          </a:ln>
        </p:spPr>
      </p:sp>
      <p:sp>
        <p:nvSpPr>
          <p:cNvPr id="16" name="Text 14"/>
          <p:cNvSpPr txBox="1"/>
          <p:nvPr/>
        </p:nvSpPr>
        <p:spPr>
          <a:xfrm>
            <a:off x="822960" y="3429000"/>
            <a:ext cx="5175504" cy="292608"/>
          </a:xfrm>
          <a:prstGeom prst="rect">
            <a:avLst/>
          </a:prstGeom>
          <a:noFill/>
          <a:ln/>
        </p:spPr>
        <p:txBody>
          <a:bodyPr wrap="square" lIns="0" tIns="0" rIns="0" bIns="0" rtlCol="0" anchor="ctr"/>
          <a:lstStyle/>
          <a:p>
            <a:pPr marL="0" indent="0">
              <a:buNone/>
            </a:pPr>
            <a:r>
              <a:rPr lang="en-US" sz="1150" b="1" kern="0" spc="40" dirty="0">
                <a:solidFill>
                  <a:srgbClr val="26242B"/>
                </a:solidFill>
                <a:latin typeface="Arial" pitchFamily="34" charset="0"/>
                <a:ea typeface="Arial" pitchFamily="34" charset="-122"/>
                <a:cs typeface="Arial" pitchFamily="34" charset="-120"/>
              </a:rPr>
              <a:t>Attack cases covered by the tests</a:t>
            </a:r>
            <a:endParaRPr lang="en-US" sz="1150" dirty="0"/>
          </a:p>
        </p:txBody>
      </p:sp>
      <p:sp>
        <p:nvSpPr>
          <p:cNvPr id="17" name="Text 15"/>
          <p:cNvSpPr txBox="1"/>
          <p:nvPr/>
        </p:nvSpPr>
        <p:spPr>
          <a:xfrm>
            <a:off x="822960" y="3785616"/>
            <a:ext cx="5175504" cy="749808"/>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6242B"/>
                </a:solidFill>
                <a:latin typeface="Arial" pitchFamily="34" charset="0"/>
                <a:ea typeface="Arial" pitchFamily="34" charset="-122"/>
                <a:cs typeface="Arial" pitchFamily="34" charset="-120"/>
              </a:rPr>
              <a:t>A wrong recipient cannot unwrap the key</a:t>
            </a:r>
            <a:endParaRPr lang="en-US" sz="1050" dirty="0"/>
          </a:p>
          <a:p>
            <a:pPr marL="342900" indent="-342900">
              <a:spcAft>
                <a:spcPts val="400"/>
              </a:spcAft>
              <a:buSzPct val="100000"/>
              <a:buChar char="–"/>
            </a:pPr>
            <a:r>
              <a:rPr lang="en-US" sz="1050" dirty="0">
                <a:solidFill>
                  <a:srgbClr val="26242B"/>
                </a:solidFill>
                <a:latin typeface="Arial" pitchFamily="34" charset="0"/>
                <a:ea typeface="Arial" pitchFamily="34" charset="-122"/>
                <a:cs typeface="Arial" pitchFamily="34" charset="-120"/>
              </a:rPr>
              <a:t>Tampered metadata, sequence, signature, tag or wrapped key are all rejected</a:t>
            </a:r>
            <a:endParaRPr lang="en-US" sz="1050" dirty="0"/>
          </a:p>
          <a:p>
            <a:pPr marL="342900" indent="-342900">
              <a:spcAft>
                <a:spcPts val="400"/>
              </a:spcAft>
              <a:buSzPct val="100000"/>
              <a:buChar char="–"/>
            </a:pPr>
            <a:r>
              <a:rPr lang="en-US" sz="1050" dirty="0">
                <a:solidFill>
                  <a:srgbClr val="26242B"/>
                </a:solidFill>
                <a:latin typeface="Arial" pitchFamily="34" charset="0"/>
                <a:ea typeface="Arial" pitchFamily="34" charset="-122"/>
                <a:cs typeface="Arial" pitchFamily="34" charset="-120"/>
              </a:rPr>
              <a:t>An untrusted sender and a changed fingerprint are rejected</a:t>
            </a:r>
            <a:endParaRPr lang="en-US" sz="1050" dirty="0"/>
          </a:p>
          <a:p>
            <a:pPr marL="342900" indent="-342900">
              <a:spcAft>
                <a:spcPts val="400"/>
              </a:spcAft>
              <a:buSzPct val="100000"/>
              <a:buChar char="–"/>
            </a:pPr>
            <a:r>
              <a:rPr lang="en-US" sz="1050" dirty="0">
                <a:solidFill>
                  <a:srgbClr val="26242B"/>
                </a:solidFill>
                <a:latin typeface="Arial" pitchFamily="34" charset="0"/>
                <a:ea typeface="Arial" pitchFamily="34" charset="-122"/>
                <a:cs typeface="Arial" pitchFamily="34" charset="-120"/>
              </a:rPr>
              <a:t>A replay is rejected after the state has been saved and reloaded</a:t>
            </a:r>
            <a:endParaRPr lang="en-US" sz="1050" dirty="0"/>
          </a:p>
        </p:txBody>
      </p:sp>
      <p:sp>
        <p:nvSpPr>
          <p:cNvPr id="18" name="Shape 16"/>
          <p:cNvSpPr/>
          <p:nvPr/>
        </p:nvSpPr>
        <p:spPr>
          <a:xfrm>
            <a:off x="6565392" y="3291840"/>
            <a:ext cx="4974336" cy="1371600"/>
          </a:xfrm>
          <a:prstGeom prst="rect">
            <a:avLst/>
          </a:prstGeom>
          <a:solidFill>
            <a:srgbClr val="FFFFFF"/>
          </a:solidFill>
          <a:ln w="12700">
            <a:solidFill>
              <a:srgbClr val="DEDCE2"/>
            </a:solidFill>
            <a:prstDash val="solid"/>
          </a:ln>
        </p:spPr>
      </p:sp>
      <p:sp>
        <p:nvSpPr>
          <p:cNvPr id="19" name="Text 17"/>
          <p:cNvSpPr txBox="1"/>
          <p:nvPr/>
        </p:nvSpPr>
        <p:spPr>
          <a:xfrm>
            <a:off x="6766560" y="3429000"/>
            <a:ext cx="4572000" cy="292608"/>
          </a:xfrm>
          <a:prstGeom prst="rect">
            <a:avLst/>
          </a:prstGeom>
          <a:noFill/>
          <a:ln/>
        </p:spPr>
        <p:txBody>
          <a:bodyPr wrap="square" lIns="0" tIns="0" rIns="0" bIns="0" rtlCol="0" anchor="ctr"/>
          <a:lstStyle/>
          <a:p>
            <a:pPr marL="0" indent="0">
              <a:buNone/>
            </a:pPr>
            <a:r>
              <a:rPr lang="en-US" sz="1150" b="1" kern="0" spc="40" dirty="0">
                <a:solidFill>
                  <a:srgbClr val="26242B"/>
                </a:solidFill>
                <a:latin typeface="Arial" pitchFamily="34" charset="0"/>
                <a:ea typeface="Arial" pitchFamily="34" charset="-122"/>
                <a:cs typeface="Arial" pitchFamily="34" charset="-120"/>
              </a:rPr>
              <a:t>The honest edge of the rule</a:t>
            </a:r>
            <a:endParaRPr lang="en-US" sz="1150" dirty="0"/>
          </a:p>
        </p:txBody>
      </p:sp>
      <p:sp>
        <p:nvSpPr>
          <p:cNvPr id="20" name="Text 18"/>
          <p:cNvSpPr txBox="1"/>
          <p:nvPr/>
        </p:nvSpPr>
        <p:spPr>
          <a:xfrm>
            <a:off x="6766560" y="3767328"/>
            <a:ext cx="4572000" cy="768096"/>
          </a:xfrm>
          <a:prstGeom prst="rect">
            <a:avLst/>
          </a:prstGeom>
          <a:noFill/>
          <a:ln/>
        </p:spPr>
        <p:txBody>
          <a:bodyPr wrap="square" lIns="0" tIns="0" rIns="0" bIns="0" rtlCol="0" anchor="t"/>
          <a:lstStyle/>
          <a:p>
            <a:pPr marL="0" indent="0">
              <a:buNone/>
            </a:pPr>
            <a:r>
              <a:rPr lang="en-US" sz="1050" dirty="0">
                <a:solidFill>
                  <a:srgbClr val="26242B"/>
                </a:solidFill>
                <a:latin typeface="Arial" pitchFamily="34" charset="0"/>
                <a:ea typeface="Arial" pitchFamily="34" charset="-122"/>
                <a:cs typeface="Arial" pitchFamily="34" charset="-120"/>
              </a:rPr>
              <a:t>The first share for a sender and document pair is always accepted, because there is nothing yet to compare it against. Replay protection begins at the second message; the first one is protected by the signature, not by freshness.</a:t>
            </a:r>
            <a:endParaRPr lang="en-US" sz="1050" dirty="0"/>
          </a:p>
        </p:txBody>
      </p:sp>
      <p:sp>
        <p:nvSpPr>
          <p:cNvPr id="21" name="Shape 19"/>
          <p:cNvSpPr/>
          <p:nvPr/>
        </p:nvSpPr>
        <p:spPr>
          <a:xfrm>
            <a:off x="621792" y="4828032"/>
            <a:ext cx="10917936" cy="1161288"/>
          </a:xfrm>
          <a:prstGeom prst="rect">
            <a:avLst/>
          </a:prstGeom>
          <a:solidFill>
            <a:srgbClr val="F7F5F6"/>
          </a:solidFill>
          <a:ln w="15875">
            <a:solidFill>
              <a:srgbClr val="C0392F"/>
            </a:solidFill>
            <a:prstDash val="solid"/>
          </a:ln>
        </p:spPr>
      </p:sp>
      <p:sp>
        <p:nvSpPr>
          <p:cNvPr id="22" name="Text 20"/>
          <p:cNvSpPr txBox="1"/>
          <p:nvPr/>
        </p:nvSpPr>
        <p:spPr>
          <a:xfrm>
            <a:off x="822960" y="4965192"/>
            <a:ext cx="10515600" cy="292608"/>
          </a:xfrm>
          <a:prstGeom prst="rect">
            <a:avLst/>
          </a:prstGeom>
          <a:noFill/>
          <a:ln/>
        </p:spPr>
        <p:txBody>
          <a:bodyPr wrap="square" lIns="0" tIns="0" rIns="0" bIns="0" rtlCol="0" anchor="ctr"/>
          <a:lstStyle/>
          <a:p>
            <a:pPr marL="0" indent="0">
              <a:buNone/>
            </a:pPr>
            <a:r>
              <a:rPr lang="en-US" sz="1150" b="1" kern="0" spc="40" dirty="0">
                <a:solidFill>
                  <a:srgbClr val="C0392F"/>
                </a:solidFill>
                <a:latin typeface="Arial" pitchFamily="34" charset="0"/>
                <a:ea typeface="Arial" pitchFamily="34" charset="-122"/>
                <a:cs typeface="Arial" pitchFamily="34" charset="-120"/>
              </a:rPr>
              <a:t>The gap we found in our own share object</a:t>
            </a:r>
            <a:endParaRPr lang="en-US" sz="1150" dirty="0"/>
          </a:p>
        </p:txBody>
      </p:sp>
      <p:sp>
        <p:nvSpPr>
          <p:cNvPr id="23" name="Text 21"/>
          <p:cNvSpPr txBox="1"/>
          <p:nvPr/>
        </p:nvSpPr>
        <p:spPr>
          <a:xfrm>
            <a:off x="822960" y="5303520"/>
            <a:ext cx="10515600" cy="557784"/>
          </a:xfrm>
          <a:prstGeom prst="rect">
            <a:avLst/>
          </a:prstGeom>
          <a:noFill/>
          <a:ln/>
        </p:spPr>
        <p:txBody>
          <a:bodyPr wrap="square" lIns="0" tIns="0" rIns="0" bIns="0" rtlCol="0" anchor="t"/>
          <a:lstStyle/>
          <a:p>
            <a:pPr marL="0" indent="0">
              <a:buNone/>
            </a:pPr>
            <a:r>
              <a:rPr lang="en-US" sz="1050" dirty="0">
                <a:solidFill>
                  <a:srgbClr val="26242B"/>
                </a:solidFill>
                <a:latin typeface="Arial" pitchFamily="34" charset="0"/>
                <a:ea typeface="Arial" pitchFamily="34" charset="-122"/>
                <a:cs typeface="Arial" pitchFamily="34" charset="-120"/>
              </a:rPr>
              <a:t>We wrote an attack against ourselves: take a document received from Layla, keep the document key, and re-encrypt different contents under the same document identifier. Layla's original signature still verifies, because the signed bytes cover the identifier and the wrapped key but not the document bytes. So the share authenticates the key grant, not the content. Closing it is one 32-byte field</a:t>
            </a:r>
            <a:r>
              <a:rPr lang="ar-PS" sz="1050" dirty="0">
                <a:solidFill>
                  <a:srgbClr val="26242B"/>
                </a:solidFill>
                <a:latin typeface="Arial" pitchFamily="34" charset="0"/>
                <a:ea typeface="Arial" pitchFamily="34" charset="-122"/>
                <a:cs typeface="Arial" pitchFamily="34" charset="-120"/>
              </a:rPr>
              <a:t>,</a:t>
            </a:r>
            <a:r>
              <a:rPr lang="en-US" sz="1050" dirty="0">
                <a:solidFill>
                  <a:srgbClr val="26242B"/>
                </a:solidFill>
                <a:latin typeface="Arial" pitchFamily="34" charset="0"/>
                <a:ea typeface="Arial" pitchFamily="34" charset="-122"/>
                <a:cs typeface="Arial" pitchFamily="34" charset="-120"/>
              </a:rPr>
              <a:t>  a SHA-256 of the Document object inside the signed bytes — and the next slide explains why that matters for a named requirement.</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21792" y="329184"/>
            <a:ext cx="9820656" cy="237744"/>
          </a:xfrm>
          <a:prstGeom prst="rect">
            <a:avLst/>
          </a:prstGeom>
          <a:noFill/>
          <a:ln/>
        </p:spPr>
        <p:txBody>
          <a:bodyPr wrap="square" lIns="0" tIns="0" rIns="0" bIns="0" rtlCol="0" anchor="ctr"/>
          <a:lstStyle/>
          <a:p>
            <a:pPr marL="0" indent="0">
              <a:buNone/>
            </a:pPr>
            <a:r>
              <a:rPr lang="en-US" sz="950" b="1" kern="0" spc="250" dirty="0">
                <a:solidFill>
                  <a:srgbClr val="C0392F"/>
                </a:solidFill>
                <a:latin typeface="Arial" pitchFamily="34" charset="0"/>
                <a:ea typeface="Arial" pitchFamily="34" charset="-122"/>
                <a:cs typeface="Arial" pitchFamily="34" charset="-120"/>
              </a:rPr>
              <a:t>CLOSING</a:t>
            </a:r>
            <a:endParaRPr lang="en-US" sz="950" dirty="0"/>
          </a:p>
        </p:txBody>
      </p:sp>
      <p:sp>
        <p:nvSpPr>
          <p:cNvPr id="3" name="Text 1"/>
          <p:cNvSpPr txBox="1"/>
          <p:nvPr/>
        </p:nvSpPr>
        <p:spPr>
          <a:xfrm>
            <a:off x="621792" y="603504"/>
            <a:ext cx="10917936" cy="530352"/>
          </a:xfrm>
          <a:prstGeom prst="rect">
            <a:avLst/>
          </a:prstGeom>
          <a:noFill/>
          <a:ln/>
        </p:spPr>
        <p:txBody>
          <a:bodyPr wrap="square" lIns="0" tIns="0" rIns="0" bIns="0" rtlCol="0" anchor="ctr"/>
          <a:lstStyle/>
          <a:p>
            <a:pPr marL="0" indent="0">
              <a:buNone/>
            </a:pPr>
            <a:r>
              <a:rPr lang="en-US" sz="2500" b="1" dirty="0">
                <a:solidFill>
                  <a:srgbClr val="26242B"/>
                </a:solidFill>
                <a:latin typeface="Bookman Old Style" pitchFamily="34" charset="0"/>
                <a:ea typeface="Bookman Old Style" pitchFamily="34" charset="-122"/>
                <a:cs typeface="Bookman Old Style" pitchFamily="34" charset="-120"/>
              </a:rPr>
              <a:t>Decision 7.5 — MAC or signature</a:t>
            </a:r>
            <a:endParaRPr lang="en-US" sz="2500" dirty="0"/>
          </a:p>
        </p:txBody>
      </p:sp>
      <p:sp>
        <p:nvSpPr>
          <p:cNvPr id="4" name="Text 2"/>
          <p:cNvSpPr txBox="1"/>
          <p:nvPr/>
        </p:nvSpPr>
        <p:spPr>
          <a:xfrm>
            <a:off x="621792" y="1133856"/>
            <a:ext cx="10917936" cy="274320"/>
          </a:xfrm>
          <a:prstGeom prst="rect">
            <a:avLst/>
          </a:prstGeom>
          <a:noFill/>
          <a:ln/>
        </p:spPr>
        <p:txBody>
          <a:bodyPr wrap="square" lIns="0" tIns="0" rIns="0" bIns="0" rtlCol="0" anchor="ctr"/>
          <a:lstStyle/>
          <a:p>
            <a:pPr marL="0" indent="0">
              <a:buNone/>
            </a:pPr>
            <a:r>
              <a:rPr lang="en-US" sz="1200" dirty="0">
                <a:solidFill>
                  <a:srgbClr val="76737E"/>
                </a:solidFill>
                <a:latin typeface="Arial" pitchFamily="34" charset="0"/>
                <a:ea typeface="Arial" pitchFamily="34" charset="-122"/>
                <a:cs typeface="Arial" pitchFamily="34" charset="-120"/>
              </a:rPr>
              <a:t>Where each tool belongs, and what each one can prove</a:t>
            </a:r>
            <a:endParaRPr lang="en-US" sz="1200" dirty="0"/>
          </a:p>
        </p:txBody>
      </p:sp>
      <p:sp>
        <p:nvSpPr>
          <p:cNvPr id="5" name="Text 3"/>
          <p:cNvSpPr txBox="1"/>
          <p:nvPr/>
        </p:nvSpPr>
        <p:spPr>
          <a:xfrm>
            <a:off x="10899648" y="310896"/>
            <a:ext cx="640080" cy="274320"/>
          </a:xfrm>
          <a:prstGeom prst="rect">
            <a:avLst/>
          </a:prstGeom>
          <a:noFill/>
          <a:ln/>
        </p:spPr>
        <p:txBody>
          <a:bodyPr wrap="square" lIns="0" tIns="0" rIns="0" bIns="0" rtlCol="0" anchor="ctr"/>
          <a:lstStyle/>
          <a:p>
            <a:pPr marL="0" indent="0" algn="r">
              <a:buNone/>
            </a:pPr>
            <a:r>
              <a:rPr lang="en-US" sz="1100" b="1" dirty="0">
                <a:solidFill>
                  <a:srgbClr val="DEDCE2"/>
                </a:solidFill>
                <a:latin typeface="Arial" pitchFamily="34" charset="0"/>
                <a:ea typeface="Arial" pitchFamily="34" charset="-122"/>
                <a:cs typeface="Arial" pitchFamily="34" charset="-120"/>
              </a:rPr>
              <a:t>20</a:t>
            </a:r>
            <a:endParaRPr lang="en-US" sz="11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21792" y="1481328"/>
          <a:ext cx="10917936" cy="1242060"/>
        </p:xfrm>
        <a:graphic>
          <a:graphicData uri="http://schemas.openxmlformats.org/drawingml/2006/table">
            <a:tbl>
              <a:tblPr/>
              <a:tblGrid>
                <a:gridCol w="283464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5431536">
                  <a:extLst>
                    <a:ext uri="{9D8B030D-6E8A-4147-A177-3AD203B41FA5}">
                      <a16:colId xmlns:a16="http://schemas.microsoft.com/office/drawing/2014/main" val="20002"/>
                    </a:ext>
                  </a:extLst>
                </a:gridCol>
              </a:tblGrid>
              <a:tr h="0">
                <a:tc>
                  <a:txBody>
                    <a:bodyPr/>
                    <a:lstStyle/>
                    <a:p>
                      <a:pPr marL="0" indent="0">
                        <a:buNone/>
                      </a:pPr>
                      <a:r>
                        <a:rPr lang="en-US" sz="950" b="1" kern="0" spc="100" dirty="0">
                          <a:solidFill>
                            <a:srgbClr val="C0392F"/>
                          </a:solidFill>
                          <a:latin typeface="Arial" pitchFamily="34" charset="0"/>
                          <a:ea typeface="Arial" pitchFamily="34" charset="-122"/>
                          <a:cs typeface="Arial" pitchFamily="34" charset="-120"/>
                        </a:rPr>
                        <a:t>PLACE</a:t>
                      </a:r>
                      <a:endParaRPr lang="en-US" sz="95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7F5F6"/>
                    </a:solidFill>
                  </a:tcPr>
                </a:tc>
                <a:tc>
                  <a:txBody>
                    <a:bodyPr/>
                    <a:lstStyle/>
                    <a:p>
                      <a:pPr marL="0" indent="0">
                        <a:buNone/>
                      </a:pPr>
                      <a:r>
                        <a:rPr lang="en-US" sz="950" b="1" kern="0" spc="100" dirty="0">
                          <a:solidFill>
                            <a:srgbClr val="C0392F"/>
                          </a:solidFill>
                          <a:latin typeface="Arial" pitchFamily="34" charset="0"/>
                          <a:ea typeface="Arial" pitchFamily="34" charset="-122"/>
                          <a:cs typeface="Arial" pitchFamily="34" charset="-120"/>
                        </a:rPr>
                        <a:t>MECHANISM</a:t>
                      </a:r>
                      <a:endParaRPr lang="en-US" sz="95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7F5F6"/>
                    </a:solidFill>
                  </a:tcPr>
                </a:tc>
                <a:tc>
                  <a:txBody>
                    <a:bodyPr/>
                    <a:lstStyle/>
                    <a:p>
                      <a:pPr marL="0" indent="0">
                        <a:buNone/>
                      </a:pPr>
                      <a:r>
                        <a:rPr lang="en-US" sz="950" b="1" kern="0" spc="100" dirty="0">
                          <a:solidFill>
                            <a:srgbClr val="C0392F"/>
                          </a:solidFill>
                          <a:latin typeface="Arial" pitchFamily="34" charset="0"/>
                          <a:ea typeface="Arial" pitchFamily="34" charset="-122"/>
                          <a:cs typeface="Arial" pitchFamily="34" charset="-120"/>
                        </a:rPr>
                        <a:t>WHY THAT ONE</a:t>
                      </a:r>
                      <a:endParaRPr lang="en-US" sz="95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7F5F6"/>
                    </a:solidFill>
                  </a:tcPr>
                </a:tc>
                <a:extLst>
                  <a:ext uri="{0D108BD9-81ED-4DB2-BD59-A6C34878D82A}">
                    <a16:rowId xmlns:a16="http://schemas.microsoft.com/office/drawing/2014/main" val="10000"/>
                  </a:ext>
                </a:extLst>
              </a:tr>
              <a:tr h="0">
                <a:tc>
                  <a:txBody>
                    <a:bodyPr/>
                    <a:lstStyle/>
                    <a:p>
                      <a:pPr marL="0" indent="0">
                        <a:buNone/>
                      </a:pPr>
                      <a:r>
                        <a:rPr lang="en-US" sz="1050" dirty="0">
                          <a:solidFill>
                            <a:srgbClr val="26242B"/>
                          </a:solidFill>
                          <a:latin typeface="Arial" pitchFamily="34" charset="0"/>
                          <a:ea typeface="Arial" pitchFamily="34" charset="-122"/>
                          <a:cs typeface="Arial" pitchFamily="34" charset="-120"/>
                        </a:rPr>
                        <a:t>Document and key encryption</a:t>
                      </a:r>
                      <a:endParaRPr lang="en-US" sz="105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tc>
                  <a:txBody>
                    <a:bodyPr/>
                    <a:lstStyle/>
                    <a:p>
                      <a:pPr marL="0" indent="0">
                        <a:buNone/>
                      </a:pPr>
                      <a:r>
                        <a:rPr lang="en-US" sz="1050" dirty="0">
                          <a:solidFill>
                            <a:srgbClr val="26242B"/>
                          </a:solidFill>
                          <a:latin typeface="Arial" pitchFamily="34" charset="0"/>
                          <a:ea typeface="Arial" pitchFamily="34" charset="-122"/>
                          <a:cs typeface="Arial" pitchFamily="34" charset="-120"/>
                        </a:rPr>
                        <a:t>Poly1305 tag inside the AEAD</a:t>
                      </a:r>
                      <a:endParaRPr lang="en-US" sz="105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tc>
                  <a:txBody>
                    <a:bodyPr/>
                    <a:lstStyle/>
                    <a:p>
                      <a:pPr marL="0" indent="0">
                        <a:buNone/>
                      </a:pPr>
                      <a:r>
                        <a:rPr lang="en-US" sz="1050" dirty="0">
                          <a:solidFill>
                            <a:srgbClr val="26242B"/>
                          </a:solidFill>
                          <a:latin typeface="Arial" pitchFamily="34" charset="0"/>
                          <a:ea typeface="Arial" pitchFamily="34" charset="-122"/>
                          <a:cs typeface="Arial" pitchFamily="34" charset="-120"/>
                        </a:rPr>
                        <a:t>Both sides hold the same key; nothing needs proving to a third party</a:t>
                      </a:r>
                      <a:endParaRPr lang="en-US" sz="105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050" dirty="0">
                          <a:solidFill>
                            <a:srgbClr val="26242B"/>
                          </a:solidFill>
                          <a:latin typeface="Arial" pitchFamily="34" charset="0"/>
                          <a:ea typeface="Arial" pitchFamily="34" charset="-122"/>
                          <a:cs typeface="Arial" pitchFamily="34" charset="-120"/>
                        </a:rPr>
                        <a:t>Login response</a:t>
                      </a:r>
                      <a:endParaRPr lang="en-US" sz="105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tc>
                  <a:txBody>
                    <a:bodyPr/>
                    <a:lstStyle/>
                    <a:p>
                      <a:pPr marL="0" indent="0">
                        <a:buNone/>
                      </a:pPr>
                      <a:r>
                        <a:rPr lang="en-US" sz="1050" dirty="0">
                          <a:solidFill>
                            <a:srgbClr val="26242B"/>
                          </a:solidFill>
                          <a:latin typeface="Arial" pitchFamily="34" charset="0"/>
                          <a:ea typeface="Arial" pitchFamily="34" charset="-122"/>
                          <a:cs typeface="Arial" pitchFamily="34" charset="-120"/>
                        </a:rPr>
                        <a:t>HMAC-SHA-256 over the transcript</a:t>
                      </a:r>
                      <a:endParaRPr lang="en-US" sz="105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tc>
                  <a:txBody>
                    <a:bodyPr/>
                    <a:lstStyle/>
                    <a:p>
                      <a:pPr marL="0" indent="0">
                        <a:buNone/>
                      </a:pPr>
                      <a:r>
                        <a:rPr lang="en-US" sz="1050" dirty="0">
                          <a:solidFill>
                            <a:srgbClr val="26242B"/>
                          </a:solidFill>
                          <a:latin typeface="Arial" pitchFamily="34" charset="0"/>
                          <a:ea typeface="Arial" pitchFamily="34" charset="-122"/>
                          <a:cs typeface="Arial" pitchFamily="34" charset="-120"/>
                        </a:rPr>
                        <a:t>The server holds the verifier and only has to satisfy itself</a:t>
                      </a:r>
                      <a:endParaRPr lang="en-US" sz="105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buNone/>
                      </a:pPr>
                      <a:r>
                        <a:rPr lang="en-US" sz="1050" dirty="0">
                          <a:solidFill>
                            <a:srgbClr val="26242B"/>
                          </a:solidFill>
                          <a:latin typeface="Arial" pitchFamily="34" charset="0"/>
                          <a:ea typeface="Arial" pitchFamily="34" charset="-122"/>
                          <a:cs typeface="Arial" pitchFamily="34" charset="-120"/>
                        </a:rPr>
                        <a:t>Session requests</a:t>
                      </a:r>
                      <a:endParaRPr lang="en-US" sz="105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tc>
                  <a:txBody>
                    <a:bodyPr/>
                    <a:lstStyle/>
                    <a:p>
                      <a:pPr marL="0" indent="0">
                        <a:buNone/>
                      </a:pPr>
                      <a:r>
                        <a:rPr lang="en-US" sz="1050" dirty="0">
                          <a:solidFill>
                            <a:srgbClr val="26242B"/>
                          </a:solidFill>
                          <a:latin typeface="Arial" pitchFamily="34" charset="0"/>
                          <a:ea typeface="Arial" pitchFamily="34" charset="-122"/>
                          <a:cs typeface="Arial" pitchFamily="34" charset="-120"/>
                        </a:rPr>
                        <a:t>HMAC with a per-session key</a:t>
                      </a:r>
                      <a:endParaRPr lang="en-US" sz="105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tc>
                  <a:txBody>
                    <a:bodyPr/>
                    <a:lstStyle/>
                    <a:p>
                      <a:pPr marL="0" indent="0">
                        <a:buNone/>
                      </a:pPr>
                      <a:r>
                        <a:rPr lang="en-US" sz="1050" dirty="0">
                          <a:solidFill>
                            <a:srgbClr val="26242B"/>
                          </a:solidFill>
                          <a:latin typeface="Arial" pitchFamily="34" charset="0"/>
                          <a:ea typeface="Arial" pitchFamily="34" charset="-122"/>
                          <a:cs typeface="Arial" pitchFamily="34" charset="-120"/>
                        </a:rPr>
                        <a:t>Same reason, and a signature per request would be far more expensive</a:t>
                      </a:r>
                      <a:endParaRPr lang="en-US" sz="105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050" dirty="0">
                          <a:solidFill>
                            <a:srgbClr val="26242B"/>
                          </a:solidFill>
                          <a:latin typeface="Arial" pitchFamily="34" charset="0"/>
                          <a:ea typeface="Arial" pitchFamily="34" charset="-122"/>
                          <a:cs typeface="Arial" pitchFamily="34" charset="-120"/>
                        </a:rPr>
                        <a:t>Sharing a document</a:t>
                      </a:r>
                      <a:endParaRPr lang="en-US" sz="105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tc>
                  <a:txBody>
                    <a:bodyPr/>
                    <a:lstStyle/>
                    <a:p>
                      <a:pPr marL="0" indent="0">
                        <a:buNone/>
                      </a:pPr>
                      <a:r>
                        <a:rPr lang="en-US" sz="1050" dirty="0">
                          <a:solidFill>
                            <a:srgbClr val="26242B"/>
                          </a:solidFill>
                          <a:latin typeface="Arial" pitchFamily="34" charset="0"/>
                          <a:ea typeface="Arial" pitchFamily="34" charset="-122"/>
                          <a:cs typeface="Arial" pitchFamily="34" charset="-120"/>
                        </a:rPr>
                        <a:t>RSA-PSS signature</a:t>
                      </a:r>
                      <a:endParaRPr lang="en-US" sz="105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tc>
                  <a:txBody>
                    <a:bodyPr/>
                    <a:lstStyle/>
                    <a:p>
                      <a:pPr marL="0" indent="0">
                        <a:buNone/>
                      </a:pPr>
                      <a:r>
                        <a:rPr lang="en-US" sz="1050" dirty="0">
                          <a:solidFill>
                            <a:srgbClr val="26242B"/>
                          </a:solidFill>
                          <a:latin typeface="Arial" pitchFamily="34" charset="0"/>
                          <a:ea typeface="Arial" pitchFamily="34" charset="-122"/>
                          <a:cs typeface="Arial" pitchFamily="34" charset="-120"/>
                        </a:rPr>
                        <a:t>Omar may have to convince someone who was not there — only a signature can do that</a:t>
                      </a:r>
                      <a:endParaRPr lang="en-US" sz="105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7" name="Shape 4"/>
          <p:cNvSpPr/>
          <p:nvPr/>
        </p:nvSpPr>
        <p:spPr>
          <a:xfrm>
            <a:off x="621792" y="3840480"/>
            <a:ext cx="5577840" cy="1417320"/>
          </a:xfrm>
          <a:prstGeom prst="rect">
            <a:avLst/>
          </a:prstGeom>
          <a:solidFill>
            <a:srgbClr val="FFFFFF"/>
          </a:solidFill>
          <a:ln w="12700">
            <a:solidFill>
              <a:srgbClr val="DEDCE2"/>
            </a:solidFill>
            <a:prstDash val="solid"/>
          </a:ln>
        </p:spPr>
      </p:sp>
      <p:sp>
        <p:nvSpPr>
          <p:cNvPr id="8" name="Text 5"/>
          <p:cNvSpPr txBox="1"/>
          <p:nvPr/>
        </p:nvSpPr>
        <p:spPr>
          <a:xfrm>
            <a:off x="822960" y="3977640"/>
            <a:ext cx="5175504" cy="292608"/>
          </a:xfrm>
          <a:prstGeom prst="rect">
            <a:avLst/>
          </a:prstGeom>
          <a:noFill/>
          <a:ln/>
        </p:spPr>
        <p:txBody>
          <a:bodyPr wrap="square" lIns="0" tIns="0" rIns="0" bIns="0" rtlCol="0" anchor="ctr"/>
          <a:lstStyle/>
          <a:p>
            <a:pPr marL="0" indent="0">
              <a:buNone/>
            </a:pPr>
            <a:r>
              <a:rPr lang="en-US" sz="1150" b="1" kern="0" spc="40" dirty="0">
                <a:solidFill>
                  <a:srgbClr val="26242B"/>
                </a:solidFill>
                <a:latin typeface="Arial" pitchFamily="34" charset="0"/>
                <a:ea typeface="Arial" pitchFamily="34" charset="-122"/>
                <a:cs typeface="Arial" pitchFamily="34" charset="-120"/>
              </a:rPr>
              <a:t>Why a MAC can never give non-repudiation</a:t>
            </a:r>
            <a:endParaRPr lang="en-US" sz="1150" dirty="0"/>
          </a:p>
        </p:txBody>
      </p:sp>
      <p:sp>
        <p:nvSpPr>
          <p:cNvPr id="9" name="Text 6"/>
          <p:cNvSpPr txBox="1"/>
          <p:nvPr/>
        </p:nvSpPr>
        <p:spPr>
          <a:xfrm>
            <a:off x="822960" y="4334256"/>
            <a:ext cx="5175504" cy="795528"/>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6242B"/>
                </a:solidFill>
                <a:latin typeface="Arial" pitchFamily="34" charset="0"/>
                <a:ea typeface="Arial" pitchFamily="34" charset="-122"/>
                <a:cs typeface="Arial" pitchFamily="34" charset="-120"/>
              </a:rPr>
              <a:t>Verifying a MAC requires the same key that produced it</a:t>
            </a:r>
            <a:endParaRPr lang="en-US" sz="1050" dirty="0"/>
          </a:p>
          <a:p>
            <a:pPr marL="342900" indent="-342900">
              <a:spcAft>
                <a:spcPts val="400"/>
              </a:spcAft>
              <a:buSzPct val="100000"/>
              <a:buChar char="–"/>
            </a:pPr>
            <a:r>
              <a:rPr lang="en-US" sz="1050" dirty="0">
                <a:solidFill>
                  <a:srgbClr val="26242B"/>
                </a:solidFill>
                <a:latin typeface="Arial" pitchFamily="34" charset="0"/>
                <a:ea typeface="Arial" pitchFamily="34" charset="-122"/>
                <a:cs typeface="Arial" pitchFamily="34" charset="-120"/>
              </a:rPr>
              <a:t>So the verifier could have produced the tag themselves</a:t>
            </a:r>
            <a:endParaRPr lang="en-US" sz="1050" dirty="0"/>
          </a:p>
          <a:p>
            <a:pPr marL="342900" indent="-342900">
              <a:spcAft>
                <a:spcPts val="400"/>
              </a:spcAft>
              <a:buSzPct val="100000"/>
              <a:buChar char="–"/>
            </a:pPr>
            <a:r>
              <a:rPr lang="en-US" sz="1050" dirty="0">
                <a:solidFill>
                  <a:srgbClr val="26242B"/>
                </a:solidFill>
                <a:latin typeface="Arial" pitchFamily="34" charset="0"/>
                <a:ea typeface="Arial" pitchFamily="34" charset="-122"/>
                <a:cs typeface="Arial" pitchFamily="34" charset="-120"/>
              </a:rPr>
              <a:t>A third party cannot tell the two apart, and no tag length changes that</a:t>
            </a:r>
            <a:endParaRPr lang="en-US" sz="1050" dirty="0"/>
          </a:p>
          <a:p>
            <a:pPr marL="342900" indent="-342900">
              <a:spcAft>
                <a:spcPts val="400"/>
              </a:spcAft>
              <a:buSzPct val="100000"/>
              <a:buChar char="–"/>
            </a:pPr>
            <a:r>
              <a:rPr lang="en-US" sz="1050" dirty="0">
                <a:solidFill>
                  <a:srgbClr val="26242B"/>
                </a:solidFill>
                <a:latin typeface="Arial" pitchFamily="34" charset="0"/>
                <a:ea typeface="Arial" pitchFamily="34" charset="-122"/>
                <a:cs typeface="Arial" pitchFamily="34" charset="-120"/>
              </a:rPr>
              <a:t>This is why sharing is the one place we pay for a signature</a:t>
            </a:r>
            <a:endParaRPr lang="en-US" sz="1050" dirty="0"/>
          </a:p>
        </p:txBody>
      </p:sp>
      <p:sp>
        <p:nvSpPr>
          <p:cNvPr id="10" name="Shape 7"/>
          <p:cNvSpPr/>
          <p:nvPr/>
        </p:nvSpPr>
        <p:spPr>
          <a:xfrm>
            <a:off x="6565392" y="3840480"/>
            <a:ext cx="4974336" cy="1417320"/>
          </a:xfrm>
          <a:prstGeom prst="rect">
            <a:avLst/>
          </a:prstGeom>
          <a:solidFill>
            <a:srgbClr val="F7F5F6"/>
          </a:solidFill>
          <a:ln w="15875">
            <a:solidFill>
              <a:srgbClr val="C0392F"/>
            </a:solidFill>
            <a:prstDash val="solid"/>
          </a:ln>
        </p:spPr>
      </p:sp>
      <p:sp>
        <p:nvSpPr>
          <p:cNvPr id="11" name="Text 8"/>
          <p:cNvSpPr txBox="1"/>
          <p:nvPr/>
        </p:nvSpPr>
        <p:spPr>
          <a:xfrm>
            <a:off x="6766560" y="3977640"/>
            <a:ext cx="4572000" cy="292608"/>
          </a:xfrm>
          <a:prstGeom prst="rect">
            <a:avLst/>
          </a:prstGeom>
          <a:noFill/>
          <a:ln/>
        </p:spPr>
        <p:txBody>
          <a:bodyPr wrap="square" lIns="0" tIns="0" rIns="0" bIns="0" rtlCol="0" anchor="ctr"/>
          <a:lstStyle/>
          <a:p>
            <a:pPr marL="0" indent="0">
              <a:buNone/>
            </a:pPr>
            <a:r>
              <a:rPr lang="en-US" sz="1150" b="1" kern="0" spc="40" dirty="0">
                <a:solidFill>
                  <a:srgbClr val="C0392F"/>
                </a:solidFill>
                <a:latin typeface="Arial" pitchFamily="34" charset="0"/>
                <a:ea typeface="Arial" pitchFamily="34" charset="-122"/>
                <a:cs typeface="Arial" pitchFamily="34" charset="-120"/>
              </a:rPr>
              <a:t>Where our signature stops short</a:t>
            </a:r>
            <a:endParaRPr lang="en-US" sz="1150" dirty="0"/>
          </a:p>
        </p:txBody>
      </p:sp>
      <p:sp>
        <p:nvSpPr>
          <p:cNvPr id="12" name="Text 9"/>
          <p:cNvSpPr txBox="1"/>
          <p:nvPr/>
        </p:nvSpPr>
        <p:spPr>
          <a:xfrm>
            <a:off x="6766560" y="4315968"/>
            <a:ext cx="4572000" cy="813816"/>
          </a:xfrm>
          <a:prstGeom prst="rect">
            <a:avLst/>
          </a:prstGeom>
          <a:noFill/>
          <a:ln/>
        </p:spPr>
        <p:txBody>
          <a:bodyPr wrap="square" lIns="0" tIns="0" rIns="0" bIns="0" rtlCol="0" anchor="t"/>
          <a:lstStyle/>
          <a:p>
            <a:pPr marL="0" indent="0">
              <a:buNone/>
            </a:pPr>
            <a:r>
              <a:rPr lang="en-US" sz="1050" dirty="0">
                <a:solidFill>
                  <a:srgbClr val="26242B"/>
                </a:solidFill>
                <a:latin typeface="Arial" pitchFamily="34" charset="0"/>
                <a:ea typeface="Arial" pitchFamily="34" charset="-122"/>
                <a:cs typeface="Arial" pitchFamily="34" charset="-120"/>
              </a:rPr>
              <a:t>It proves Layla authorised a key for a document identifier. It does not commit her to that document's bytes, so a recipient who already holds the key can substitute different contents and the signature still verifies. We provide data-origin authentication of the key grant; full content non-repudiation needs the document hash inside the signed bytes.</a:t>
            </a:r>
            <a:endParaRPr lang="en-US" sz="1050" dirty="0"/>
          </a:p>
        </p:txBody>
      </p:sp>
      <p:sp>
        <p:nvSpPr>
          <p:cNvPr id="13" name="Shape 10"/>
          <p:cNvSpPr/>
          <p:nvPr/>
        </p:nvSpPr>
        <p:spPr>
          <a:xfrm>
            <a:off x="621792" y="5422392"/>
            <a:ext cx="10917936" cy="566928"/>
          </a:xfrm>
          <a:prstGeom prst="rect">
            <a:avLst/>
          </a:prstGeom>
          <a:solidFill>
            <a:srgbClr val="3C4F3F"/>
          </a:solidFill>
          <a:ln w="12700">
            <a:solidFill>
              <a:srgbClr val="3C4F3F"/>
            </a:solidFill>
            <a:prstDash val="solid"/>
          </a:ln>
        </p:spPr>
      </p:sp>
      <p:sp>
        <p:nvSpPr>
          <p:cNvPr id="14" name="Text 11"/>
          <p:cNvSpPr txBox="1"/>
          <p:nvPr/>
        </p:nvSpPr>
        <p:spPr>
          <a:xfrm>
            <a:off x="822960" y="5559552"/>
            <a:ext cx="10515600" cy="292608"/>
          </a:xfrm>
          <a:prstGeom prst="rect">
            <a:avLst/>
          </a:prstGeom>
          <a:noFill/>
          <a:ln/>
        </p:spPr>
        <p:txBody>
          <a:bodyPr wrap="square" lIns="0" tIns="0" rIns="0" bIns="0" rtlCol="0" anchor="ctr"/>
          <a:lstStyle/>
          <a:p>
            <a:pPr marL="0" indent="0">
              <a:buNone/>
            </a:pPr>
            <a:r>
              <a:rPr lang="en-US" sz="1150" b="1" kern="0" spc="40" dirty="0">
                <a:solidFill>
                  <a:srgbClr val="FFFFFF"/>
                </a:solidFill>
                <a:latin typeface="Arial" pitchFamily="34" charset="0"/>
                <a:ea typeface="Arial" pitchFamily="34" charset="-122"/>
                <a:cs typeface="Arial" pitchFamily="34" charset="-120"/>
              </a:rPr>
              <a:t>The answer we would give to the direct question</a:t>
            </a:r>
            <a:endParaRPr lang="en-US" sz="1150" dirty="0"/>
          </a:p>
        </p:txBody>
      </p:sp>
      <p:sp>
        <p:nvSpPr>
          <p:cNvPr id="15" name="Text 12"/>
          <p:cNvSpPr txBox="1"/>
          <p:nvPr/>
        </p:nvSpPr>
        <p:spPr>
          <a:xfrm>
            <a:off x="838200" y="5800884"/>
            <a:ext cx="10515600" cy="420000"/>
          </a:xfrm>
          <a:prstGeom prst="rect">
            <a:avLst/>
          </a:prstGeom>
          <a:noFill/>
          <a:ln/>
        </p:spPr>
        <p:txBody>
          <a:bodyPr wrap="square" lIns="0" tIns="0" rIns="0" bIns="0" rtlCol="0" anchor="t"/>
          <a:lstStyle/>
          <a:p>
            <a:pPr marL="0" indent="0">
              <a:buNone/>
            </a:pPr>
            <a:r>
              <a:rPr lang="en-US" sz="1050" dirty="0">
                <a:solidFill>
                  <a:srgbClr val="DCE3DC"/>
                </a:solidFill>
                <a:latin typeface="Arial" pitchFamily="34" charset="0"/>
                <a:ea typeface="Arial" pitchFamily="34" charset="-122"/>
                <a:cs typeface="Arial" pitchFamily="34" charset="-120"/>
              </a:rPr>
              <a:t>Ours proves the key grant; full content proof needs a document hash in the signed bytes.</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21792" y="329184"/>
            <a:ext cx="9820656" cy="237744"/>
          </a:xfrm>
          <a:prstGeom prst="rect">
            <a:avLst/>
          </a:prstGeom>
          <a:noFill/>
          <a:ln/>
        </p:spPr>
        <p:txBody>
          <a:bodyPr wrap="square" lIns="0" tIns="0" rIns="0" bIns="0" rtlCol="0" anchor="ctr"/>
          <a:lstStyle/>
          <a:p>
            <a:pPr marL="0" indent="0">
              <a:buNone/>
            </a:pPr>
            <a:r>
              <a:rPr lang="en-US" sz="950" b="1" kern="0" spc="250" dirty="0">
                <a:solidFill>
                  <a:srgbClr val="C0392F"/>
                </a:solidFill>
                <a:latin typeface="Arial" pitchFamily="34" charset="0"/>
                <a:ea typeface="Arial" pitchFamily="34" charset="-122"/>
                <a:cs typeface="Arial" pitchFamily="34" charset="-120"/>
              </a:rPr>
              <a:t>CLOSING</a:t>
            </a:r>
            <a:endParaRPr lang="en-US" sz="950" dirty="0"/>
          </a:p>
        </p:txBody>
      </p:sp>
      <p:sp>
        <p:nvSpPr>
          <p:cNvPr id="3" name="Text 1"/>
          <p:cNvSpPr txBox="1"/>
          <p:nvPr/>
        </p:nvSpPr>
        <p:spPr>
          <a:xfrm>
            <a:off x="621792" y="603504"/>
            <a:ext cx="10917936" cy="530352"/>
          </a:xfrm>
          <a:prstGeom prst="rect">
            <a:avLst/>
          </a:prstGeom>
          <a:noFill/>
          <a:ln/>
        </p:spPr>
        <p:txBody>
          <a:bodyPr wrap="square" lIns="0" tIns="0" rIns="0" bIns="0" rtlCol="0" anchor="ctr"/>
          <a:lstStyle/>
          <a:p>
            <a:pPr marL="0" indent="0">
              <a:buNone/>
            </a:pPr>
            <a:r>
              <a:rPr lang="en-US" sz="2500" b="1" dirty="0">
                <a:solidFill>
                  <a:srgbClr val="26242B"/>
                </a:solidFill>
                <a:latin typeface="Bookman Old Style" pitchFamily="34" charset="0"/>
                <a:ea typeface="Bookman Old Style" pitchFamily="34" charset="-122"/>
                <a:cs typeface="Bookman Old Style" pitchFamily="34" charset="-120"/>
              </a:rPr>
              <a:t>The complete flow, end to end</a:t>
            </a:r>
            <a:endParaRPr lang="en-US" sz="2500" dirty="0"/>
          </a:p>
        </p:txBody>
      </p:sp>
      <p:sp>
        <p:nvSpPr>
          <p:cNvPr id="4" name="Text 2"/>
          <p:cNvSpPr txBox="1"/>
          <p:nvPr/>
        </p:nvSpPr>
        <p:spPr>
          <a:xfrm>
            <a:off x="621792" y="1133856"/>
            <a:ext cx="10917936" cy="274320"/>
          </a:xfrm>
          <a:prstGeom prst="rect">
            <a:avLst/>
          </a:prstGeom>
          <a:noFill/>
          <a:ln/>
        </p:spPr>
        <p:txBody>
          <a:bodyPr wrap="square" lIns="0" tIns="0" rIns="0" bIns="0" rtlCol="0" anchor="ctr"/>
          <a:lstStyle/>
          <a:p>
            <a:pPr marL="0" indent="0">
              <a:buNone/>
            </a:pPr>
            <a:r>
              <a:rPr lang="en-US" sz="1200" dirty="0">
                <a:solidFill>
                  <a:srgbClr val="76737E"/>
                </a:solidFill>
                <a:latin typeface="Arial" pitchFamily="34" charset="0"/>
                <a:ea typeface="Arial" pitchFamily="34" charset="-122"/>
                <a:cs typeface="Arial" pitchFamily="34" charset="-120"/>
              </a:rPr>
              <a:t>From starting the server to a verified document in Omar's hands</a:t>
            </a:r>
            <a:endParaRPr lang="en-US" sz="1200" dirty="0"/>
          </a:p>
        </p:txBody>
      </p:sp>
      <p:sp>
        <p:nvSpPr>
          <p:cNvPr id="5" name="Text 3"/>
          <p:cNvSpPr txBox="1"/>
          <p:nvPr/>
        </p:nvSpPr>
        <p:spPr>
          <a:xfrm>
            <a:off x="10899648" y="310896"/>
            <a:ext cx="640080" cy="274320"/>
          </a:xfrm>
          <a:prstGeom prst="rect">
            <a:avLst/>
          </a:prstGeom>
          <a:noFill/>
          <a:ln/>
        </p:spPr>
        <p:txBody>
          <a:bodyPr wrap="square" lIns="0" tIns="0" rIns="0" bIns="0" rtlCol="0" anchor="ctr"/>
          <a:lstStyle/>
          <a:p>
            <a:pPr marL="0" indent="0" algn="r">
              <a:buNone/>
            </a:pPr>
            <a:r>
              <a:rPr lang="en-US" sz="1100" b="1" dirty="0">
                <a:solidFill>
                  <a:srgbClr val="DEDCE2"/>
                </a:solidFill>
                <a:latin typeface="Arial" pitchFamily="34" charset="0"/>
                <a:ea typeface="Arial" pitchFamily="34" charset="-122"/>
                <a:cs typeface="Arial" pitchFamily="34" charset="-120"/>
              </a:rPr>
              <a:t>21</a:t>
            </a:r>
            <a:endParaRPr lang="en-US" sz="1100" dirty="0"/>
          </a:p>
        </p:txBody>
      </p:sp>
      <p:sp>
        <p:nvSpPr>
          <p:cNvPr id="6" name="Text 4"/>
          <p:cNvSpPr txBox="1"/>
          <p:nvPr/>
        </p:nvSpPr>
        <p:spPr>
          <a:xfrm>
            <a:off x="621792" y="1481328"/>
            <a:ext cx="822960" cy="402336"/>
          </a:xfrm>
          <a:prstGeom prst="rect">
            <a:avLst/>
          </a:prstGeom>
          <a:noFill/>
          <a:ln/>
        </p:spPr>
        <p:txBody>
          <a:bodyPr wrap="square" lIns="0" tIns="0" rIns="0" bIns="0" rtlCol="0" anchor="ctr"/>
          <a:lstStyle/>
          <a:p>
            <a:pPr marL="0" indent="0">
              <a:buNone/>
            </a:pPr>
            <a:r>
              <a:rPr lang="en-US" sz="2200" b="1" dirty="0">
                <a:solidFill>
                  <a:srgbClr val="C0392F"/>
                </a:solidFill>
                <a:latin typeface="Bookman Old Style" pitchFamily="34" charset="0"/>
                <a:ea typeface="Bookman Old Style" pitchFamily="34" charset="-122"/>
                <a:cs typeface="Bookman Old Style" pitchFamily="34" charset="-120"/>
              </a:rPr>
              <a:t>01</a:t>
            </a:r>
            <a:endParaRPr lang="en-US" sz="2200" dirty="0"/>
          </a:p>
        </p:txBody>
      </p:sp>
      <p:sp>
        <p:nvSpPr>
          <p:cNvPr id="7" name="Text 5"/>
          <p:cNvSpPr txBox="1"/>
          <p:nvPr/>
        </p:nvSpPr>
        <p:spPr>
          <a:xfrm>
            <a:off x="621792" y="1883664"/>
            <a:ext cx="2496312" cy="274320"/>
          </a:xfrm>
          <a:prstGeom prst="rect">
            <a:avLst/>
          </a:prstGeom>
          <a:noFill/>
          <a:ln/>
        </p:spPr>
        <p:txBody>
          <a:bodyPr wrap="square" lIns="0" tIns="0" rIns="0" bIns="0" rtlCol="0" anchor="ctr"/>
          <a:lstStyle/>
          <a:p>
            <a:pPr marL="0" indent="0">
              <a:buNone/>
            </a:pPr>
            <a:r>
              <a:rPr lang="en-US" sz="1200" b="1" dirty="0">
                <a:solidFill>
                  <a:srgbClr val="26242B"/>
                </a:solidFill>
                <a:latin typeface="Arial" pitchFamily="34" charset="0"/>
                <a:ea typeface="Arial" pitchFamily="34" charset="-122"/>
                <a:cs typeface="Arial" pitchFamily="34" charset="-120"/>
              </a:rPr>
              <a:t>Start the server</a:t>
            </a:r>
            <a:endParaRPr lang="en-US" sz="1200" dirty="0"/>
          </a:p>
        </p:txBody>
      </p:sp>
      <p:sp>
        <p:nvSpPr>
          <p:cNvPr id="8" name="Text 6"/>
          <p:cNvSpPr txBox="1"/>
          <p:nvPr/>
        </p:nvSpPr>
        <p:spPr>
          <a:xfrm>
            <a:off x="621792" y="2157984"/>
            <a:ext cx="2496312" cy="566928"/>
          </a:xfrm>
          <a:prstGeom prst="rect">
            <a:avLst/>
          </a:prstGeom>
          <a:noFill/>
          <a:ln/>
        </p:spPr>
        <p:txBody>
          <a:bodyPr wrap="square" lIns="0" tIns="0" rIns="0" bIns="0" rtlCol="0" anchor="t"/>
          <a:lstStyle/>
          <a:p>
            <a:pPr marL="0" indent="0">
              <a:buNone/>
            </a:pPr>
            <a:r>
              <a:rPr lang="en-US" sz="1050" dirty="0">
                <a:solidFill>
                  <a:srgbClr val="76737E"/>
                </a:solidFill>
                <a:latin typeface="Arial" pitchFamily="34" charset="0"/>
                <a:ea typeface="Arial" pitchFamily="34" charset="-122"/>
                <a:cs typeface="Arial" pitchFamily="34" charset="-120"/>
              </a:rPr>
              <a:t>It watches shared_network/server</a:t>
            </a:r>
            <a:endParaRPr lang="en-US" sz="1050" dirty="0"/>
          </a:p>
        </p:txBody>
      </p:sp>
      <p:sp>
        <p:nvSpPr>
          <p:cNvPr id="9" name="Shape 7"/>
          <p:cNvSpPr/>
          <p:nvPr/>
        </p:nvSpPr>
        <p:spPr>
          <a:xfrm>
            <a:off x="621792" y="1847088"/>
            <a:ext cx="2496312" cy="0"/>
          </a:xfrm>
          <a:prstGeom prst="line">
            <a:avLst/>
          </a:prstGeom>
          <a:noFill/>
          <a:ln w="9525">
            <a:solidFill>
              <a:srgbClr val="DEDCE2"/>
            </a:solidFill>
            <a:prstDash val="solid"/>
          </a:ln>
        </p:spPr>
      </p:sp>
      <p:sp>
        <p:nvSpPr>
          <p:cNvPr id="10" name="Text 8"/>
          <p:cNvSpPr txBox="1"/>
          <p:nvPr/>
        </p:nvSpPr>
        <p:spPr>
          <a:xfrm>
            <a:off x="3429000" y="1481328"/>
            <a:ext cx="822960" cy="402336"/>
          </a:xfrm>
          <a:prstGeom prst="rect">
            <a:avLst/>
          </a:prstGeom>
          <a:noFill/>
          <a:ln/>
        </p:spPr>
        <p:txBody>
          <a:bodyPr wrap="square" lIns="0" tIns="0" rIns="0" bIns="0" rtlCol="0" anchor="ctr"/>
          <a:lstStyle/>
          <a:p>
            <a:pPr marL="0" indent="0">
              <a:buNone/>
            </a:pPr>
            <a:r>
              <a:rPr lang="en-US" sz="2200" b="1" dirty="0">
                <a:solidFill>
                  <a:srgbClr val="C0392F"/>
                </a:solidFill>
                <a:latin typeface="Bookman Old Style" pitchFamily="34" charset="0"/>
                <a:ea typeface="Bookman Old Style" pitchFamily="34" charset="-122"/>
                <a:cs typeface="Bookman Old Style" pitchFamily="34" charset="-120"/>
              </a:rPr>
              <a:t>02</a:t>
            </a:r>
            <a:endParaRPr lang="en-US" sz="2200" dirty="0"/>
          </a:p>
        </p:txBody>
      </p:sp>
      <p:sp>
        <p:nvSpPr>
          <p:cNvPr id="11" name="Text 9"/>
          <p:cNvSpPr txBox="1"/>
          <p:nvPr/>
        </p:nvSpPr>
        <p:spPr>
          <a:xfrm>
            <a:off x="3429000" y="1883664"/>
            <a:ext cx="2496312" cy="274320"/>
          </a:xfrm>
          <a:prstGeom prst="rect">
            <a:avLst/>
          </a:prstGeom>
          <a:noFill/>
          <a:ln/>
        </p:spPr>
        <p:txBody>
          <a:bodyPr wrap="square" lIns="0" tIns="0" rIns="0" bIns="0" rtlCol="0" anchor="ctr"/>
          <a:lstStyle/>
          <a:p>
            <a:pPr marL="0" indent="0">
              <a:buNone/>
            </a:pPr>
            <a:r>
              <a:rPr lang="en-US" sz="1200" b="1" dirty="0">
                <a:solidFill>
                  <a:srgbClr val="26242B"/>
                </a:solidFill>
                <a:latin typeface="Arial" pitchFamily="34" charset="0"/>
                <a:ea typeface="Arial" pitchFamily="34" charset="-122"/>
                <a:cs typeface="Arial" pitchFamily="34" charset="-120"/>
              </a:rPr>
              <a:t>Register</a:t>
            </a:r>
            <a:endParaRPr lang="en-US" sz="1200" dirty="0"/>
          </a:p>
        </p:txBody>
      </p:sp>
      <p:sp>
        <p:nvSpPr>
          <p:cNvPr id="12" name="Text 10"/>
          <p:cNvSpPr txBox="1"/>
          <p:nvPr/>
        </p:nvSpPr>
        <p:spPr>
          <a:xfrm>
            <a:off x="3429000" y="2157984"/>
            <a:ext cx="2496312" cy="566928"/>
          </a:xfrm>
          <a:prstGeom prst="rect">
            <a:avLst/>
          </a:prstGeom>
          <a:noFill/>
          <a:ln/>
        </p:spPr>
        <p:txBody>
          <a:bodyPr wrap="square" lIns="0" tIns="0" rIns="0" bIns="0" rtlCol="0" anchor="t"/>
          <a:lstStyle/>
          <a:p>
            <a:pPr marL="0" indent="0">
              <a:buNone/>
            </a:pPr>
            <a:r>
              <a:rPr lang="en-US" sz="1050" dirty="0">
                <a:solidFill>
                  <a:srgbClr val="76737E"/>
                </a:solidFill>
                <a:latin typeface="Arial" pitchFamily="34" charset="0"/>
                <a:ea typeface="Arial" pitchFamily="34" charset="-122"/>
                <a:cs typeface="Arial" pitchFamily="34" charset="-120"/>
              </a:rPr>
              <a:t>Keys on the client; three records in one transaction</a:t>
            </a:r>
            <a:endParaRPr lang="en-US" sz="1050" dirty="0"/>
          </a:p>
        </p:txBody>
      </p:sp>
      <p:sp>
        <p:nvSpPr>
          <p:cNvPr id="13" name="Shape 11"/>
          <p:cNvSpPr/>
          <p:nvPr/>
        </p:nvSpPr>
        <p:spPr>
          <a:xfrm>
            <a:off x="3429000" y="1847088"/>
            <a:ext cx="2496312" cy="0"/>
          </a:xfrm>
          <a:prstGeom prst="line">
            <a:avLst/>
          </a:prstGeom>
          <a:noFill/>
          <a:ln w="9525">
            <a:solidFill>
              <a:srgbClr val="DEDCE2"/>
            </a:solidFill>
            <a:prstDash val="solid"/>
          </a:ln>
        </p:spPr>
      </p:sp>
      <p:sp>
        <p:nvSpPr>
          <p:cNvPr id="14" name="Text 12"/>
          <p:cNvSpPr txBox="1"/>
          <p:nvPr/>
        </p:nvSpPr>
        <p:spPr>
          <a:xfrm>
            <a:off x="6236208" y="1481328"/>
            <a:ext cx="822960" cy="402336"/>
          </a:xfrm>
          <a:prstGeom prst="rect">
            <a:avLst/>
          </a:prstGeom>
          <a:noFill/>
          <a:ln/>
        </p:spPr>
        <p:txBody>
          <a:bodyPr wrap="square" lIns="0" tIns="0" rIns="0" bIns="0" rtlCol="0" anchor="ctr"/>
          <a:lstStyle/>
          <a:p>
            <a:pPr marL="0" indent="0">
              <a:buNone/>
            </a:pPr>
            <a:r>
              <a:rPr lang="en-US" sz="2200" b="1" dirty="0">
                <a:solidFill>
                  <a:srgbClr val="C0392F"/>
                </a:solidFill>
                <a:latin typeface="Bookman Old Style" pitchFamily="34" charset="0"/>
                <a:ea typeface="Bookman Old Style" pitchFamily="34" charset="-122"/>
                <a:cs typeface="Bookman Old Style" pitchFamily="34" charset="-120"/>
              </a:rPr>
              <a:t>03</a:t>
            </a:r>
            <a:endParaRPr lang="en-US" sz="2200" dirty="0"/>
          </a:p>
        </p:txBody>
      </p:sp>
      <p:sp>
        <p:nvSpPr>
          <p:cNvPr id="15" name="Text 13"/>
          <p:cNvSpPr txBox="1"/>
          <p:nvPr/>
        </p:nvSpPr>
        <p:spPr>
          <a:xfrm>
            <a:off x="6236208" y="1883664"/>
            <a:ext cx="2496312" cy="274320"/>
          </a:xfrm>
          <a:prstGeom prst="rect">
            <a:avLst/>
          </a:prstGeom>
          <a:noFill/>
          <a:ln/>
        </p:spPr>
        <p:txBody>
          <a:bodyPr wrap="square" lIns="0" tIns="0" rIns="0" bIns="0" rtlCol="0" anchor="ctr"/>
          <a:lstStyle/>
          <a:p>
            <a:pPr marL="0" indent="0">
              <a:buNone/>
            </a:pPr>
            <a:r>
              <a:rPr lang="en-US" sz="1200" b="1" dirty="0">
                <a:solidFill>
                  <a:srgbClr val="26242B"/>
                </a:solidFill>
                <a:latin typeface="Arial" pitchFamily="34" charset="0"/>
                <a:ea typeface="Arial" pitchFamily="34" charset="-122"/>
                <a:cs typeface="Arial" pitchFamily="34" charset="-120"/>
              </a:rPr>
              <a:t>Log in</a:t>
            </a:r>
            <a:endParaRPr lang="en-US" sz="1200" dirty="0"/>
          </a:p>
        </p:txBody>
      </p:sp>
      <p:sp>
        <p:nvSpPr>
          <p:cNvPr id="16" name="Text 14"/>
          <p:cNvSpPr txBox="1"/>
          <p:nvPr/>
        </p:nvSpPr>
        <p:spPr>
          <a:xfrm>
            <a:off x="6236208" y="2157984"/>
            <a:ext cx="2496312" cy="566928"/>
          </a:xfrm>
          <a:prstGeom prst="rect">
            <a:avLst/>
          </a:prstGeom>
          <a:noFill/>
          <a:ln/>
        </p:spPr>
        <p:txBody>
          <a:bodyPr wrap="square" lIns="0" tIns="0" rIns="0" bIns="0" rtlCol="0" anchor="t"/>
          <a:lstStyle/>
          <a:p>
            <a:pPr marL="0" indent="0">
              <a:buNone/>
            </a:pPr>
            <a:r>
              <a:rPr lang="en-US" sz="1050" dirty="0">
                <a:solidFill>
                  <a:srgbClr val="76737E"/>
                </a:solidFill>
                <a:latin typeface="Arial" pitchFamily="34" charset="0"/>
                <a:ea typeface="Arial" pitchFamily="34" charset="-122"/>
                <a:cs typeface="Arial" pitchFamily="34" charset="-120"/>
              </a:rPr>
              <a:t>Challenge, Argon2id, HMAC, then key recovery</a:t>
            </a:r>
            <a:endParaRPr lang="en-US" sz="1050" dirty="0"/>
          </a:p>
        </p:txBody>
      </p:sp>
      <p:sp>
        <p:nvSpPr>
          <p:cNvPr id="17" name="Shape 15"/>
          <p:cNvSpPr/>
          <p:nvPr/>
        </p:nvSpPr>
        <p:spPr>
          <a:xfrm>
            <a:off x="6236208" y="1847088"/>
            <a:ext cx="2496312" cy="0"/>
          </a:xfrm>
          <a:prstGeom prst="line">
            <a:avLst/>
          </a:prstGeom>
          <a:noFill/>
          <a:ln w="9525">
            <a:solidFill>
              <a:srgbClr val="DEDCE2"/>
            </a:solidFill>
            <a:prstDash val="solid"/>
          </a:ln>
        </p:spPr>
      </p:sp>
      <p:sp>
        <p:nvSpPr>
          <p:cNvPr id="18" name="Text 16"/>
          <p:cNvSpPr txBox="1"/>
          <p:nvPr/>
        </p:nvSpPr>
        <p:spPr>
          <a:xfrm>
            <a:off x="9043416" y="1481328"/>
            <a:ext cx="822960" cy="402336"/>
          </a:xfrm>
          <a:prstGeom prst="rect">
            <a:avLst/>
          </a:prstGeom>
          <a:noFill/>
          <a:ln/>
        </p:spPr>
        <p:txBody>
          <a:bodyPr wrap="square" lIns="0" tIns="0" rIns="0" bIns="0" rtlCol="0" anchor="ctr"/>
          <a:lstStyle/>
          <a:p>
            <a:pPr marL="0" indent="0">
              <a:buNone/>
            </a:pPr>
            <a:r>
              <a:rPr lang="en-US" sz="2200" b="1" dirty="0">
                <a:solidFill>
                  <a:srgbClr val="C0392F"/>
                </a:solidFill>
                <a:latin typeface="Bookman Old Style" pitchFamily="34" charset="0"/>
                <a:ea typeface="Bookman Old Style" pitchFamily="34" charset="-122"/>
                <a:cs typeface="Bookman Old Style" pitchFamily="34" charset="-120"/>
              </a:rPr>
              <a:t>04</a:t>
            </a:r>
            <a:endParaRPr lang="en-US" sz="2200" dirty="0"/>
          </a:p>
        </p:txBody>
      </p:sp>
      <p:sp>
        <p:nvSpPr>
          <p:cNvPr id="19" name="Text 17"/>
          <p:cNvSpPr txBox="1"/>
          <p:nvPr/>
        </p:nvSpPr>
        <p:spPr>
          <a:xfrm>
            <a:off x="9043416" y="1883664"/>
            <a:ext cx="2496312" cy="274320"/>
          </a:xfrm>
          <a:prstGeom prst="rect">
            <a:avLst/>
          </a:prstGeom>
          <a:noFill/>
          <a:ln/>
        </p:spPr>
        <p:txBody>
          <a:bodyPr wrap="square" lIns="0" tIns="0" rIns="0" bIns="0" rtlCol="0" anchor="ctr"/>
          <a:lstStyle/>
          <a:p>
            <a:pPr marL="0" indent="0">
              <a:buNone/>
            </a:pPr>
            <a:r>
              <a:rPr lang="en-US" sz="1200" b="1" dirty="0">
                <a:solidFill>
                  <a:srgbClr val="26242B"/>
                </a:solidFill>
                <a:latin typeface="Arial" pitchFamily="34" charset="0"/>
                <a:ea typeface="Arial" pitchFamily="34" charset="-122"/>
                <a:cs typeface="Arial" pitchFamily="34" charset="-120"/>
              </a:rPr>
              <a:t>Open a session</a:t>
            </a:r>
            <a:endParaRPr lang="en-US" sz="1200" dirty="0"/>
          </a:p>
        </p:txBody>
      </p:sp>
      <p:sp>
        <p:nvSpPr>
          <p:cNvPr id="20" name="Text 18"/>
          <p:cNvSpPr txBox="1"/>
          <p:nvPr/>
        </p:nvSpPr>
        <p:spPr>
          <a:xfrm>
            <a:off x="9043416" y="2157984"/>
            <a:ext cx="2496312" cy="566928"/>
          </a:xfrm>
          <a:prstGeom prst="rect">
            <a:avLst/>
          </a:prstGeom>
          <a:noFill/>
          <a:ln/>
        </p:spPr>
        <p:txBody>
          <a:bodyPr wrap="square" lIns="0" tIns="0" rIns="0" bIns="0" rtlCol="0" anchor="t"/>
          <a:lstStyle/>
          <a:p>
            <a:pPr marL="0" indent="0">
              <a:buNone/>
            </a:pPr>
            <a:r>
              <a:rPr lang="en-US" sz="1050" dirty="0">
                <a:solidFill>
                  <a:srgbClr val="76737E"/>
                </a:solidFill>
                <a:latin typeface="Arial" pitchFamily="34" charset="0"/>
                <a:ea typeface="Arial" pitchFamily="34" charset="-122"/>
                <a:cs typeface="Arial" pitchFamily="34" charset="-120"/>
              </a:rPr>
              <a:t>Request HMAC and replay protection</a:t>
            </a:r>
            <a:endParaRPr lang="en-US" sz="1050" dirty="0"/>
          </a:p>
        </p:txBody>
      </p:sp>
      <p:sp>
        <p:nvSpPr>
          <p:cNvPr id="21" name="Shape 19"/>
          <p:cNvSpPr/>
          <p:nvPr/>
        </p:nvSpPr>
        <p:spPr>
          <a:xfrm>
            <a:off x="9043416" y="1847088"/>
            <a:ext cx="2496312" cy="0"/>
          </a:xfrm>
          <a:prstGeom prst="line">
            <a:avLst/>
          </a:prstGeom>
          <a:noFill/>
          <a:ln w="9525">
            <a:solidFill>
              <a:srgbClr val="DEDCE2"/>
            </a:solidFill>
            <a:prstDash val="solid"/>
          </a:ln>
        </p:spPr>
      </p:sp>
      <p:sp>
        <p:nvSpPr>
          <p:cNvPr id="22" name="Text 20"/>
          <p:cNvSpPr txBox="1"/>
          <p:nvPr/>
        </p:nvSpPr>
        <p:spPr>
          <a:xfrm>
            <a:off x="621792" y="2944368"/>
            <a:ext cx="822960" cy="402336"/>
          </a:xfrm>
          <a:prstGeom prst="rect">
            <a:avLst/>
          </a:prstGeom>
          <a:noFill/>
          <a:ln/>
        </p:spPr>
        <p:txBody>
          <a:bodyPr wrap="square" lIns="0" tIns="0" rIns="0" bIns="0" rtlCol="0" anchor="ctr"/>
          <a:lstStyle/>
          <a:p>
            <a:pPr marL="0" indent="0">
              <a:buNone/>
            </a:pPr>
            <a:r>
              <a:rPr lang="en-US" sz="2200" b="1" dirty="0">
                <a:solidFill>
                  <a:srgbClr val="C0392F"/>
                </a:solidFill>
                <a:latin typeface="Bookman Old Style" pitchFamily="34" charset="0"/>
                <a:ea typeface="Bookman Old Style" pitchFamily="34" charset="-122"/>
                <a:cs typeface="Bookman Old Style" pitchFamily="34" charset="-120"/>
              </a:rPr>
              <a:t>05</a:t>
            </a:r>
            <a:endParaRPr lang="en-US" sz="2200" dirty="0"/>
          </a:p>
        </p:txBody>
      </p:sp>
      <p:sp>
        <p:nvSpPr>
          <p:cNvPr id="23" name="Text 21"/>
          <p:cNvSpPr txBox="1"/>
          <p:nvPr/>
        </p:nvSpPr>
        <p:spPr>
          <a:xfrm>
            <a:off x="621792" y="3346704"/>
            <a:ext cx="2496312" cy="274320"/>
          </a:xfrm>
          <a:prstGeom prst="rect">
            <a:avLst/>
          </a:prstGeom>
          <a:noFill/>
          <a:ln/>
        </p:spPr>
        <p:txBody>
          <a:bodyPr wrap="square" lIns="0" tIns="0" rIns="0" bIns="0" rtlCol="0" anchor="ctr"/>
          <a:lstStyle/>
          <a:p>
            <a:pPr marL="0" indent="0">
              <a:buNone/>
            </a:pPr>
            <a:r>
              <a:rPr lang="en-US" sz="1200" b="1" dirty="0">
                <a:solidFill>
                  <a:srgbClr val="26242B"/>
                </a:solidFill>
                <a:latin typeface="Arial" pitchFamily="34" charset="0"/>
                <a:ea typeface="Arial" pitchFamily="34" charset="-122"/>
                <a:cs typeface="Arial" pitchFamily="34" charset="-120"/>
              </a:rPr>
              <a:t>Upload</a:t>
            </a:r>
            <a:endParaRPr lang="en-US" sz="1200" dirty="0"/>
          </a:p>
        </p:txBody>
      </p:sp>
      <p:sp>
        <p:nvSpPr>
          <p:cNvPr id="24" name="Text 22"/>
          <p:cNvSpPr txBox="1"/>
          <p:nvPr/>
        </p:nvSpPr>
        <p:spPr>
          <a:xfrm>
            <a:off x="621792" y="3621024"/>
            <a:ext cx="2496312" cy="566928"/>
          </a:xfrm>
          <a:prstGeom prst="rect">
            <a:avLst/>
          </a:prstGeom>
          <a:noFill/>
          <a:ln/>
        </p:spPr>
        <p:txBody>
          <a:bodyPr wrap="square" lIns="0" tIns="0" rIns="0" bIns="0" rtlCol="0" anchor="t"/>
          <a:lstStyle/>
          <a:p>
            <a:pPr marL="0" indent="0">
              <a:buNone/>
            </a:pPr>
            <a:r>
              <a:rPr lang="en-US" sz="1050" dirty="0">
                <a:solidFill>
                  <a:srgbClr val="76737E"/>
                </a:solidFill>
                <a:latin typeface="Arial" pitchFamily="34" charset="0"/>
                <a:ea typeface="Arial" pitchFamily="34" charset="-122"/>
                <a:cs typeface="Arial" pitchFamily="34" charset="-120"/>
              </a:rPr>
              <a:t>AEAD encrypt; the server stores ciphertext</a:t>
            </a:r>
            <a:endParaRPr lang="en-US" sz="1050" dirty="0"/>
          </a:p>
        </p:txBody>
      </p:sp>
      <p:sp>
        <p:nvSpPr>
          <p:cNvPr id="25" name="Shape 23"/>
          <p:cNvSpPr/>
          <p:nvPr/>
        </p:nvSpPr>
        <p:spPr>
          <a:xfrm>
            <a:off x="621792" y="3310128"/>
            <a:ext cx="2496312" cy="0"/>
          </a:xfrm>
          <a:prstGeom prst="line">
            <a:avLst/>
          </a:prstGeom>
          <a:noFill/>
          <a:ln w="9525">
            <a:solidFill>
              <a:srgbClr val="DEDCE2"/>
            </a:solidFill>
            <a:prstDash val="solid"/>
          </a:ln>
        </p:spPr>
      </p:sp>
      <p:sp>
        <p:nvSpPr>
          <p:cNvPr id="26" name="Text 24"/>
          <p:cNvSpPr txBox="1"/>
          <p:nvPr/>
        </p:nvSpPr>
        <p:spPr>
          <a:xfrm>
            <a:off x="3429000" y="2944368"/>
            <a:ext cx="822960" cy="402336"/>
          </a:xfrm>
          <a:prstGeom prst="rect">
            <a:avLst/>
          </a:prstGeom>
          <a:noFill/>
          <a:ln/>
        </p:spPr>
        <p:txBody>
          <a:bodyPr wrap="square" lIns="0" tIns="0" rIns="0" bIns="0" rtlCol="0" anchor="ctr"/>
          <a:lstStyle/>
          <a:p>
            <a:pPr marL="0" indent="0">
              <a:buNone/>
            </a:pPr>
            <a:r>
              <a:rPr lang="en-US" sz="2200" b="1" dirty="0">
                <a:solidFill>
                  <a:srgbClr val="C0392F"/>
                </a:solidFill>
                <a:latin typeface="Bookman Old Style" pitchFamily="34" charset="0"/>
                <a:ea typeface="Bookman Old Style" pitchFamily="34" charset="-122"/>
                <a:cs typeface="Bookman Old Style" pitchFamily="34" charset="-120"/>
              </a:rPr>
              <a:t>06</a:t>
            </a:r>
            <a:endParaRPr lang="en-US" sz="2200" dirty="0"/>
          </a:p>
        </p:txBody>
      </p:sp>
      <p:sp>
        <p:nvSpPr>
          <p:cNvPr id="27" name="Text 25"/>
          <p:cNvSpPr txBox="1"/>
          <p:nvPr/>
        </p:nvSpPr>
        <p:spPr>
          <a:xfrm>
            <a:off x="3429000" y="3346704"/>
            <a:ext cx="2496312" cy="274320"/>
          </a:xfrm>
          <a:prstGeom prst="rect">
            <a:avLst/>
          </a:prstGeom>
          <a:noFill/>
          <a:ln/>
        </p:spPr>
        <p:txBody>
          <a:bodyPr wrap="square" lIns="0" tIns="0" rIns="0" bIns="0" rtlCol="0" anchor="ctr"/>
          <a:lstStyle/>
          <a:p>
            <a:pPr marL="0" indent="0">
              <a:buNone/>
            </a:pPr>
            <a:r>
              <a:rPr lang="en-US" sz="1200" b="1" dirty="0">
                <a:solidFill>
                  <a:srgbClr val="26242B"/>
                </a:solidFill>
                <a:latin typeface="Arial" pitchFamily="34" charset="0"/>
                <a:ea typeface="Arial" pitchFamily="34" charset="-122"/>
                <a:cs typeface="Arial" pitchFamily="34" charset="-120"/>
              </a:rPr>
              <a:t>Share</a:t>
            </a:r>
            <a:endParaRPr lang="en-US" sz="1200" dirty="0"/>
          </a:p>
        </p:txBody>
      </p:sp>
      <p:sp>
        <p:nvSpPr>
          <p:cNvPr id="28" name="Text 26"/>
          <p:cNvSpPr txBox="1"/>
          <p:nvPr/>
        </p:nvSpPr>
        <p:spPr>
          <a:xfrm>
            <a:off x="3429000" y="3621024"/>
            <a:ext cx="2496312" cy="566928"/>
          </a:xfrm>
          <a:prstGeom prst="rect">
            <a:avLst/>
          </a:prstGeom>
          <a:noFill/>
          <a:ln/>
        </p:spPr>
        <p:txBody>
          <a:bodyPr wrap="square" lIns="0" tIns="0" rIns="0" bIns="0" rtlCol="0" anchor="t"/>
          <a:lstStyle/>
          <a:p>
            <a:pPr marL="0" indent="0">
              <a:buNone/>
            </a:pPr>
            <a:r>
              <a:rPr lang="en-US" sz="1050" dirty="0">
                <a:solidFill>
                  <a:srgbClr val="76737E"/>
                </a:solidFill>
                <a:latin typeface="Arial" pitchFamily="34" charset="0"/>
                <a:ea typeface="Arial" pitchFamily="34" charset="-122"/>
                <a:cs typeface="Arial" pitchFamily="34" charset="-120"/>
              </a:rPr>
              <a:t>Ephemeral ECDH wrap, then RSA-PSS signature</a:t>
            </a:r>
            <a:endParaRPr lang="en-US" sz="1050" dirty="0"/>
          </a:p>
        </p:txBody>
      </p:sp>
      <p:sp>
        <p:nvSpPr>
          <p:cNvPr id="29" name="Shape 27"/>
          <p:cNvSpPr/>
          <p:nvPr/>
        </p:nvSpPr>
        <p:spPr>
          <a:xfrm>
            <a:off x="3429000" y="3310128"/>
            <a:ext cx="2496312" cy="0"/>
          </a:xfrm>
          <a:prstGeom prst="line">
            <a:avLst/>
          </a:prstGeom>
          <a:noFill/>
          <a:ln w="9525">
            <a:solidFill>
              <a:srgbClr val="DEDCE2"/>
            </a:solidFill>
            <a:prstDash val="solid"/>
          </a:ln>
        </p:spPr>
      </p:sp>
      <p:sp>
        <p:nvSpPr>
          <p:cNvPr id="30" name="Text 28"/>
          <p:cNvSpPr txBox="1"/>
          <p:nvPr/>
        </p:nvSpPr>
        <p:spPr>
          <a:xfrm>
            <a:off x="6236208" y="2944368"/>
            <a:ext cx="822960" cy="402336"/>
          </a:xfrm>
          <a:prstGeom prst="rect">
            <a:avLst/>
          </a:prstGeom>
          <a:noFill/>
          <a:ln/>
        </p:spPr>
        <p:txBody>
          <a:bodyPr wrap="square" lIns="0" tIns="0" rIns="0" bIns="0" rtlCol="0" anchor="ctr"/>
          <a:lstStyle/>
          <a:p>
            <a:pPr marL="0" indent="0">
              <a:buNone/>
            </a:pPr>
            <a:r>
              <a:rPr lang="en-US" sz="2200" b="1" dirty="0">
                <a:solidFill>
                  <a:srgbClr val="C0392F"/>
                </a:solidFill>
                <a:latin typeface="Bookman Old Style" pitchFamily="34" charset="0"/>
                <a:ea typeface="Bookman Old Style" pitchFamily="34" charset="-122"/>
                <a:cs typeface="Bookman Old Style" pitchFamily="34" charset="-120"/>
              </a:rPr>
              <a:t>07</a:t>
            </a:r>
            <a:endParaRPr lang="en-US" sz="2200" dirty="0"/>
          </a:p>
        </p:txBody>
      </p:sp>
      <p:sp>
        <p:nvSpPr>
          <p:cNvPr id="31" name="Text 29"/>
          <p:cNvSpPr txBox="1"/>
          <p:nvPr/>
        </p:nvSpPr>
        <p:spPr>
          <a:xfrm>
            <a:off x="6236208" y="3346704"/>
            <a:ext cx="2496312" cy="274320"/>
          </a:xfrm>
          <a:prstGeom prst="rect">
            <a:avLst/>
          </a:prstGeom>
          <a:noFill/>
          <a:ln/>
        </p:spPr>
        <p:txBody>
          <a:bodyPr wrap="square" lIns="0" tIns="0" rIns="0" bIns="0" rtlCol="0" anchor="ctr"/>
          <a:lstStyle/>
          <a:p>
            <a:pPr marL="0" indent="0">
              <a:buNone/>
            </a:pPr>
            <a:r>
              <a:rPr lang="en-US" sz="1200" b="1" dirty="0">
                <a:solidFill>
                  <a:srgbClr val="26242B"/>
                </a:solidFill>
                <a:latin typeface="Arial" pitchFamily="34" charset="0"/>
                <a:ea typeface="Arial" pitchFamily="34" charset="-122"/>
                <a:cs typeface="Arial" pitchFamily="34" charset="-120"/>
              </a:rPr>
              <a:t>Receive</a:t>
            </a:r>
            <a:endParaRPr lang="en-US" sz="1200" dirty="0"/>
          </a:p>
        </p:txBody>
      </p:sp>
      <p:sp>
        <p:nvSpPr>
          <p:cNvPr id="32" name="Text 30"/>
          <p:cNvSpPr txBox="1"/>
          <p:nvPr/>
        </p:nvSpPr>
        <p:spPr>
          <a:xfrm>
            <a:off x="6236208" y="3621024"/>
            <a:ext cx="2496312" cy="566928"/>
          </a:xfrm>
          <a:prstGeom prst="rect">
            <a:avLst/>
          </a:prstGeom>
          <a:noFill/>
          <a:ln/>
        </p:spPr>
        <p:txBody>
          <a:bodyPr wrap="square" lIns="0" tIns="0" rIns="0" bIns="0" rtlCol="0" anchor="t"/>
          <a:lstStyle/>
          <a:p>
            <a:pPr marL="0" indent="0">
              <a:buNone/>
            </a:pPr>
            <a:r>
              <a:rPr lang="en-US" sz="1050" dirty="0">
                <a:solidFill>
                  <a:srgbClr val="76737E"/>
                </a:solidFill>
                <a:latin typeface="Arial" pitchFamily="34" charset="0"/>
                <a:ea typeface="Arial" pitchFamily="34" charset="-122"/>
                <a:cs typeface="Arial" pitchFamily="34" charset="-120"/>
              </a:rPr>
              <a:t>Pin, fingerprint, signature, freshness</a:t>
            </a:r>
            <a:endParaRPr lang="en-US" sz="1050" dirty="0"/>
          </a:p>
        </p:txBody>
      </p:sp>
      <p:sp>
        <p:nvSpPr>
          <p:cNvPr id="33" name="Shape 31"/>
          <p:cNvSpPr/>
          <p:nvPr/>
        </p:nvSpPr>
        <p:spPr>
          <a:xfrm>
            <a:off x="6236208" y="3310128"/>
            <a:ext cx="2496312" cy="0"/>
          </a:xfrm>
          <a:prstGeom prst="line">
            <a:avLst/>
          </a:prstGeom>
          <a:noFill/>
          <a:ln w="9525">
            <a:solidFill>
              <a:srgbClr val="DEDCE2"/>
            </a:solidFill>
            <a:prstDash val="solid"/>
          </a:ln>
        </p:spPr>
      </p:sp>
      <p:sp>
        <p:nvSpPr>
          <p:cNvPr id="34" name="Text 32"/>
          <p:cNvSpPr txBox="1"/>
          <p:nvPr/>
        </p:nvSpPr>
        <p:spPr>
          <a:xfrm>
            <a:off x="9043416" y="2944368"/>
            <a:ext cx="822960" cy="402336"/>
          </a:xfrm>
          <a:prstGeom prst="rect">
            <a:avLst/>
          </a:prstGeom>
          <a:noFill/>
          <a:ln/>
        </p:spPr>
        <p:txBody>
          <a:bodyPr wrap="square" lIns="0" tIns="0" rIns="0" bIns="0" rtlCol="0" anchor="ctr"/>
          <a:lstStyle/>
          <a:p>
            <a:pPr marL="0" indent="0">
              <a:buNone/>
            </a:pPr>
            <a:r>
              <a:rPr lang="en-US" sz="2200" b="1" dirty="0">
                <a:solidFill>
                  <a:srgbClr val="C0392F"/>
                </a:solidFill>
                <a:latin typeface="Bookman Old Style" pitchFamily="34" charset="0"/>
                <a:ea typeface="Bookman Old Style" pitchFamily="34" charset="-122"/>
                <a:cs typeface="Bookman Old Style" pitchFamily="34" charset="-120"/>
              </a:rPr>
              <a:t>08</a:t>
            </a:r>
            <a:endParaRPr lang="en-US" sz="2200" dirty="0"/>
          </a:p>
        </p:txBody>
      </p:sp>
      <p:sp>
        <p:nvSpPr>
          <p:cNvPr id="35" name="Text 33"/>
          <p:cNvSpPr txBox="1"/>
          <p:nvPr/>
        </p:nvSpPr>
        <p:spPr>
          <a:xfrm>
            <a:off x="9043416" y="3346704"/>
            <a:ext cx="2496312" cy="274320"/>
          </a:xfrm>
          <a:prstGeom prst="rect">
            <a:avLst/>
          </a:prstGeom>
          <a:noFill/>
          <a:ln/>
        </p:spPr>
        <p:txBody>
          <a:bodyPr wrap="square" lIns="0" tIns="0" rIns="0" bIns="0" rtlCol="0" anchor="ctr"/>
          <a:lstStyle/>
          <a:p>
            <a:pPr marL="0" indent="0">
              <a:buNone/>
            </a:pPr>
            <a:r>
              <a:rPr lang="en-US" sz="1200" b="1" dirty="0">
                <a:solidFill>
                  <a:srgbClr val="26242B"/>
                </a:solidFill>
                <a:latin typeface="Arial" pitchFamily="34" charset="0"/>
                <a:ea typeface="Arial" pitchFamily="34" charset="-122"/>
                <a:cs typeface="Arial" pitchFamily="34" charset="-120"/>
              </a:rPr>
              <a:t>Download</a:t>
            </a:r>
            <a:endParaRPr lang="en-US" sz="1200" dirty="0"/>
          </a:p>
        </p:txBody>
      </p:sp>
      <p:sp>
        <p:nvSpPr>
          <p:cNvPr id="36" name="Text 34"/>
          <p:cNvSpPr txBox="1"/>
          <p:nvPr/>
        </p:nvSpPr>
        <p:spPr>
          <a:xfrm>
            <a:off x="9043416" y="3621024"/>
            <a:ext cx="2496312" cy="566928"/>
          </a:xfrm>
          <a:prstGeom prst="rect">
            <a:avLst/>
          </a:prstGeom>
          <a:noFill/>
          <a:ln/>
        </p:spPr>
        <p:txBody>
          <a:bodyPr wrap="square" lIns="0" tIns="0" rIns="0" bIns="0" rtlCol="0" anchor="t"/>
          <a:lstStyle/>
          <a:p>
            <a:pPr marL="0" indent="0">
              <a:buNone/>
            </a:pPr>
            <a:r>
              <a:rPr lang="en-US" sz="1050" dirty="0">
                <a:solidFill>
                  <a:srgbClr val="76737E"/>
                </a:solidFill>
                <a:latin typeface="Arial" pitchFamily="34" charset="0"/>
                <a:ea typeface="Arial" pitchFamily="34" charset="-122"/>
                <a:cs typeface="Arial" pitchFamily="34" charset="-120"/>
              </a:rPr>
              <a:t>Tag checked, then decrypt</a:t>
            </a:r>
            <a:endParaRPr lang="en-US" sz="1050" dirty="0"/>
          </a:p>
        </p:txBody>
      </p:sp>
      <p:sp>
        <p:nvSpPr>
          <p:cNvPr id="37" name="Shape 35"/>
          <p:cNvSpPr/>
          <p:nvPr/>
        </p:nvSpPr>
        <p:spPr>
          <a:xfrm>
            <a:off x="9043416" y="3310128"/>
            <a:ext cx="2496312" cy="0"/>
          </a:xfrm>
          <a:prstGeom prst="line">
            <a:avLst/>
          </a:prstGeom>
          <a:noFill/>
          <a:ln w="9525">
            <a:solidFill>
              <a:srgbClr val="DEDCE2"/>
            </a:solidFill>
            <a:prstDash val="solid"/>
          </a:ln>
        </p:spPr>
      </p:sp>
      <p:sp>
        <p:nvSpPr>
          <p:cNvPr id="38" name="Shape 36"/>
          <p:cNvSpPr/>
          <p:nvPr/>
        </p:nvSpPr>
        <p:spPr>
          <a:xfrm>
            <a:off x="621792" y="4389120"/>
            <a:ext cx="5577840" cy="1783080"/>
          </a:xfrm>
          <a:prstGeom prst="rect">
            <a:avLst/>
          </a:prstGeom>
          <a:solidFill>
            <a:srgbClr val="FFFFFF"/>
          </a:solidFill>
          <a:ln w="12700">
            <a:solidFill>
              <a:srgbClr val="DEDCE2"/>
            </a:solidFill>
            <a:prstDash val="solid"/>
          </a:ln>
        </p:spPr>
      </p:sp>
      <p:sp>
        <p:nvSpPr>
          <p:cNvPr id="39" name="Text 37"/>
          <p:cNvSpPr txBox="1"/>
          <p:nvPr/>
        </p:nvSpPr>
        <p:spPr>
          <a:xfrm>
            <a:off x="822960" y="4526280"/>
            <a:ext cx="5175504" cy="292608"/>
          </a:xfrm>
          <a:prstGeom prst="rect">
            <a:avLst/>
          </a:prstGeom>
          <a:noFill/>
          <a:ln/>
        </p:spPr>
        <p:txBody>
          <a:bodyPr wrap="square" lIns="0" tIns="0" rIns="0" bIns="0" rtlCol="0" anchor="ctr"/>
          <a:lstStyle/>
          <a:p>
            <a:pPr marL="0" indent="0">
              <a:buNone/>
            </a:pPr>
            <a:r>
              <a:rPr lang="en-US" sz="1150" b="1" kern="0" spc="40" dirty="0">
                <a:solidFill>
                  <a:srgbClr val="26242B"/>
                </a:solidFill>
                <a:latin typeface="Arial" pitchFamily="34" charset="0"/>
                <a:ea typeface="Arial" pitchFamily="34" charset="-122"/>
                <a:cs typeface="Arial" pitchFamily="34" charset="-120"/>
              </a:rPr>
              <a:t>Then we break it, on purpose</a:t>
            </a:r>
            <a:endParaRPr lang="en-US" sz="1150" dirty="0"/>
          </a:p>
        </p:txBody>
      </p:sp>
      <p:sp>
        <p:nvSpPr>
          <p:cNvPr id="40" name="Text 38"/>
          <p:cNvSpPr txBox="1"/>
          <p:nvPr/>
        </p:nvSpPr>
        <p:spPr>
          <a:xfrm>
            <a:off x="822960" y="4882896"/>
            <a:ext cx="5175504" cy="1161288"/>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6242B"/>
                </a:solidFill>
                <a:latin typeface="Arial" pitchFamily="34" charset="0"/>
                <a:ea typeface="Arial" pitchFamily="34" charset="-122"/>
                <a:cs typeface="Arial" pitchFamily="34" charset="-120"/>
              </a:rPr>
              <a:t>Flip one ciphertext byte → refused</a:t>
            </a:r>
            <a:endParaRPr lang="en-US" sz="1050" dirty="0"/>
          </a:p>
          <a:p>
            <a:pPr marL="342900" indent="-342900">
              <a:spcAft>
                <a:spcPts val="400"/>
              </a:spcAft>
              <a:buSzPct val="100000"/>
              <a:buChar char="–"/>
            </a:pPr>
            <a:r>
              <a:rPr lang="en-US" sz="1050" dirty="0">
                <a:solidFill>
                  <a:srgbClr val="26242B"/>
                </a:solidFill>
                <a:latin typeface="Arial" pitchFamily="34" charset="0"/>
                <a:ea typeface="Arial" pitchFamily="34" charset="-122"/>
                <a:cs typeface="Arial" pitchFamily="34" charset="-120"/>
              </a:rPr>
              <a:t>Edit one metadata field → refused</a:t>
            </a:r>
            <a:endParaRPr lang="en-US" sz="1050" dirty="0"/>
          </a:p>
          <a:p>
            <a:pPr marL="342900" indent="-342900">
              <a:spcAft>
                <a:spcPts val="400"/>
              </a:spcAft>
              <a:buSzPct val="100000"/>
              <a:buChar char="–"/>
            </a:pPr>
            <a:r>
              <a:rPr lang="en-US" sz="1050" dirty="0">
                <a:solidFill>
                  <a:srgbClr val="26242B"/>
                </a:solidFill>
                <a:latin typeface="Arial" pitchFamily="34" charset="0"/>
                <a:ea typeface="Arial" pitchFamily="34" charset="-122"/>
                <a:cs typeface="Arial" pitchFamily="34" charset="-120"/>
              </a:rPr>
              <a:t>Replay an old share → rejected as stale</a:t>
            </a:r>
            <a:endParaRPr lang="en-US" sz="1050" dirty="0"/>
          </a:p>
          <a:p>
            <a:pPr marL="342900" indent="-342900">
              <a:spcAft>
                <a:spcPts val="400"/>
              </a:spcAft>
              <a:buSzPct val="100000"/>
              <a:buChar char="–"/>
            </a:pPr>
            <a:r>
              <a:rPr lang="en-US" sz="1050" dirty="0">
                <a:solidFill>
                  <a:srgbClr val="26242B"/>
                </a:solidFill>
                <a:latin typeface="Arial" pitchFamily="34" charset="0"/>
                <a:ea typeface="Arial" pitchFamily="34" charset="-122"/>
                <a:cs typeface="Arial" pitchFamily="34" charset="-120"/>
              </a:rPr>
              <a:t>Change the password → old sessions die, the same identity keys still work</a:t>
            </a:r>
            <a:endParaRPr lang="en-US" sz="1050" dirty="0"/>
          </a:p>
          <a:p>
            <a:pPr marL="342900" indent="-342900">
              <a:spcAft>
                <a:spcPts val="400"/>
              </a:spcAft>
              <a:buSzPct val="100000"/>
              <a:buChar char="–"/>
            </a:pPr>
            <a:r>
              <a:rPr lang="en-US" sz="1050" dirty="0">
                <a:solidFill>
                  <a:srgbClr val="26242B"/>
                </a:solidFill>
                <a:latin typeface="Arial" pitchFamily="34" charset="0"/>
                <a:ea typeface="Arial" pitchFamily="34" charset="-122"/>
                <a:cs typeface="Arial" pitchFamily="34" charset="-120"/>
              </a:rPr>
              <a:t>Open the stored credential row and stored document → no password or plaintext</a:t>
            </a:r>
            <a:endParaRPr lang="en-US" sz="1050" dirty="0"/>
          </a:p>
        </p:txBody>
      </p:sp>
      <p:sp>
        <p:nvSpPr>
          <p:cNvPr id="41" name="Shape 39"/>
          <p:cNvSpPr/>
          <p:nvPr/>
        </p:nvSpPr>
        <p:spPr>
          <a:xfrm>
            <a:off x="6565392" y="4389120"/>
            <a:ext cx="4974336" cy="1783080"/>
          </a:xfrm>
          <a:prstGeom prst="rect">
            <a:avLst/>
          </a:prstGeom>
          <a:solidFill>
            <a:srgbClr val="3C4F3F"/>
          </a:solidFill>
          <a:ln w="12700">
            <a:solidFill>
              <a:srgbClr val="3C4F3F"/>
            </a:solidFill>
            <a:prstDash val="solid"/>
          </a:ln>
        </p:spPr>
      </p:sp>
      <p:sp>
        <p:nvSpPr>
          <p:cNvPr id="42" name="Text 40"/>
          <p:cNvSpPr txBox="1"/>
          <p:nvPr/>
        </p:nvSpPr>
        <p:spPr>
          <a:xfrm>
            <a:off x="6766560" y="4526280"/>
            <a:ext cx="4572000" cy="292608"/>
          </a:xfrm>
          <a:prstGeom prst="rect">
            <a:avLst/>
          </a:prstGeom>
          <a:noFill/>
          <a:ln/>
        </p:spPr>
        <p:txBody>
          <a:bodyPr wrap="square" lIns="0" tIns="0" rIns="0" bIns="0" rtlCol="0" anchor="ctr"/>
          <a:lstStyle/>
          <a:p>
            <a:pPr marL="0" indent="0">
              <a:buNone/>
            </a:pPr>
            <a:r>
              <a:rPr lang="en-US" sz="1150" b="1" kern="0" spc="40" dirty="0">
                <a:solidFill>
                  <a:srgbClr val="FFFFFF"/>
                </a:solidFill>
                <a:latin typeface="Arial" pitchFamily="34" charset="0"/>
                <a:ea typeface="Arial" pitchFamily="34" charset="-122"/>
                <a:cs typeface="Arial" pitchFamily="34" charset="-120"/>
              </a:rPr>
              <a:t>The boundary check</a:t>
            </a:r>
            <a:endParaRPr lang="en-US" sz="1150" dirty="0"/>
          </a:p>
        </p:txBody>
      </p:sp>
      <p:sp>
        <p:nvSpPr>
          <p:cNvPr id="43" name="Text 41"/>
          <p:cNvSpPr txBox="1"/>
          <p:nvPr/>
        </p:nvSpPr>
        <p:spPr>
          <a:xfrm>
            <a:off x="6766560" y="4864608"/>
            <a:ext cx="4572000" cy="1179576"/>
          </a:xfrm>
          <a:prstGeom prst="rect">
            <a:avLst/>
          </a:prstGeom>
          <a:noFill/>
          <a:ln/>
        </p:spPr>
        <p:txBody>
          <a:bodyPr wrap="square" lIns="0" tIns="0" rIns="0" bIns="0" rtlCol="0" anchor="t"/>
          <a:lstStyle/>
          <a:p>
            <a:pPr marL="0" indent="0">
              <a:buNone/>
            </a:pPr>
            <a:r>
              <a:rPr lang="en-US" sz="1050" dirty="0">
                <a:solidFill>
                  <a:srgbClr val="DCE3DC"/>
                </a:solidFill>
                <a:latin typeface="Arial" pitchFamily="34" charset="0"/>
                <a:ea typeface="Arial" pitchFamily="34" charset="-122"/>
                <a:cs typeface="Arial" pitchFamily="34" charset="-120"/>
              </a:rPr>
              <a:t>Crossing it: the three account records, encrypted documents, share objects, and one-time challenges and responses. Never crossing it: the password, the Argon2id output, the wrap key, the session key, any private key in the clear, and any document key. Two terminals, two client directories, one server process  and every message on the wire is a file you can open mid-demo.</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21792" y="329184"/>
            <a:ext cx="9820656" cy="237744"/>
          </a:xfrm>
          <a:prstGeom prst="rect">
            <a:avLst/>
          </a:prstGeom>
          <a:noFill/>
          <a:ln/>
        </p:spPr>
        <p:txBody>
          <a:bodyPr wrap="square" lIns="0" tIns="0" rIns="0" bIns="0" rtlCol="0" anchor="ctr"/>
          <a:lstStyle/>
          <a:p>
            <a:pPr marL="0" indent="0">
              <a:buNone/>
            </a:pPr>
            <a:r>
              <a:rPr lang="en-US" sz="950" b="1" kern="0" spc="250" dirty="0">
                <a:solidFill>
                  <a:srgbClr val="C0392F"/>
                </a:solidFill>
                <a:latin typeface="Arial" pitchFamily="34" charset="0"/>
                <a:ea typeface="Arial" pitchFamily="34" charset="-122"/>
                <a:cs typeface="Arial" pitchFamily="34" charset="-120"/>
              </a:rPr>
              <a:t>CLOSING</a:t>
            </a:r>
            <a:endParaRPr lang="en-US" sz="950" dirty="0"/>
          </a:p>
        </p:txBody>
      </p:sp>
      <p:sp>
        <p:nvSpPr>
          <p:cNvPr id="3" name="Text 1"/>
          <p:cNvSpPr txBox="1"/>
          <p:nvPr/>
        </p:nvSpPr>
        <p:spPr>
          <a:xfrm>
            <a:off x="621792" y="603504"/>
            <a:ext cx="10917936" cy="530352"/>
          </a:xfrm>
          <a:prstGeom prst="rect">
            <a:avLst/>
          </a:prstGeom>
          <a:noFill/>
          <a:ln/>
        </p:spPr>
        <p:txBody>
          <a:bodyPr wrap="square" lIns="0" tIns="0" rIns="0" bIns="0" rtlCol="0" anchor="ctr"/>
          <a:lstStyle/>
          <a:p>
            <a:pPr marL="0" indent="0">
              <a:buNone/>
            </a:pPr>
            <a:r>
              <a:rPr lang="en-US" sz="2500" b="1" dirty="0">
                <a:solidFill>
                  <a:srgbClr val="26242B"/>
                </a:solidFill>
                <a:latin typeface="Bookman Old Style" pitchFamily="34" charset="0"/>
                <a:ea typeface="Bookman Old Style" pitchFamily="34" charset="-122"/>
                <a:cs typeface="Bookman Old Style" pitchFamily="34" charset="-120"/>
              </a:rPr>
              <a:t>What we can show on screen</a:t>
            </a:r>
            <a:endParaRPr lang="en-US" sz="2500" dirty="0"/>
          </a:p>
        </p:txBody>
      </p:sp>
      <p:sp>
        <p:nvSpPr>
          <p:cNvPr id="5" name="Text 3"/>
          <p:cNvSpPr txBox="1"/>
          <p:nvPr/>
        </p:nvSpPr>
        <p:spPr>
          <a:xfrm>
            <a:off x="10899648" y="310896"/>
            <a:ext cx="640080" cy="274320"/>
          </a:xfrm>
          <a:prstGeom prst="rect">
            <a:avLst/>
          </a:prstGeom>
          <a:noFill/>
          <a:ln/>
        </p:spPr>
        <p:txBody>
          <a:bodyPr wrap="square" lIns="0" tIns="0" rIns="0" bIns="0" rtlCol="0" anchor="ctr"/>
          <a:lstStyle/>
          <a:p>
            <a:pPr marL="0" indent="0" algn="r">
              <a:buNone/>
            </a:pPr>
            <a:r>
              <a:rPr lang="en-US" sz="1100" b="1" dirty="0">
                <a:solidFill>
                  <a:srgbClr val="DEDCE2"/>
                </a:solidFill>
                <a:latin typeface="Arial" pitchFamily="34" charset="0"/>
                <a:ea typeface="Arial" pitchFamily="34" charset="-122"/>
                <a:cs typeface="Arial" pitchFamily="34" charset="-120"/>
              </a:rPr>
              <a:t>22</a:t>
            </a:r>
            <a:endParaRPr lang="en-US" sz="11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21792" y="1481328"/>
          <a:ext cx="10917936" cy="2583180"/>
        </p:xfrm>
        <a:graphic>
          <a:graphicData uri="http://schemas.openxmlformats.org/drawingml/2006/table">
            <a:tbl>
              <a:tblPr/>
              <a:tblGrid>
                <a:gridCol w="41148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6665976">
                  <a:extLst>
                    <a:ext uri="{9D8B030D-6E8A-4147-A177-3AD203B41FA5}">
                      <a16:colId xmlns:a16="http://schemas.microsoft.com/office/drawing/2014/main" val="20002"/>
                    </a:ext>
                  </a:extLst>
                </a:gridCol>
              </a:tblGrid>
              <a:tr h="0">
                <a:tc>
                  <a:txBody>
                    <a:bodyPr/>
                    <a:lstStyle/>
                    <a:p>
                      <a:pPr marL="0" indent="0">
                        <a:buNone/>
                      </a:pPr>
                      <a:r>
                        <a:rPr lang="en-US" sz="950" b="1" kern="0" spc="100" dirty="0">
                          <a:solidFill>
                            <a:srgbClr val="C0392F"/>
                          </a:solidFill>
                          <a:latin typeface="Arial" pitchFamily="34" charset="0"/>
                          <a:ea typeface="Arial" pitchFamily="34" charset="-122"/>
                          <a:cs typeface="Arial" pitchFamily="34" charset="-120"/>
                        </a:rPr>
                        <a:t>#</a:t>
                      </a:r>
                      <a:endParaRPr lang="en-US" sz="95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7F5F6"/>
                    </a:solidFill>
                  </a:tcPr>
                </a:tc>
                <a:tc>
                  <a:txBody>
                    <a:bodyPr/>
                    <a:lstStyle/>
                    <a:p>
                      <a:pPr marL="0" indent="0">
                        <a:buNone/>
                      </a:pPr>
                      <a:r>
                        <a:rPr lang="en-US" sz="950" b="1" kern="0" spc="100" dirty="0">
                          <a:solidFill>
                            <a:srgbClr val="C0392F"/>
                          </a:solidFill>
                          <a:latin typeface="Arial" pitchFamily="34" charset="0"/>
                          <a:ea typeface="Arial" pitchFamily="34" charset="-122"/>
                          <a:cs typeface="Arial" pitchFamily="34" charset="-120"/>
                        </a:rPr>
                        <a:t>DEMONSTRATION ITEM</a:t>
                      </a:r>
                      <a:endParaRPr lang="en-US" sz="95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7F5F6"/>
                    </a:solidFill>
                  </a:tcPr>
                </a:tc>
                <a:tc>
                  <a:txBody>
                    <a:bodyPr/>
                    <a:lstStyle/>
                    <a:p>
                      <a:pPr marL="0" indent="0">
                        <a:buNone/>
                      </a:pPr>
                      <a:r>
                        <a:rPr lang="en-US" sz="950" b="1" kern="0" spc="100" dirty="0">
                          <a:solidFill>
                            <a:srgbClr val="C0392F"/>
                          </a:solidFill>
                          <a:latin typeface="Arial" pitchFamily="34" charset="0"/>
                          <a:ea typeface="Arial" pitchFamily="34" charset="-122"/>
                          <a:cs typeface="Arial" pitchFamily="34" charset="-120"/>
                        </a:rPr>
                        <a:t>HOW WE SHOW IT</a:t>
                      </a:r>
                      <a:endParaRPr lang="en-US" sz="95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7F5F6"/>
                    </a:solidFill>
                  </a:tcPr>
                </a:tc>
                <a:extLst>
                  <a:ext uri="{0D108BD9-81ED-4DB2-BD59-A6C34878D82A}">
                    <a16:rowId xmlns:a16="http://schemas.microsoft.com/office/drawing/2014/main" val="10000"/>
                  </a:ext>
                </a:extLst>
              </a:tr>
              <a:tr h="0">
                <a:tc>
                  <a:txBody>
                    <a:bodyPr/>
                    <a:lstStyle/>
                    <a:p>
                      <a:pPr marL="0" indent="0">
                        <a:buNone/>
                      </a:pPr>
                      <a:r>
                        <a:rPr lang="en-US" sz="1000" dirty="0">
                          <a:solidFill>
                            <a:srgbClr val="26242B"/>
                          </a:solidFill>
                          <a:latin typeface="Arial" pitchFamily="34" charset="0"/>
                          <a:ea typeface="Arial" pitchFamily="34" charset="-122"/>
                          <a:cs typeface="Arial" pitchFamily="34" charset="-120"/>
                        </a:rPr>
                        <a:t>1</a:t>
                      </a:r>
                      <a:endParaRPr lang="en-US" sz="100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tc>
                  <a:txBody>
                    <a:bodyPr/>
                    <a:lstStyle/>
                    <a:p>
                      <a:pPr marL="0" indent="0">
                        <a:buNone/>
                      </a:pPr>
                      <a:r>
                        <a:rPr lang="en-US" sz="1000" dirty="0">
                          <a:solidFill>
                            <a:srgbClr val="26242B"/>
                          </a:solidFill>
                          <a:latin typeface="Arial" pitchFamily="34" charset="0"/>
                          <a:ea typeface="Arial" pitchFamily="34" charset="-122"/>
                          <a:cs typeface="Arial" pitchFamily="34" charset="-120"/>
                        </a:rPr>
                        <a:t>Two users register and log in separately</a:t>
                      </a:r>
                      <a:endParaRPr lang="en-US" sz="100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tc>
                  <a:txBody>
                    <a:bodyPr/>
                    <a:lstStyle/>
                    <a:p>
                      <a:pPr marL="0" indent="0">
                        <a:buNone/>
                      </a:pPr>
                      <a:r>
                        <a:rPr lang="en-US" sz="1000" dirty="0">
                          <a:solidFill>
                            <a:srgbClr val="26242B"/>
                          </a:solidFill>
                          <a:latin typeface="Arial" pitchFamily="34" charset="0"/>
                          <a:ea typeface="Arial" pitchFamily="34" charset="-122"/>
                          <a:cs typeface="Arial" pitchFamily="34" charset="-120"/>
                        </a:rPr>
                        <a:t>Two client directories against one real server process</a:t>
                      </a:r>
                      <a:endParaRPr lang="en-US" sz="100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000" dirty="0">
                          <a:solidFill>
                            <a:srgbClr val="26242B"/>
                          </a:solidFill>
                          <a:latin typeface="Arial" pitchFamily="34" charset="0"/>
                          <a:ea typeface="Arial" pitchFamily="34" charset="-122"/>
                          <a:cs typeface="Arial" pitchFamily="34" charset="-120"/>
                        </a:rPr>
                        <a:t>2</a:t>
                      </a:r>
                      <a:endParaRPr lang="en-US" sz="100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tc>
                  <a:txBody>
                    <a:bodyPr/>
                    <a:lstStyle/>
                    <a:p>
                      <a:pPr marL="0" indent="0">
                        <a:buNone/>
                      </a:pPr>
                      <a:r>
                        <a:rPr lang="en-US" sz="1000" dirty="0">
                          <a:solidFill>
                            <a:srgbClr val="26242B"/>
                          </a:solidFill>
                          <a:latin typeface="Arial" pitchFamily="34" charset="0"/>
                          <a:ea typeface="Arial" pitchFamily="34" charset="-122"/>
                          <a:cs typeface="Arial" pitchFamily="34" charset="-120"/>
                        </a:rPr>
                        <a:t>The stored credential reveals no password or wrap key</a:t>
                      </a:r>
                      <a:endParaRPr lang="en-US" sz="100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tc>
                  <a:txBody>
                    <a:bodyPr/>
                    <a:lstStyle/>
                    <a:p>
                      <a:pPr marL="0" indent="0">
                        <a:buNone/>
                      </a:pPr>
                      <a:r>
                        <a:rPr lang="en-US" sz="1000" dirty="0">
                          <a:solidFill>
                            <a:srgbClr val="26242B"/>
                          </a:solidFill>
                          <a:latin typeface="Arial" pitchFamily="34" charset="0"/>
                          <a:ea typeface="Arial" pitchFamily="34" charset="-122"/>
                          <a:cs typeface="Arial" pitchFamily="34" charset="-120"/>
                        </a:rPr>
                        <a:t>Open the SQLite row: salt, parameters and stored verifier hash</a:t>
                      </a:r>
                      <a:endParaRPr lang="en-US" sz="100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buNone/>
                      </a:pPr>
                      <a:r>
                        <a:rPr lang="en-US" sz="1000" dirty="0">
                          <a:solidFill>
                            <a:srgbClr val="26242B"/>
                          </a:solidFill>
                          <a:latin typeface="Arial" pitchFamily="34" charset="0"/>
                          <a:ea typeface="Arial" pitchFamily="34" charset="-122"/>
                          <a:cs typeface="Arial" pitchFamily="34" charset="-120"/>
                        </a:rPr>
                        <a:t>3</a:t>
                      </a:r>
                      <a:endParaRPr lang="en-US" sz="100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tc>
                  <a:txBody>
                    <a:bodyPr/>
                    <a:lstStyle/>
                    <a:p>
                      <a:pPr marL="0" indent="0">
                        <a:buNone/>
                      </a:pPr>
                      <a:r>
                        <a:rPr lang="en-US" sz="1000" dirty="0">
                          <a:solidFill>
                            <a:srgbClr val="26242B"/>
                          </a:solidFill>
                          <a:latin typeface="Arial" pitchFamily="34" charset="0"/>
                          <a:ea typeface="Arial" pitchFamily="34" charset="-122"/>
                          <a:cs typeface="Arial" pitchFamily="34" charset="-120"/>
                        </a:rPr>
                        <a:t>The server's stored document is unreadable</a:t>
                      </a:r>
                      <a:endParaRPr lang="en-US" sz="100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tc>
                  <a:txBody>
                    <a:bodyPr/>
                    <a:lstStyle/>
                    <a:p>
                      <a:pPr marL="0" indent="0">
                        <a:buNone/>
                      </a:pPr>
                      <a:r>
                        <a:rPr lang="en-US" sz="1000" dirty="0">
                          <a:solidFill>
                            <a:srgbClr val="26242B"/>
                          </a:solidFill>
                          <a:latin typeface="Arial" pitchFamily="34" charset="0"/>
                          <a:ea typeface="Arial" pitchFamily="34" charset="-122"/>
                          <a:cs typeface="Arial" pitchFamily="34" charset="-120"/>
                        </a:rPr>
                        <a:t>Open stored object: ciphertext + tag</a:t>
                      </a:r>
                      <a:endParaRPr lang="en-US" sz="100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000" dirty="0">
                          <a:solidFill>
                            <a:srgbClr val="26242B"/>
                          </a:solidFill>
                          <a:latin typeface="Arial" pitchFamily="34" charset="0"/>
                          <a:ea typeface="Arial" pitchFamily="34" charset="-122"/>
                          <a:cs typeface="Arial" pitchFamily="34" charset="-120"/>
                        </a:rPr>
                        <a:t>4</a:t>
                      </a:r>
                      <a:endParaRPr lang="en-US" sz="100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tc>
                  <a:txBody>
                    <a:bodyPr/>
                    <a:lstStyle/>
                    <a:p>
                      <a:pPr marL="0" indent="0">
                        <a:buNone/>
                      </a:pPr>
                      <a:r>
                        <a:rPr lang="en-US" sz="1000" dirty="0">
                          <a:solidFill>
                            <a:srgbClr val="26242B"/>
                          </a:solidFill>
                          <a:latin typeface="Arial" pitchFamily="34" charset="0"/>
                          <a:ea typeface="Arial" pitchFamily="34" charset="-122"/>
                          <a:cs typeface="Arial" pitchFamily="34" charset="-120"/>
                        </a:rPr>
                        <a:t>The second user downloads and opens it</a:t>
                      </a:r>
                      <a:endParaRPr lang="en-US" sz="100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tc>
                  <a:txBody>
                    <a:bodyPr/>
                    <a:lstStyle/>
                    <a:p>
                      <a:pPr marL="0" indent="0">
                        <a:buNone/>
                      </a:pPr>
                      <a:r>
                        <a:rPr lang="en-US" sz="1000" dirty="0">
                          <a:solidFill>
                            <a:srgbClr val="26242B"/>
                          </a:solidFill>
                          <a:latin typeface="Arial" pitchFamily="34" charset="0"/>
                          <a:ea typeface="Arial" pitchFamily="34" charset="-122"/>
                          <a:cs typeface="Arial" pitchFamily="34" charset="-120"/>
                        </a:rPr>
                        <a:t>The full share, receive and download path</a:t>
                      </a:r>
                      <a:endParaRPr lang="en-US" sz="100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0">
                <a:tc>
                  <a:txBody>
                    <a:bodyPr/>
                    <a:lstStyle/>
                    <a:p>
                      <a:pPr marL="0" indent="0">
                        <a:buNone/>
                      </a:pPr>
                      <a:r>
                        <a:rPr lang="en-US" sz="1000" dirty="0">
                          <a:solidFill>
                            <a:srgbClr val="26242B"/>
                          </a:solidFill>
                          <a:latin typeface="Arial" pitchFamily="34" charset="0"/>
                          <a:ea typeface="Arial" pitchFamily="34" charset="-122"/>
                          <a:cs typeface="Arial" pitchFamily="34" charset="-120"/>
                        </a:rPr>
                        <a:t>5</a:t>
                      </a:r>
                      <a:endParaRPr lang="en-US" sz="100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tc>
                  <a:txBody>
                    <a:bodyPr/>
                    <a:lstStyle/>
                    <a:p>
                      <a:pPr marL="0" indent="0">
                        <a:buNone/>
                      </a:pPr>
                      <a:r>
                        <a:rPr lang="en-US" sz="1000" dirty="0">
                          <a:solidFill>
                            <a:srgbClr val="26242B"/>
                          </a:solidFill>
                          <a:latin typeface="Arial" pitchFamily="34" charset="0"/>
                          <a:ea typeface="Arial" pitchFamily="34" charset="-122"/>
                          <a:cs typeface="Arial" pitchFamily="34" charset="-120"/>
                        </a:rPr>
                        <a:t>The recipient learns who produced it</a:t>
                      </a:r>
                      <a:endParaRPr lang="en-US" sz="100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tc>
                  <a:txBody>
                    <a:bodyPr/>
                    <a:lstStyle/>
                    <a:p>
                      <a:pPr marL="0" indent="0">
                        <a:buNone/>
                      </a:pPr>
                      <a:r>
                        <a:rPr lang="en-US" sz="1000" dirty="0">
                          <a:solidFill>
                            <a:srgbClr val="26242B"/>
                          </a:solidFill>
                          <a:latin typeface="Arial" pitchFamily="34" charset="0"/>
                          <a:ea typeface="Arial" pitchFamily="34" charset="-122"/>
                          <a:cs typeface="Arial" pitchFamily="34" charset="-120"/>
                        </a:rPr>
                        <a:t>RSA-PSS verification, with the caveat on slide 20</a:t>
                      </a:r>
                      <a:endParaRPr lang="en-US" sz="100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buNone/>
                      </a:pPr>
                      <a:r>
                        <a:rPr lang="en-US" sz="1000" dirty="0">
                          <a:solidFill>
                            <a:srgbClr val="26242B"/>
                          </a:solidFill>
                          <a:latin typeface="Arial" pitchFamily="34" charset="0"/>
                          <a:ea typeface="Arial" pitchFamily="34" charset="-122"/>
                          <a:cs typeface="Arial" pitchFamily="34" charset="-120"/>
                        </a:rPr>
                        <a:t>6</a:t>
                      </a:r>
                      <a:endParaRPr lang="en-US" sz="100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tc>
                  <a:txBody>
                    <a:bodyPr/>
                    <a:lstStyle/>
                    <a:p>
                      <a:pPr marL="0" indent="0">
                        <a:buNone/>
                      </a:pPr>
                      <a:r>
                        <a:rPr lang="en-US" sz="1000" dirty="0">
                          <a:solidFill>
                            <a:srgbClr val="26242B"/>
                          </a:solidFill>
                          <a:latin typeface="Arial" pitchFamily="34" charset="0"/>
                          <a:ea typeface="Arial" pitchFamily="34" charset="-122"/>
                          <a:cs typeface="Arial" pitchFamily="34" charset="-120"/>
                        </a:rPr>
                        <a:t>One ciphertext byte altered → rejected</a:t>
                      </a:r>
                      <a:endParaRPr lang="en-US" sz="100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tc>
                  <a:txBody>
                    <a:bodyPr/>
                    <a:lstStyle/>
                    <a:p>
                      <a:pPr marL="0" indent="0">
                        <a:buNone/>
                      </a:pPr>
                      <a:r>
                        <a:rPr lang="en-US" sz="1000" dirty="0">
                          <a:solidFill>
                            <a:srgbClr val="26242B"/>
                          </a:solidFill>
                          <a:latin typeface="Arial" pitchFamily="34" charset="0"/>
                          <a:ea typeface="Arial" pitchFamily="34" charset="-122"/>
                          <a:cs typeface="Arial" pitchFamily="34" charset="-120"/>
                        </a:rPr>
                        <a:t>AEAD tag check, before any plaintext</a:t>
                      </a:r>
                      <a:endParaRPr lang="en-US" sz="100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0">
                <a:tc>
                  <a:txBody>
                    <a:bodyPr/>
                    <a:lstStyle/>
                    <a:p>
                      <a:pPr marL="0" indent="0">
                        <a:buNone/>
                      </a:pPr>
                      <a:r>
                        <a:rPr lang="en-US" sz="1000" dirty="0">
                          <a:solidFill>
                            <a:srgbClr val="26242B"/>
                          </a:solidFill>
                          <a:latin typeface="Arial" pitchFamily="34" charset="0"/>
                          <a:ea typeface="Arial" pitchFamily="34" charset="-122"/>
                          <a:cs typeface="Arial" pitchFamily="34" charset="-120"/>
                        </a:rPr>
                        <a:t>7</a:t>
                      </a:r>
                      <a:endParaRPr lang="en-US" sz="100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tc>
                  <a:txBody>
                    <a:bodyPr/>
                    <a:lstStyle/>
                    <a:p>
                      <a:pPr marL="0" indent="0">
                        <a:buNone/>
                      </a:pPr>
                      <a:r>
                        <a:rPr lang="en-US" sz="1000" dirty="0">
                          <a:solidFill>
                            <a:srgbClr val="26242B"/>
                          </a:solidFill>
                          <a:latin typeface="Arial" pitchFamily="34" charset="0"/>
                          <a:ea typeface="Arial" pitchFamily="34" charset="-122"/>
                          <a:cs typeface="Arial" pitchFamily="34" charset="-120"/>
                        </a:rPr>
                        <a:t>One metadata field altered → rejected</a:t>
                      </a:r>
                      <a:endParaRPr lang="en-US" sz="100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tc>
                  <a:txBody>
                    <a:bodyPr/>
                    <a:lstStyle/>
                    <a:p>
                      <a:pPr marL="0" indent="0">
                        <a:buNone/>
                      </a:pPr>
                      <a:r>
                        <a:rPr lang="en-US" sz="1000" dirty="0">
                          <a:solidFill>
                            <a:srgbClr val="26242B"/>
                          </a:solidFill>
                          <a:latin typeface="Arial" pitchFamily="34" charset="0"/>
                          <a:ea typeface="Arial" pitchFamily="34" charset="-122"/>
                          <a:cs typeface="Arial" pitchFamily="34" charset="-120"/>
                        </a:rPr>
                        <a:t>The metadata is inside the associated data</a:t>
                      </a:r>
                      <a:endParaRPr lang="en-US" sz="100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0">
                <a:tc>
                  <a:txBody>
                    <a:bodyPr/>
                    <a:lstStyle/>
                    <a:p>
                      <a:pPr marL="0" indent="0">
                        <a:buNone/>
                      </a:pPr>
                      <a:r>
                        <a:rPr lang="en-US" sz="1000" dirty="0">
                          <a:solidFill>
                            <a:srgbClr val="26242B"/>
                          </a:solidFill>
                          <a:latin typeface="Arial" pitchFamily="34" charset="0"/>
                          <a:ea typeface="Arial" pitchFamily="34" charset="-122"/>
                          <a:cs typeface="Arial" pitchFamily="34" charset="-120"/>
                        </a:rPr>
                        <a:t>8</a:t>
                      </a:r>
                      <a:endParaRPr lang="en-US" sz="100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tc>
                  <a:txBody>
                    <a:bodyPr/>
                    <a:lstStyle/>
                    <a:p>
                      <a:pPr marL="0" indent="0">
                        <a:buNone/>
                      </a:pPr>
                      <a:r>
                        <a:rPr lang="en-US" sz="1000" dirty="0">
                          <a:solidFill>
                            <a:srgbClr val="26242B"/>
                          </a:solidFill>
                          <a:latin typeface="Arial" pitchFamily="34" charset="0"/>
                          <a:ea typeface="Arial" pitchFamily="34" charset="-122"/>
                          <a:cs typeface="Arial" pitchFamily="34" charset="-120"/>
                        </a:rPr>
                        <a:t>An old object replayed → rejected as stale</a:t>
                      </a:r>
                      <a:endParaRPr lang="en-US" sz="100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tc>
                  <a:txBody>
                    <a:bodyPr/>
                    <a:lstStyle/>
                    <a:p>
                      <a:pPr marL="0" indent="0">
                        <a:buNone/>
                      </a:pPr>
                      <a:r>
                        <a:rPr lang="en-US" sz="1000" dirty="0">
                          <a:solidFill>
                            <a:srgbClr val="26242B"/>
                          </a:solidFill>
                          <a:latin typeface="Arial" pitchFamily="34" charset="0"/>
                          <a:ea typeface="Arial" pitchFamily="34" charset="-122"/>
                          <a:cs typeface="Arial" pitchFamily="34" charset="-120"/>
                        </a:rPr>
                        <a:t>Sequence number and persisted freshness state</a:t>
                      </a:r>
                      <a:endParaRPr lang="en-US" sz="100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0">
                <a:tc>
                  <a:txBody>
                    <a:bodyPr/>
                    <a:lstStyle/>
                    <a:p>
                      <a:pPr marL="0" indent="0">
                        <a:buNone/>
                      </a:pPr>
                      <a:r>
                        <a:rPr lang="en-US" sz="1000" dirty="0">
                          <a:solidFill>
                            <a:srgbClr val="26242B"/>
                          </a:solidFill>
                          <a:latin typeface="Arial" pitchFamily="34" charset="0"/>
                          <a:ea typeface="Arial" pitchFamily="34" charset="-122"/>
                          <a:cs typeface="Arial" pitchFamily="34" charset="-120"/>
                        </a:rPr>
                        <a:t>9</a:t>
                      </a:r>
                      <a:endParaRPr lang="en-US" sz="100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tc>
                  <a:txBody>
                    <a:bodyPr/>
                    <a:lstStyle/>
                    <a:p>
                      <a:pPr marL="0" indent="0">
                        <a:buNone/>
                      </a:pPr>
                      <a:r>
                        <a:rPr lang="en-US" sz="1000" dirty="0">
                          <a:solidFill>
                            <a:srgbClr val="26242B"/>
                          </a:solidFill>
                          <a:latin typeface="Arial" pitchFamily="34" charset="0"/>
                          <a:ea typeface="Arial" pitchFamily="34" charset="-122"/>
                          <a:cs typeface="Arial" pitchFamily="34" charset="-120"/>
                        </a:rPr>
                        <a:t>Every primitive verified live</a:t>
                      </a:r>
                      <a:endParaRPr lang="en-US" sz="100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tc>
                  <a:txBody>
                    <a:bodyPr/>
                    <a:lstStyle/>
                    <a:p>
                      <a:pPr marL="0" indent="0">
                        <a:buNone/>
                      </a:pPr>
                      <a:r>
                        <a:rPr lang="en-US" sz="1000" dirty="0">
                          <a:solidFill>
                            <a:srgbClr val="26242B"/>
                          </a:solidFill>
                          <a:latin typeface="Arial" pitchFamily="34" charset="0"/>
                          <a:ea typeface="Arial" pitchFamily="34" charset="-122"/>
                          <a:cs typeface="Arial" pitchFamily="34" charset="-120"/>
                        </a:rPr>
                        <a:t>RFC vectors for SHA-256, ChaCha20, Poly1305 and the AEAD, RFC 4231 and 5869 for HMAC and HKDF, known points for P-256, reference cross-checks for RSA-PSS</a:t>
                      </a:r>
                      <a:endParaRPr lang="en-US" sz="100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7" name="Shape 4"/>
          <p:cNvSpPr/>
          <p:nvPr/>
        </p:nvSpPr>
        <p:spPr>
          <a:xfrm>
            <a:off x="621792" y="5257800"/>
            <a:ext cx="10917936" cy="731520"/>
          </a:xfrm>
          <a:prstGeom prst="rect">
            <a:avLst/>
          </a:prstGeom>
          <a:solidFill>
            <a:srgbClr val="F7F5F6"/>
          </a:solidFill>
          <a:ln w="15875">
            <a:solidFill>
              <a:srgbClr val="C0392F"/>
            </a:solidFill>
            <a:prstDash val="solid"/>
          </a:ln>
        </p:spPr>
      </p:sp>
      <p:sp>
        <p:nvSpPr>
          <p:cNvPr id="8" name="Text 5"/>
          <p:cNvSpPr txBox="1"/>
          <p:nvPr/>
        </p:nvSpPr>
        <p:spPr>
          <a:xfrm>
            <a:off x="822960" y="5394960"/>
            <a:ext cx="10515600" cy="292608"/>
          </a:xfrm>
          <a:prstGeom prst="rect">
            <a:avLst/>
          </a:prstGeom>
          <a:noFill/>
          <a:ln/>
        </p:spPr>
        <p:txBody>
          <a:bodyPr wrap="square" lIns="0" tIns="0" rIns="0" bIns="0" rtlCol="0" anchor="ctr"/>
          <a:lstStyle/>
          <a:p>
            <a:pPr marL="0" indent="0">
              <a:buNone/>
            </a:pPr>
            <a:r>
              <a:rPr lang="en-US" sz="1150" b="1" kern="0" spc="40" dirty="0">
                <a:solidFill>
                  <a:srgbClr val="C0392F"/>
                </a:solidFill>
                <a:latin typeface="Arial" pitchFamily="34" charset="0"/>
                <a:ea typeface="Arial" pitchFamily="34" charset="-122"/>
                <a:cs typeface="Arial" pitchFamily="34" charset="-120"/>
              </a:rPr>
              <a:t>Item 9 deserves its own minute</a:t>
            </a:r>
            <a:endParaRPr lang="en-US" sz="1150" dirty="0"/>
          </a:p>
        </p:txBody>
      </p:sp>
      <p:sp>
        <p:nvSpPr>
          <p:cNvPr id="9" name="Text 6"/>
          <p:cNvSpPr txBox="1"/>
          <p:nvPr/>
        </p:nvSpPr>
        <p:spPr>
          <a:xfrm>
            <a:off x="822960" y="5733288"/>
            <a:ext cx="10515600" cy="320040"/>
          </a:xfrm>
          <a:prstGeom prst="rect">
            <a:avLst/>
          </a:prstGeom>
          <a:noFill/>
          <a:ln/>
        </p:spPr>
        <p:txBody>
          <a:bodyPr wrap="square" lIns="0" tIns="0" rIns="0" bIns="0" rtlCol="0" anchor="t"/>
          <a:lstStyle/>
          <a:p>
            <a:pPr marL="0" indent="0">
              <a:buNone/>
            </a:pPr>
            <a:r>
              <a:rPr lang="en-US" sz="1050" dirty="0">
                <a:solidFill>
                  <a:srgbClr val="26242B"/>
                </a:solidFill>
                <a:latin typeface="Arial" pitchFamily="34" charset="0"/>
                <a:ea typeface="Arial" pitchFamily="34" charset="-122"/>
                <a:cs typeface="Arial" pitchFamily="34" charset="-120"/>
              </a:rPr>
              <a:t>Published vectors and reference checks show our primitives match known outputs, not only our own expectations.</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21792" y="329184"/>
            <a:ext cx="9829800" cy="237744"/>
          </a:xfrm>
          <a:prstGeom prst="rect">
            <a:avLst/>
          </a:prstGeom>
          <a:noFill/>
        </p:spPr>
        <p:txBody>
          <a:bodyPr wrap="none">
            <a:spAutoFit/>
          </a:bodyPr>
          <a:lstStyle/>
          <a:p>
            <a:r>
              <a:rPr sz="950" b="1">
                <a:solidFill>
                  <a:srgbClr val="C2312A"/>
                </a:solidFill>
                <a:latin typeface="Arial"/>
              </a:rPr>
              <a:t>CLOSING · DEMO EVIDENCE</a:t>
            </a:r>
          </a:p>
        </p:txBody>
      </p:sp>
      <p:sp>
        <p:nvSpPr>
          <p:cNvPr id="3" name="TextBox 2"/>
          <p:cNvSpPr txBox="1"/>
          <p:nvPr/>
        </p:nvSpPr>
        <p:spPr>
          <a:xfrm>
            <a:off x="621792" y="603504"/>
            <a:ext cx="9784080" cy="530352"/>
          </a:xfrm>
          <a:prstGeom prst="rect">
            <a:avLst/>
          </a:prstGeom>
          <a:noFill/>
        </p:spPr>
        <p:txBody>
          <a:bodyPr wrap="none">
            <a:spAutoFit/>
          </a:bodyPr>
          <a:lstStyle/>
          <a:p>
            <a:r>
              <a:rPr sz="2450" b="1">
                <a:solidFill>
                  <a:srgbClr val="201F24"/>
                </a:solidFill>
                <a:latin typeface="Bookman Old Style"/>
              </a:rPr>
              <a:t>Demo evidence — full test suite</a:t>
            </a:r>
          </a:p>
        </p:txBody>
      </p:sp>
      <p:sp>
        <p:nvSpPr>
          <p:cNvPr id="4" name="TextBox 3"/>
          <p:cNvSpPr txBox="1"/>
          <p:nvPr/>
        </p:nvSpPr>
        <p:spPr>
          <a:xfrm>
            <a:off x="621792" y="1069848"/>
            <a:ext cx="9784080" cy="310896"/>
          </a:xfrm>
          <a:prstGeom prst="rect">
            <a:avLst/>
          </a:prstGeom>
          <a:noFill/>
        </p:spPr>
        <p:txBody>
          <a:bodyPr wrap="none">
            <a:spAutoFit/>
          </a:bodyPr>
          <a:lstStyle/>
          <a:p>
            <a:r>
              <a:rPr sz="1250" b="0">
                <a:solidFill>
                  <a:srgbClr val="5F6473"/>
                </a:solidFill>
                <a:latin typeface="Arial"/>
              </a:rPr>
              <a:t>The complete pytest suite passed before the real application flow was executed.</a:t>
            </a:r>
          </a:p>
        </p:txBody>
      </p:sp>
      <p:sp>
        <p:nvSpPr>
          <p:cNvPr id="5" name="TextBox 4"/>
          <p:cNvSpPr txBox="1"/>
          <p:nvPr/>
        </p:nvSpPr>
        <p:spPr>
          <a:xfrm>
            <a:off x="10899648" y="310896"/>
            <a:ext cx="658368" cy="274320"/>
          </a:xfrm>
          <a:prstGeom prst="rect">
            <a:avLst/>
          </a:prstGeom>
          <a:noFill/>
        </p:spPr>
        <p:txBody>
          <a:bodyPr wrap="none">
            <a:spAutoFit/>
          </a:bodyPr>
          <a:lstStyle/>
          <a:p>
            <a:pPr algn="r"/>
            <a:r>
              <a:rPr sz="1100" b="1">
                <a:solidFill>
                  <a:srgbClr val="D8D5DC"/>
                </a:solidFill>
                <a:latin typeface="Arial"/>
              </a:rPr>
              <a:t>23</a:t>
            </a:r>
          </a:p>
        </p:txBody>
      </p:sp>
      <p:sp>
        <p:nvSpPr>
          <p:cNvPr id="6" name="Rectangle 5"/>
          <p:cNvSpPr/>
          <p:nvPr/>
        </p:nvSpPr>
        <p:spPr>
          <a:xfrm>
            <a:off x="621792" y="1536192"/>
            <a:ext cx="10927080" cy="4370832"/>
          </a:xfrm>
          <a:prstGeom prst="rect">
            <a:avLst/>
          </a:prstGeom>
          <a:solidFill>
            <a:srgbClr val="EEF1F5"/>
          </a:solidFill>
          <a:ln w="12700">
            <a:solidFill>
              <a:srgbClr val="D2D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817390276_1012054428535959_7355360960273304448_n.png"/>
          <p:cNvPicPr>
            <a:picLocks noChangeAspect="1"/>
          </p:cNvPicPr>
          <p:nvPr/>
        </p:nvPicPr>
        <p:blipFill>
          <a:blip r:embed="rId2"/>
          <a:stretch>
            <a:fillRect/>
          </a:stretch>
        </p:blipFill>
        <p:spPr>
          <a:xfrm>
            <a:off x="786384" y="2929542"/>
            <a:ext cx="10597895" cy="1584131"/>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21792" y="329184"/>
            <a:ext cx="9829800" cy="237744"/>
          </a:xfrm>
          <a:prstGeom prst="rect">
            <a:avLst/>
          </a:prstGeom>
          <a:noFill/>
        </p:spPr>
        <p:txBody>
          <a:bodyPr wrap="none">
            <a:spAutoFit/>
          </a:bodyPr>
          <a:lstStyle/>
          <a:p>
            <a:r>
              <a:rPr sz="950" b="1">
                <a:solidFill>
                  <a:srgbClr val="C2312A"/>
                </a:solidFill>
                <a:latin typeface="Arial"/>
              </a:rPr>
              <a:t>CLOSING · DEMO EVIDENCE</a:t>
            </a:r>
          </a:p>
        </p:txBody>
      </p:sp>
      <p:sp>
        <p:nvSpPr>
          <p:cNvPr id="3" name="TextBox 2"/>
          <p:cNvSpPr txBox="1"/>
          <p:nvPr/>
        </p:nvSpPr>
        <p:spPr>
          <a:xfrm>
            <a:off x="621792" y="603504"/>
            <a:ext cx="9784080" cy="530352"/>
          </a:xfrm>
          <a:prstGeom prst="rect">
            <a:avLst/>
          </a:prstGeom>
          <a:noFill/>
        </p:spPr>
        <p:txBody>
          <a:bodyPr wrap="none">
            <a:spAutoFit/>
          </a:bodyPr>
          <a:lstStyle/>
          <a:p>
            <a:r>
              <a:rPr sz="2450" b="1">
                <a:solidFill>
                  <a:srgbClr val="201F24"/>
                </a:solidFill>
                <a:latin typeface="Bookman Old Style"/>
              </a:rPr>
              <a:t>Demo evidence — real Layla → Omar flow</a:t>
            </a:r>
          </a:p>
        </p:txBody>
      </p:sp>
      <p:sp>
        <p:nvSpPr>
          <p:cNvPr id="4" name="TextBox 3"/>
          <p:cNvSpPr txBox="1"/>
          <p:nvPr/>
        </p:nvSpPr>
        <p:spPr>
          <a:xfrm>
            <a:off x="621792" y="1069848"/>
            <a:ext cx="9784080" cy="310896"/>
          </a:xfrm>
          <a:prstGeom prst="rect">
            <a:avLst/>
          </a:prstGeom>
          <a:noFill/>
        </p:spPr>
        <p:txBody>
          <a:bodyPr wrap="none">
            <a:spAutoFit/>
          </a:bodyPr>
          <a:lstStyle/>
          <a:p>
            <a:r>
              <a:rPr sz="1250" b="0">
                <a:solidFill>
                  <a:srgbClr val="5F6473"/>
                </a:solidFill>
                <a:latin typeface="Arial"/>
              </a:rPr>
              <a:t>The real client and server complete registration, login, upload, share, receive and download.</a:t>
            </a:r>
          </a:p>
        </p:txBody>
      </p:sp>
      <p:sp>
        <p:nvSpPr>
          <p:cNvPr id="5" name="TextBox 4"/>
          <p:cNvSpPr txBox="1"/>
          <p:nvPr/>
        </p:nvSpPr>
        <p:spPr>
          <a:xfrm>
            <a:off x="10899648" y="310896"/>
            <a:ext cx="658368" cy="274320"/>
          </a:xfrm>
          <a:prstGeom prst="rect">
            <a:avLst/>
          </a:prstGeom>
          <a:noFill/>
        </p:spPr>
        <p:txBody>
          <a:bodyPr wrap="none">
            <a:spAutoFit/>
          </a:bodyPr>
          <a:lstStyle/>
          <a:p>
            <a:pPr algn="r"/>
            <a:r>
              <a:rPr sz="1100" b="1">
                <a:solidFill>
                  <a:srgbClr val="D8D5DC"/>
                </a:solidFill>
                <a:latin typeface="Arial"/>
              </a:rPr>
              <a:t>24</a:t>
            </a:r>
          </a:p>
        </p:txBody>
      </p:sp>
      <p:sp>
        <p:nvSpPr>
          <p:cNvPr id="6" name="Rectangle 5"/>
          <p:cNvSpPr/>
          <p:nvPr/>
        </p:nvSpPr>
        <p:spPr>
          <a:xfrm>
            <a:off x="621792" y="1536192"/>
            <a:ext cx="10927080" cy="4370832"/>
          </a:xfrm>
          <a:prstGeom prst="rect">
            <a:avLst/>
          </a:prstGeom>
          <a:solidFill>
            <a:srgbClr val="EEF1F5"/>
          </a:solidFill>
          <a:ln w="12700">
            <a:solidFill>
              <a:srgbClr val="D2D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814779428_1748428732870341_4464104345480361415_n.png"/>
          <p:cNvPicPr>
            <a:picLocks noChangeAspect="1"/>
          </p:cNvPicPr>
          <p:nvPr/>
        </p:nvPicPr>
        <p:blipFill>
          <a:blip r:embed="rId2"/>
          <a:stretch>
            <a:fillRect/>
          </a:stretch>
        </p:blipFill>
        <p:spPr>
          <a:xfrm>
            <a:off x="2053675" y="1700784"/>
            <a:ext cx="8063312" cy="4041648"/>
          </a:xfrm>
          <a:prstGeom prst="rect">
            <a:avLst/>
          </a:prstGeom>
        </p:spPr>
      </p:pic>
      <p:sp>
        <p:nvSpPr>
          <p:cNvPr id="8" name="TextBox 7"/>
          <p:cNvSpPr txBox="1"/>
          <p:nvPr/>
        </p:nvSpPr>
        <p:spPr>
          <a:xfrm>
            <a:off x="621792" y="6062472"/>
            <a:ext cx="10927080" cy="310896"/>
          </a:xfrm>
          <a:prstGeom prst="rect">
            <a:avLst/>
          </a:prstGeom>
          <a:noFill/>
        </p:spPr>
        <p:txBody>
          <a:bodyPr wrap="none">
            <a:spAutoFit/>
          </a:bodyPr>
          <a:lstStyle/>
          <a:p>
            <a:r>
              <a:rPr sz="1120" b="0" dirty="0">
                <a:solidFill>
                  <a:srgbClr val="5F6473"/>
                </a:solidFill>
                <a:latin typeface="Arial"/>
              </a:rPr>
              <a:t>This is the same flow as the live demo: two users, two client directories and one real server process.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21792" y="329184"/>
            <a:ext cx="9829800" cy="237744"/>
          </a:xfrm>
          <a:prstGeom prst="rect">
            <a:avLst/>
          </a:prstGeom>
          <a:noFill/>
        </p:spPr>
        <p:txBody>
          <a:bodyPr wrap="none">
            <a:spAutoFit/>
          </a:bodyPr>
          <a:lstStyle/>
          <a:p>
            <a:r>
              <a:rPr sz="950" b="1">
                <a:solidFill>
                  <a:srgbClr val="C2312A"/>
                </a:solidFill>
                <a:latin typeface="Arial"/>
              </a:rPr>
              <a:t>CLOSING · DEMO EVIDENCE</a:t>
            </a:r>
          </a:p>
        </p:txBody>
      </p:sp>
      <p:sp>
        <p:nvSpPr>
          <p:cNvPr id="3" name="TextBox 2"/>
          <p:cNvSpPr txBox="1"/>
          <p:nvPr/>
        </p:nvSpPr>
        <p:spPr>
          <a:xfrm>
            <a:off x="621792" y="603504"/>
            <a:ext cx="9784080" cy="530352"/>
          </a:xfrm>
          <a:prstGeom prst="rect">
            <a:avLst/>
          </a:prstGeom>
          <a:noFill/>
        </p:spPr>
        <p:txBody>
          <a:bodyPr wrap="none">
            <a:spAutoFit/>
          </a:bodyPr>
          <a:lstStyle/>
          <a:p>
            <a:r>
              <a:rPr sz="2450" b="1">
                <a:solidFill>
                  <a:srgbClr val="201F24"/>
                </a:solidFill>
                <a:latin typeface="Bookman Old Style"/>
              </a:rPr>
              <a:t>Demo evidence — attack cases rejected</a:t>
            </a:r>
          </a:p>
        </p:txBody>
      </p:sp>
      <p:sp>
        <p:nvSpPr>
          <p:cNvPr id="4" name="TextBox 3"/>
          <p:cNvSpPr txBox="1"/>
          <p:nvPr/>
        </p:nvSpPr>
        <p:spPr>
          <a:xfrm>
            <a:off x="621792" y="1069848"/>
            <a:ext cx="9784080" cy="310896"/>
          </a:xfrm>
          <a:prstGeom prst="rect">
            <a:avLst/>
          </a:prstGeom>
          <a:noFill/>
        </p:spPr>
        <p:txBody>
          <a:bodyPr wrap="none">
            <a:spAutoFit/>
          </a:bodyPr>
          <a:lstStyle/>
          <a:p>
            <a:r>
              <a:rPr sz="1250" b="0">
                <a:solidFill>
                  <a:srgbClr val="5F6473"/>
                </a:solidFill>
                <a:latin typeface="Arial"/>
              </a:rPr>
              <a:t>Replay, document tampering, share tampering and TOFU key substitution are refused.</a:t>
            </a:r>
          </a:p>
        </p:txBody>
      </p:sp>
      <p:sp>
        <p:nvSpPr>
          <p:cNvPr id="5" name="TextBox 4"/>
          <p:cNvSpPr txBox="1"/>
          <p:nvPr/>
        </p:nvSpPr>
        <p:spPr>
          <a:xfrm>
            <a:off x="10899648" y="310896"/>
            <a:ext cx="658368" cy="274320"/>
          </a:xfrm>
          <a:prstGeom prst="rect">
            <a:avLst/>
          </a:prstGeom>
          <a:noFill/>
        </p:spPr>
        <p:txBody>
          <a:bodyPr wrap="none">
            <a:spAutoFit/>
          </a:bodyPr>
          <a:lstStyle/>
          <a:p>
            <a:pPr algn="r"/>
            <a:r>
              <a:rPr sz="1100" b="1">
                <a:solidFill>
                  <a:srgbClr val="D8D5DC"/>
                </a:solidFill>
                <a:latin typeface="Arial"/>
              </a:rPr>
              <a:t>25</a:t>
            </a:r>
          </a:p>
        </p:txBody>
      </p:sp>
      <p:sp>
        <p:nvSpPr>
          <p:cNvPr id="6" name="Rectangle 5"/>
          <p:cNvSpPr/>
          <p:nvPr/>
        </p:nvSpPr>
        <p:spPr>
          <a:xfrm>
            <a:off x="621792" y="1536192"/>
            <a:ext cx="10927080" cy="4370832"/>
          </a:xfrm>
          <a:prstGeom prst="rect">
            <a:avLst/>
          </a:prstGeom>
          <a:solidFill>
            <a:srgbClr val="EEF1F5"/>
          </a:solidFill>
          <a:ln w="12700">
            <a:solidFill>
              <a:srgbClr val="D2D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823848897_1049208754752982_8896803392097826752_n.png"/>
          <p:cNvPicPr>
            <a:picLocks noChangeAspect="1"/>
          </p:cNvPicPr>
          <p:nvPr/>
        </p:nvPicPr>
        <p:blipFill>
          <a:blip r:embed="rId2"/>
          <a:stretch>
            <a:fillRect/>
          </a:stretch>
        </p:blipFill>
        <p:spPr>
          <a:xfrm>
            <a:off x="1751516" y="1700784"/>
            <a:ext cx="8667630" cy="4041648"/>
          </a:xfrm>
          <a:prstGeom prst="rect">
            <a:avLst/>
          </a:prstGeom>
        </p:spPr>
      </p:pic>
      <p:sp>
        <p:nvSpPr>
          <p:cNvPr id="8" name="TextBox 7"/>
          <p:cNvSpPr txBox="1"/>
          <p:nvPr/>
        </p:nvSpPr>
        <p:spPr>
          <a:xfrm>
            <a:off x="621792" y="6062472"/>
            <a:ext cx="10927080" cy="310896"/>
          </a:xfrm>
          <a:prstGeom prst="rect">
            <a:avLst/>
          </a:prstGeom>
          <a:noFill/>
        </p:spPr>
        <p:txBody>
          <a:bodyPr wrap="none">
            <a:spAutoFit/>
          </a:bodyPr>
          <a:lstStyle/>
          <a:p>
            <a:r>
              <a:rPr sz="1120" b="0">
                <a:solidFill>
                  <a:srgbClr val="5F6473"/>
                </a:solidFill>
                <a:latin typeface="Arial"/>
              </a:rPr>
              <a:t>These outputs map directly to the required failure cases: tampering, replay, and public-key substitution.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21792" y="329184"/>
            <a:ext cx="9820656" cy="237744"/>
          </a:xfrm>
          <a:prstGeom prst="rect">
            <a:avLst/>
          </a:prstGeom>
          <a:noFill/>
          <a:ln/>
        </p:spPr>
        <p:txBody>
          <a:bodyPr wrap="square" lIns="0" tIns="0" rIns="0" bIns="0" rtlCol="0" anchor="ctr"/>
          <a:lstStyle/>
          <a:p>
            <a:pPr marL="0" indent="0">
              <a:buNone/>
            </a:pPr>
            <a:r>
              <a:rPr lang="en-US" sz="950" b="1" kern="0" spc="250" dirty="0">
                <a:solidFill>
                  <a:srgbClr val="C0392F"/>
                </a:solidFill>
                <a:latin typeface="Arial" pitchFamily="34" charset="0"/>
                <a:ea typeface="Arial" pitchFamily="34" charset="-122"/>
                <a:cs typeface="Arial" pitchFamily="34" charset="-120"/>
              </a:rPr>
              <a:t>CLOSING</a:t>
            </a:r>
            <a:endParaRPr lang="en-US" sz="950" dirty="0"/>
          </a:p>
        </p:txBody>
      </p:sp>
      <p:sp>
        <p:nvSpPr>
          <p:cNvPr id="3" name="Text 1"/>
          <p:cNvSpPr txBox="1"/>
          <p:nvPr/>
        </p:nvSpPr>
        <p:spPr>
          <a:xfrm>
            <a:off x="621792" y="603504"/>
            <a:ext cx="10917936" cy="530352"/>
          </a:xfrm>
          <a:prstGeom prst="rect">
            <a:avLst/>
          </a:prstGeom>
          <a:noFill/>
          <a:ln/>
        </p:spPr>
        <p:txBody>
          <a:bodyPr wrap="square" lIns="0" tIns="0" rIns="0" bIns="0" rtlCol="0" anchor="ctr"/>
          <a:lstStyle/>
          <a:p>
            <a:pPr marL="0" indent="0">
              <a:buNone/>
            </a:pPr>
            <a:r>
              <a:rPr lang="en-US" sz="2500" b="1" dirty="0">
                <a:solidFill>
                  <a:srgbClr val="26242B"/>
                </a:solidFill>
                <a:latin typeface="Bookman Old Style" pitchFamily="34" charset="0"/>
                <a:ea typeface="Bookman Old Style" pitchFamily="34" charset="-122"/>
                <a:cs typeface="Bookman Old Style" pitchFamily="34" charset="-120"/>
              </a:rPr>
              <a:t>Limitations and from-scratch declaration</a:t>
            </a:r>
            <a:endParaRPr lang="en-US" sz="2500" dirty="0"/>
          </a:p>
        </p:txBody>
      </p:sp>
      <p:sp>
        <p:nvSpPr>
          <p:cNvPr id="4" name="Text 2"/>
          <p:cNvSpPr txBox="1"/>
          <p:nvPr/>
        </p:nvSpPr>
        <p:spPr>
          <a:xfrm>
            <a:off x="621792" y="1133856"/>
            <a:ext cx="10917936" cy="274320"/>
          </a:xfrm>
          <a:prstGeom prst="rect">
            <a:avLst/>
          </a:prstGeom>
          <a:noFill/>
          <a:ln/>
        </p:spPr>
        <p:txBody>
          <a:bodyPr wrap="square" lIns="0" tIns="0" rIns="0" bIns="0" rtlCol="0" anchor="ctr"/>
          <a:lstStyle/>
          <a:p>
            <a:pPr marL="0" indent="0">
              <a:buNone/>
            </a:pPr>
            <a:r>
              <a:rPr lang="en-US" sz="1200" dirty="0">
                <a:solidFill>
                  <a:srgbClr val="76737E"/>
                </a:solidFill>
                <a:latin typeface="Arial" pitchFamily="34" charset="0"/>
                <a:ea typeface="Arial" pitchFamily="34" charset="-122"/>
                <a:cs typeface="Arial" pitchFamily="34" charset="-120"/>
              </a:rPr>
              <a:t>What we implemented, what we used, and what stays outside this version</a:t>
            </a:r>
            <a:endParaRPr lang="en-US" sz="1200" dirty="0"/>
          </a:p>
        </p:txBody>
      </p:sp>
      <p:sp>
        <p:nvSpPr>
          <p:cNvPr id="5" name="Text 3"/>
          <p:cNvSpPr txBox="1"/>
          <p:nvPr/>
        </p:nvSpPr>
        <p:spPr>
          <a:xfrm>
            <a:off x="10899648" y="310896"/>
            <a:ext cx="640080" cy="274320"/>
          </a:xfrm>
          <a:prstGeom prst="rect">
            <a:avLst/>
          </a:prstGeom>
          <a:noFill/>
          <a:ln/>
        </p:spPr>
        <p:txBody>
          <a:bodyPr wrap="square" lIns="0" tIns="0" rIns="0" bIns="0" rtlCol="0" anchor="ctr"/>
          <a:lstStyle/>
          <a:p>
            <a:r>
              <a:rPr sz="1100" b="1">
                <a:solidFill>
                  <a:srgbClr val="D8D5DC"/>
                </a:solidFill>
                <a:latin typeface="Arial"/>
              </a:rPr>
              <a:t>26</a:t>
            </a:r>
          </a:p>
        </p:txBody>
      </p:sp>
      <p:graphicFrame>
        <p:nvGraphicFramePr>
          <p:cNvPr id="24" name="Table 0"/>
          <p:cNvGraphicFramePr>
            <a:graphicFrameLocks noGrp="1"/>
          </p:cNvGraphicFramePr>
          <p:nvPr>
            <p:extLst>
              <p:ext uri="{D42A27DB-BD31-4B8C-83A1-F6EECF244321}">
                <p14:modId xmlns:p14="http://schemas.microsoft.com/office/powerpoint/2010/main" val="3411260947"/>
              </p:ext>
            </p:extLst>
          </p:nvPr>
        </p:nvGraphicFramePr>
        <p:xfrm>
          <a:off x="621792" y="1417320"/>
          <a:ext cx="10917936" cy="1889760"/>
        </p:xfrm>
        <a:graphic>
          <a:graphicData uri="http://schemas.openxmlformats.org/drawingml/2006/table">
            <a:tbl>
              <a:tblPr/>
              <a:tblGrid>
                <a:gridCol w="4937760">
                  <a:extLst>
                    <a:ext uri="{9D8B030D-6E8A-4147-A177-3AD203B41FA5}">
                      <a16:colId xmlns:a16="http://schemas.microsoft.com/office/drawing/2014/main" val="20000"/>
                    </a:ext>
                  </a:extLst>
                </a:gridCol>
                <a:gridCol w="5980176">
                  <a:extLst>
                    <a:ext uri="{9D8B030D-6E8A-4147-A177-3AD203B41FA5}">
                      <a16:colId xmlns:a16="http://schemas.microsoft.com/office/drawing/2014/main" val="20001"/>
                    </a:ext>
                  </a:extLst>
                </a:gridCol>
              </a:tblGrid>
              <a:tr h="0">
                <a:tc>
                  <a:txBody>
                    <a:bodyPr/>
                    <a:lstStyle/>
                    <a:p>
                      <a:pPr marL="0" indent="0">
                        <a:buNone/>
                      </a:pPr>
                      <a:r>
                        <a:rPr lang="en-US" sz="950" b="1" kern="0" spc="100" dirty="0">
                          <a:solidFill>
                            <a:srgbClr val="C0392F"/>
                          </a:solidFill>
                          <a:latin typeface="Arial" pitchFamily="34" charset="0"/>
                          <a:ea typeface="Arial" pitchFamily="34" charset="-122"/>
                          <a:cs typeface="Arial" pitchFamily="34" charset="-120"/>
                        </a:rPr>
                        <a:t>LIMITATION</a:t>
                      </a:r>
                      <a:endParaRPr lang="en-US" sz="95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7F5F6"/>
                    </a:solidFill>
                  </a:tcPr>
                </a:tc>
                <a:tc>
                  <a:txBody>
                    <a:bodyPr/>
                    <a:lstStyle/>
                    <a:p>
                      <a:pPr marL="0" indent="0">
                        <a:buNone/>
                      </a:pPr>
                      <a:r>
                        <a:rPr lang="en-US" sz="950" b="1" kern="0" spc="100" dirty="0">
                          <a:solidFill>
                            <a:srgbClr val="C0392F"/>
                          </a:solidFill>
                          <a:latin typeface="Arial" pitchFamily="34" charset="0"/>
                          <a:ea typeface="Arial" pitchFamily="34" charset="-122"/>
                          <a:cs typeface="Arial" pitchFamily="34" charset="-120"/>
                        </a:rPr>
                        <a:t>WHAT IT WOULD TAKE TO CLOSE IT</a:t>
                      </a:r>
                      <a:endParaRPr lang="en-US" sz="95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7F5F6"/>
                    </a:solidFill>
                  </a:tcPr>
                </a:tc>
                <a:extLst>
                  <a:ext uri="{0D108BD9-81ED-4DB2-BD59-A6C34878D82A}">
                    <a16:rowId xmlns:a16="http://schemas.microsoft.com/office/drawing/2014/main" val="10000"/>
                  </a:ext>
                </a:extLst>
              </a:tr>
              <a:tr h="0">
                <a:tc>
                  <a:txBody>
                    <a:bodyPr/>
                    <a:lstStyle/>
                    <a:p>
                      <a:pPr marL="0" indent="0">
                        <a:buNone/>
                      </a:pPr>
                      <a:r>
                        <a:rPr lang="en-US" sz="950" dirty="0">
                          <a:solidFill>
                            <a:srgbClr val="26242B"/>
                          </a:solidFill>
                          <a:latin typeface="Arial" pitchFamily="34" charset="0"/>
                          <a:ea typeface="Arial" pitchFamily="34" charset="-122"/>
                          <a:cs typeface="Arial" pitchFamily="34" charset="-120"/>
                        </a:rPr>
                        <a:t>A stolen credential store allows impersonation without recovering a password</a:t>
                      </a:r>
                      <a:endParaRPr lang="en-US" sz="95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tc>
                  <a:txBody>
                    <a:bodyPr/>
                    <a:lstStyle/>
                    <a:p>
                      <a:pPr marL="0" indent="0">
                        <a:buNone/>
                      </a:pPr>
                      <a:r>
                        <a:rPr lang="en-US" sz="950" dirty="0">
                          <a:solidFill>
                            <a:srgbClr val="26242B"/>
                          </a:solidFill>
                          <a:latin typeface="Arial" pitchFamily="34" charset="0"/>
                          <a:ea typeface="Arial" pitchFamily="34" charset="-122"/>
                          <a:cs typeface="Arial" pitchFamily="34" charset="-120"/>
                        </a:rPr>
                        <a:t>An asymmetric login proof: sign the transcript, verify against the stored public key</a:t>
                      </a:r>
                      <a:endParaRPr lang="en-US" sz="95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950" dirty="0">
                          <a:solidFill>
                            <a:srgbClr val="26242B"/>
                          </a:solidFill>
                          <a:latin typeface="Arial" pitchFamily="34" charset="0"/>
                          <a:ea typeface="Arial" pitchFamily="34" charset="-122"/>
                          <a:cs typeface="Arial" pitchFamily="34" charset="-120"/>
                        </a:rPr>
                        <a:t>The share signature does not commit the sender to the document contents</a:t>
                      </a:r>
                      <a:endParaRPr lang="en-US" sz="95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tc>
                  <a:txBody>
                    <a:bodyPr/>
                    <a:lstStyle/>
                    <a:p>
                      <a:pPr marL="0" indent="0">
                        <a:buNone/>
                      </a:pPr>
                      <a:r>
                        <a:rPr lang="en-US" sz="950" dirty="0">
                          <a:solidFill>
                            <a:srgbClr val="26242B"/>
                          </a:solidFill>
                          <a:latin typeface="Arial" pitchFamily="34" charset="0"/>
                          <a:ea typeface="Arial" pitchFamily="34" charset="-122"/>
                          <a:cs typeface="Arial" pitchFamily="34" charset="-120"/>
                        </a:rPr>
                        <a:t>A 32-byte SHA-256 of the Document object inside the signed bytes</a:t>
                      </a:r>
                      <a:endParaRPr lang="en-US" sz="95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buNone/>
                      </a:pPr>
                      <a:r>
                        <a:rPr lang="en-US" sz="950" dirty="0">
                          <a:solidFill>
                            <a:srgbClr val="26242B"/>
                          </a:solidFill>
                          <a:latin typeface="Arial" pitchFamily="34" charset="0"/>
                          <a:ea typeface="Arial" pitchFamily="34" charset="-122"/>
                          <a:cs typeface="Arial" pitchFamily="34" charset="-120"/>
                        </a:rPr>
                        <a:t>Trust on first use protects only after the first contact</a:t>
                      </a:r>
                      <a:endParaRPr lang="en-US" sz="95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tc>
                  <a:txBody>
                    <a:bodyPr/>
                    <a:lstStyle/>
                    <a:p>
                      <a:pPr marL="0" indent="0">
                        <a:buNone/>
                      </a:pPr>
                      <a:r>
                        <a:rPr lang="en-US" sz="950" dirty="0">
                          <a:solidFill>
                            <a:srgbClr val="26242B"/>
                          </a:solidFill>
                          <a:latin typeface="Arial" pitchFamily="34" charset="0"/>
                          <a:ea typeface="Arial" pitchFamily="34" charset="-122"/>
                          <a:cs typeface="Arial" pitchFamily="34" charset="-120"/>
                        </a:rPr>
                        <a:t>Users compare fingerprints out of band once; the client already prints them</a:t>
                      </a:r>
                      <a:endParaRPr lang="en-US" sz="95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950" dirty="0">
                          <a:solidFill>
                            <a:srgbClr val="26242B"/>
                          </a:solidFill>
                          <a:latin typeface="Arial" pitchFamily="34" charset="0"/>
                          <a:ea typeface="Arial" pitchFamily="34" charset="-122"/>
                          <a:cs typeface="Arial" pitchFamily="34" charset="-120"/>
                        </a:rPr>
                        <a:t>The reply address in a message envelope is not authenticated</a:t>
                      </a:r>
                      <a:endParaRPr lang="en-US" sz="95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tc>
                  <a:txBody>
                    <a:bodyPr/>
                    <a:lstStyle/>
                    <a:p>
                      <a:pPr marL="0" indent="0">
                        <a:buNone/>
                      </a:pPr>
                      <a:r>
                        <a:rPr lang="en-US" sz="950" dirty="0">
                          <a:solidFill>
                            <a:srgbClr val="26242B"/>
                          </a:solidFill>
                          <a:latin typeface="Arial" pitchFamily="34" charset="0"/>
                          <a:ea typeface="Arial" pitchFamily="34" charset="-122"/>
                          <a:cs typeface="Arial" pitchFamily="34" charset="-120"/>
                        </a:rPr>
                        <a:t>Authenticate the envelope, not only the body</a:t>
                      </a:r>
                      <a:endParaRPr lang="en-US" sz="95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0">
                <a:tc>
                  <a:txBody>
                    <a:bodyPr/>
                    <a:lstStyle/>
                    <a:p>
                      <a:pPr marL="0" indent="0">
                        <a:buNone/>
                      </a:pPr>
                      <a:r>
                        <a:rPr lang="en-US" sz="950" dirty="0">
                          <a:solidFill>
                            <a:srgbClr val="26242B"/>
                          </a:solidFill>
                          <a:latin typeface="Arial" pitchFamily="34" charset="0"/>
                          <a:ea typeface="Arial" pitchFamily="34" charset="-122"/>
                          <a:cs typeface="Arial" pitchFamily="34" charset="-120"/>
                        </a:rPr>
                        <a:t>No rate limiting on login; challenges, sessions and request IDs are never pruned</a:t>
                      </a:r>
                      <a:endParaRPr lang="en-US" sz="95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tc>
                  <a:txBody>
                    <a:bodyPr/>
                    <a:lstStyle/>
                    <a:p>
                      <a:pPr marL="0" indent="0">
                        <a:buNone/>
                      </a:pPr>
                      <a:r>
                        <a:rPr lang="en-US" sz="950" dirty="0">
                          <a:solidFill>
                            <a:srgbClr val="26242B"/>
                          </a:solidFill>
                          <a:latin typeface="Arial" pitchFamily="34" charset="0"/>
                          <a:ea typeface="Arial" pitchFamily="34" charset="-122"/>
                          <a:cs typeface="Arial" pitchFamily="34" charset="-120"/>
                        </a:rPr>
                        <a:t>A per-account attempt counter and a periodic cleanup</a:t>
                      </a:r>
                      <a:endParaRPr lang="en-US" sz="95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buNone/>
                      </a:pPr>
                      <a:r>
                        <a:rPr lang="en-US" sz="950" dirty="0">
                          <a:latin typeface="Arial" panose="020B0604020202020204" pitchFamily="34" charset="0"/>
                          <a:cs typeface="Arial" panose="020B0604020202020204" pitchFamily="34" charset="0"/>
                        </a:rPr>
                        <a:t>The client keeps the wrap key and recovered identity keys in a plain local file</a:t>
                      </a:r>
                      <a:endParaRPr lang="en-US" sz="950" dirty="0">
                        <a:latin typeface="Arial" panose="020B0604020202020204" pitchFamily="34" charset="0"/>
                        <a:ea typeface="Arial" charset="0"/>
                        <a:cs typeface="Arial" panose="020B0604020202020204" pitchFamily="34"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tc>
                  <a:txBody>
                    <a:bodyPr/>
                    <a:lstStyle/>
                    <a:p>
                      <a:pPr marL="0" indent="0">
                        <a:buNone/>
                      </a:pPr>
                      <a:r>
                        <a:rPr lang="en-US" sz="950" dirty="0">
                          <a:solidFill>
                            <a:srgbClr val="26242B"/>
                          </a:solidFill>
                          <a:latin typeface="Arial" pitchFamily="34" charset="0"/>
                          <a:ea typeface="Arial" pitchFamily="34" charset="-122"/>
                          <a:cs typeface="Arial" pitchFamily="34" charset="-120"/>
                        </a:rPr>
                        <a:t>Keep session values in memory or protected OS storage</a:t>
                      </a:r>
                      <a:endParaRPr lang="en-US" sz="95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0">
                <a:tc>
                  <a:txBody>
                    <a:bodyPr/>
                    <a:lstStyle/>
                    <a:p>
                      <a:pPr marL="0" indent="0">
                        <a:buNone/>
                      </a:pPr>
                      <a:r>
                        <a:rPr lang="en-US" sz="950" dirty="0">
                          <a:solidFill>
                            <a:srgbClr val="26242B"/>
                          </a:solidFill>
                          <a:latin typeface="Arial" pitchFamily="34" charset="0"/>
                          <a:ea typeface="Arial" pitchFamily="34" charset="-122"/>
                          <a:cs typeface="Arial" pitchFamily="34" charset="-120"/>
                        </a:rPr>
                        <a:t>Timing checked on one machine with a fixed tolerance; no wider side-channel analysis</a:t>
                      </a:r>
                      <a:endParaRPr lang="en-US" sz="95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tc>
                  <a:txBody>
                    <a:bodyPr/>
                    <a:lstStyle/>
                    <a:p>
                      <a:pPr marL="0" indent="0">
                        <a:buNone/>
                      </a:pPr>
                      <a:r>
                        <a:rPr lang="en-US" sz="950" dirty="0">
                          <a:solidFill>
                            <a:srgbClr val="26242B"/>
                          </a:solidFill>
                          <a:latin typeface="Arial" pitchFamily="34" charset="0"/>
                          <a:ea typeface="Arial" pitchFamily="34" charset="-122"/>
                          <a:cs typeface="Arial" pitchFamily="34" charset="-120"/>
                        </a:rPr>
                        <a:t>Evidence, not proof — a larger sample on varied hardware</a:t>
                      </a:r>
                      <a:endParaRPr lang="en-US" sz="950" dirty="0">
                        <a:latin typeface="Arial" charset="0"/>
                        <a:ea typeface="Arial" charset="0"/>
                        <a:cs typeface="Arial" charset="0"/>
                      </a:endParaRPr>
                    </a:p>
                  </a:txBody>
                  <a:tcPr anchor="ctr">
                    <a:lnL w="9525" cap="flat" cmpd="sng" algn="ctr">
                      <a:solidFill>
                        <a:srgbClr val="DEDCE2"/>
                      </a:solidFill>
                      <a:prstDash val="solid"/>
                      <a:round/>
                      <a:headEnd type="none" w="med" len="med"/>
                      <a:tailEnd type="none" w="med" len="med"/>
                    </a:lnL>
                    <a:lnR w="9525" cap="flat" cmpd="sng" algn="ctr">
                      <a:solidFill>
                        <a:srgbClr val="DEDCE2"/>
                      </a:solidFill>
                      <a:prstDash val="solid"/>
                      <a:round/>
                      <a:headEnd type="none" w="med" len="med"/>
                      <a:tailEnd type="none" w="med" len="med"/>
                    </a:lnR>
                    <a:lnT w="9525" cap="flat" cmpd="sng" algn="ctr">
                      <a:solidFill>
                        <a:srgbClr val="DEDCE2"/>
                      </a:solidFill>
                      <a:prstDash val="solid"/>
                      <a:round/>
                      <a:headEnd type="none" w="med" len="med"/>
                      <a:tailEnd type="none" w="med" len="med"/>
                    </a:lnT>
                    <a:lnB w="9525" cap="flat" cmpd="sng" algn="ctr">
                      <a:solidFill>
                        <a:srgbClr val="DEDCE2"/>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7" name="Shape 4"/>
          <p:cNvSpPr/>
          <p:nvPr/>
        </p:nvSpPr>
        <p:spPr>
          <a:xfrm>
            <a:off x="621792" y="4343400"/>
            <a:ext cx="5577840" cy="1645920"/>
          </a:xfrm>
          <a:prstGeom prst="rect">
            <a:avLst/>
          </a:prstGeom>
          <a:solidFill>
            <a:srgbClr val="FFFFFF"/>
          </a:solidFill>
          <a:ln w="12700">
            <a:solidFill>
              <a:srgbClr val="DEDCE2"/>
            </a:solidFill>
            <a:prstDash val="solid"/>
          </a:ln>
        </p:spPr>
        <p:txBody>
          <a:bodyPr/>
          <a:lstStyle/>
          <a:p>
            <a:endParaRPr/>
          </a:p>
        </p:txBody>
      </p:sp>
      <p:sp>
        <p:nvSpPr>
          <p:cNvPr id="8" name="Text 5"/>
          <p:cNvSpPr txBox="1"/>
          <p:nvPr/>
        </p:nvSpPr>
        <p:spPr>
          <a:xfrm>
            <a:off x="822960" y="4480560"/>
            <a:ext cx="5175504" cy="292608"/>
          </a:xfrm>
          <a:prstGeom prst="rect">
            <a:avLst/>
          </a:prstGeom>
          <a:noFill/>
          <a:ln/>
        </p:spPr>
        <p:txBody>
          <a:bodyPr wrap="square" lIns="0" tIns="0" rIns="0" bIns="0" rtlCol="0" anchor="ctr"/>
          <a:lstStyle/>
          <a:p>
            <a:pPr marL="0" indent="0">
              <a:buNone/>
            </a:pPr>
            <a:r>
              <a:rPr lang="en-US" sz="1150" b="1" kern="0" spc="40" dirty="0">
                <a:solidFill>
                  <a:srgbClr val="26242B"/>
                </a:solidFill>
                <a:latin typeface="Arial" pitchFamily="34" charset="0"/>
                <a:ea typeface="Arial" pitchFamily="34" charset="-122"/>
                <a:cs typeface="Arial" pitchFamily="34" charset="-120"/>
              </a:rPr>
              <a:t>Written by the team, from scratch</a:t>
            </a:r>
            <a:endParaRPr lang="en-US" sz="1150" dirty="0"/>
          </a:p>
        </p:txBody>
      </p:sp>
      <p:sp>
        <p:nvSpPr>
          <p:cNvPr id="9" name="Text 6"/>
          <p:cNvSpPr txBox="1"/>
          <p:nvPr/>
        </p:nvSpPr>
        <p:spPr>
          <a:xfrm>
            <a:off x="822960" y="4837176"/>
            <a:ext cx="5175504" cy="1024128"/>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6242B"/>
                </a:solidFill>
                <a:latin typeface="Arial" pitchFamily="34" charset="0"/>
                <a:ea typeface="Arial" pitchFamily="34" charset="-122"/>
                <a:cs typeface="Arial" pitchFamily="34" charset="-120"/>
              </a:rPr>
              <a:t>SHA-256; HMAC-SHA-256; HKDF</a:t>
            </a:r>
            <a:endParaRPr lang="en-US" sz="1050" dirty="0"/>
          </a:p>
          <a:p>
            <a:pPr marL="342900" indent="-342900">
              <a:spcAft>
                <a:spcPts val="400"/>
              </a:spcAft>
              <a:buSzPct val="100000"/>
              <a:buChar char="–"/>
            </a:pPr>
            <a:r>
              <a:rPr lang="en-US" sz="1050" dirty="0">
                <a:solidFill>
                  <a:srgbClr val="26242B"/>
                </a:solidFill>
                <a:latin typeface="Arial" pitchFamily="34" charset="0"/>
                <a:ea typeface="Arial" pitchFamily="34" charset="-122"/>
                <a:cs typeface="Arial" pitchFamily="34" charset="-120"/>
              </a:rPr>
              <a:t>ChaCha20; Poly1305; the ChaCha20-Poly1305 AEAD</a:t>
            </a:r>
            <a:endParaRPr lang="en-US" sz="1050" dirty="0"/>
          </a:p>
          <a:p>
            <a:pPr marL="342900" indent="-342900">
              <a:spcAft>
                <a:spcPts val="400"/>
              </a:spcAft>
              <a:buSzPct val="100000"/>
              <a:buChar char="–"/>
            </a:pPr>
            <a:r>
              <a:rPr lang="en-US" sz="1050" dirty="0">
                <a:solidFill>
                  <a:srgbClr val="26242B"/>
                </a:solidFill>
                <a:latin typeface="Arial" pitchFamily="34" charset="0"/>
                <a:ea typeface="Arial" pitchFamily="34" charset="-122"/>
                <a:cs typeface="Arial" pitchFamily="34" charset="-120"/>
              </a:rPr>
              <a:t>RSA-3072 keygen, Miller-Rabin, MGF1, PSS signing and verification</a:t>
            </a:r>
            <a:endParaRPr lang="en-US" sz="1050" dirty="0"/>
          </a:p>
          <a:p>
            <a:pPr marL="342900" indent="-342900">
              <a:spcAft>
                <a:spcPts val="400"/>
              </a:spcAft>
              <a:buSzPct val="100000"/>
              <a:buChar char="–"/>
            </a:pPr>
            <a:r>
              <a:rPr lang="en-US" sz="1050" dirty="0">
                <a:solidFill>
                  <a:srgbClr val="26242B"/>
                </a:solidFill>
                <a:latin typeface="Arial" pitchFamily="34" charset="0"/>
                <a:ea typeface="Arial" pitchFamily="34" charset="-122"/>
                <a:cs typeface="Arial" pitchFamily="34" charset="-120"/>
              </a:rPr>
              <a:t>P-256 arithmetic, keygen, point validation, ECDH</a:t>
            </a:r>
            <a:endParaRPr lang="en-US" sz="1050" dirty="0"/>
          </a:p>
          <a:p>
            <a:pPr marL="342900" indent="-342900">
              <a:spcAft>
                <a:spcPts val="400"/>
              </a:spcAft>
              <a:buSzPct val="100000"/>
              <a:buChar char="–"/>
            </a:pPr>
            <a:r>
              <a:rPr lang="en-US" sz="1050" dirty="0">
                <a:solidFill>
                  <a:srgbClr val="26242B"/>
                </a:solidFill>
                <a:latin typeface="Arial" pitchFamily="34" charset="0"/>
                <a:ea typeface="Arial" pitchFamily="34" charset="-122"/>
                <a:cs typeface="Arial" pitchFamily="34" charset="-120"/>
              </a:rPr>
              <a:t>All object formats, the trust store, the share construction, the freshness rule</a:t>
            </a:r>
            <a:endParaRPr lang="en-US" sz="1050" dirty="0"/>
          </a:p>
        </p:txBody>
      </p:sp>
      <p:sp>
        <p:nvSpPr>
          <p:cNvPr id="10" name="Shape 7"/>
          <p:cNvSpPr/>
          <p:nvPr/>
        </p:nvSpPr>
        <p:spPr>
          <a:xfrm>
            <a:off x="6565392" y="4343400"/>
            <a:ext cx="4974336" cy="1645920"/>
          </a:xfrm>
          <a:prstGeom prst="rect">
            <a:avLst/>
          </a:prstGeom>
          <a:solidFill>
            <a:srgbClr val="3C4F3F"/>
          </a:solidFill>
          <a:ln w="12700">
            <a:solidFill>
              <a:srgbClr val="3C4F3F"/>
            </a:solidFill>
            <a:prstDash val="solid"/>
          </a:ln>
        </p:spPr>
        <p:txBody>
          <a:bodyPr/>
          <a:lstStyle/>
          <a:p>
            <a:endParaRPr/>
          </a:p>
        </p:txBody>
      </p:sp>
      <p:sp>
        <p:nvSpPr>
          <p:cNvPr id="11" name="Text 8"/>
          <p:cNvSpPr txBox="1"/>
          <p:nvPr/>
        </p:nvSpPr>
        <p:spPr>
          <a:xfrm>
            <a:off x="6766560" y="4480560"/>
            <a:ext cx="4572000" cy="292608"/>
          </a:xfrm>
          <a:prstGeom prst="rect">
            <a:avLst/>
          </a:prstGeom>
          <a:noFill/>
          <a:ln/>
        </p:spPr>
        <p:txBody>
          <a:bodyPr wrap="square" lIns="0" tIns="0" rIns="0" bIns="0" rtlCol="0" anchor="ctr"/>
          <a:lstStyle/>
          <a:p>
            <a:pPr marL="0" indent="0">
              <a:buNone/>
            </a:pPr>
            <a:r>
              <a:rPr lang="en-US" sz="1150" b="1" kern="0" spc="40" dirty="0">
                <a:solidFill>
                  <a:srgbClr val="FFFFFF"/>
                </a:solidFill>
                <a:latin typeface="Arial" pitchFamily="34" charset="0"/>
                <a:ea typeface="Arial" pitchFamily="34" charset="-122"/>
                <a:cs typeface="Arial" pitchFamily="34" charset="-120"/>
              </a:rPr>
              <a:t>Declared library use, and the closing line</a:t>
            </a:r>
            <a:endParaRPr lang="en-US" sz="1150" dirty="0"/>
          </a:p>
        </p:txBody>
      </p:sp>
      <p:sp>
        <p:nvSpPr>
          <p:cNvPr id="12" name="Text 9"/>
          <p:cNvSpPr txBox="1"/>
          <p:nvPr/>
        </p:nvSpPr>
        <p:spPr>
          <a:xfrm>
            <a:off x="6766560" y="4818888"/>
            <a:ext cx="4572000" cy="1042416"/>
          </a:xfrm>
          <a:prstGeom prst="rect">
            <a:avLst/>
          </a:prstGeom>
          <a:noFill/>
          <a:ln/>
        </p:spPr>
        <p:txBody>
          <a:bodyPr wrap="square" lIns="0" tIns="0" rIns="0" bIns="0" rtlCol="0" anchor="t"/>
          <a:lstStyle/>
          <a:p>
            <a:pPr marL="0" indent="0">
              <a:buNone/>
            </a:pPr>
            <a:r>
              <a:rPr lang="en-US" sz="1050" dirty="0">
                <a:solidFill>
                  <a:srgbClr val="DCE3DC"/>
                </a:solidFill>
                <a:latin typeface="Arial" pitchFamily="34" charset="0"/>
                <a:ea typeface="Arial" pitchFamily="34" charset="-122"/>
                <a:cs typeface="Arial" pitchFamily="34" charset="-120"/>
              </a:rPr>
              <a:t>Argon2id through argon2-cffi, justified on slide 07: a memory-hard function that is slow or subtly wrong would weaken the exact property we chose it for. Big integers, OS randomness, SQLite, JSON, file handling and pytest are not cryptographic components. We implemented and tested the security path we designed, and we are naming its boundary rather than claiming there is not one  two of the rows above are single-field fixes we identified ourselves.</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4">
    <p:bg>
      <p:bgPr>
        <a:solidFill>
          <a:srgbClr val="1C1B1F"/>
        </a:solidFill>
        <a:effectLst/>
      </p:bgPr>
    </p:bg>
    <p:spTree>
      <p:nvGrpSpPr>
        <p:cNvPr id="1" name=""/>
        <p:cNvGrpSpPr/>
        <p:nvPr/>
      </p:nvGrpSpPr>
      <p:grpSpPr>
        <a:xfrm>
          <a:off x="0" y="0"/>
          <a:ext cx="0" cy="0"/>
          <a:chOff x="0" y="0"/>
          <a:chExt cx="0" cy="0"/>
        </a:xfrm>
      </p:grpSpPr>
      <p:sp>
        <p:nvSpPr>
          <p:cNvPr id="2" name="Text 0"/>
          <p:cNvSpPr txBox="1"/>
          <p:nvPr/>
        </p:nvSpPr>
        <p:spPr>
          <a:xfrm>
            <a:off x="621792" y="1965960"/>
            <a:ext cx="8229600" cy="960120"/>
          </a:xfrm>
          <a:prstGeom prst="rect">
            <a:avLst/>
          </a:prstGeom>
          <a:noFill/>
          <a:ln/>
        </p:spPr>
        <p:txBody>
          <a:bodyPr wrap="square" lIns="0" tIns="0" rIns="0" bIns="0" rtlCol="0" anchor="ctr"/>
          <a:lstStyle/>
          <a:p>
            <a:pPr marL="0" indent="0">
              <a:buNone/>
            </a:pPr>
            <a:r>
              <a:rPr lang="en-US" sz="4400" b="1" dirty="0">
                <a:solidFill>
                  <a:srgbClr val="FFFFFF"/>
                </a:solidFill>
                <a:latin typeface="Bookman Old Style" pitchFamily="34" charset="0"/>
                <a:ea typeface="Bookman Old Style" pitchFamily="34" charset="-122"/>
                <a:cs typeface="Bookman Old Style" pitchFamily="34" charset="-120"/>
              </a:rPr>
              <a:t>SecureVault</a:t>
            </a:r>
            <a:endParaRPr lang="en-US" sz="4400" dirty="0"/>
          </a:p>
        </p:txBody>
      </p:sp>
      <p:sp>
        <p:nvSpPr>
          <p:cNvPr id="3" name="Text 1"/>
          <p:cNvSpPr txBox="1"/>
          <p:nvPr/>
        </p:nvSpPr>
        <p:spPr>
          <a:xfrm>
            <a:off x="621792" y="2926080"/>
            <a:ext cx="8229600" cy="502920"/>
          </a:xfrm>
          <a:prstGeom prst="rect">
            <a:avLst/>
          </a:prstGeom>
          <a:noFill/>
          <a:ln/>
        </p:spPr>
        <p:txBody>
          <a:bodyPr wrap="square" lIns="0" tIns="0" rIns="0" bIns="0" rtlCol="0" anchor="ctr"/>
          <a:lstStyle/>
          <a:p>
            <a:pPr marL="0" indent="0">
              <a:buNone/>
            </a:pPr>
            <a:r>
              <a:rPr lang="en-US" sz="2400" b="1" dirty="0">
                <a:solidFill>
                  <a:srgbClr val="C0392F"/>
                </a:solidFill>
                <a:latin typeface="Bookman Old Style" pitchFamily="34" charset="0"/>
                <a:ea typeface="Bookman Old Style" pitchFamily="34" charset="-122"/>
                <a:cs typeface="Bookman Old Style" pitchFamily="34" charset="-120"/>
              </a:rPr>
              <a:t>Questions</a:t>
            </a:r>
            <a:endParaRPr lang="en-US" sz="2400" dirty="0"/>
          </a:p>
        </p:txBody>
      </p:sp>
      <p:sp>
        <p:nvSpPr>
          <p:cNvPr id="4" name="Shape 2"/>
          <p:cNvSpPr/>
          <p:nvPr/>
        </p:nvSpPr>
        <p:spPr>
          <a:xfrm>
            <a:off x="621792" y="3931920"/>
            <a:ext cx="10917936" cy="0"/>
          </a:xfrm>
          <a:prstGeom prst="line">
            <a:avLst/>
          </a:prstGeom>
          <a:noFill/>
          <a:ln w="9525">
            <a:solidFill>
              <a:srgbClr val="4A4653"/>
            </a:solidFill>
            <a:prstDash val="solid"/>
          </a:ln>
        </p:spPr>
      </p:sp>
      <p:sp>
        <p:nvSpPr>
          <p:cNvPr id="5" name="Text 3"/>
          <p:cNvSpPr txBox="1"/>
          <p:nvPr/>
        </p:nvSpPr>
        <p:spPr>
          <a:xfrm>
            <a:off x="621792" y="4114800"/>
            <a:ext cx="3182112" cy="256032"/>
          </a:xfrm>
          <a:prstGeom prst="rect">
            <a:avLst/>
          </a:prstGeom>
          <a:noFill/>
          <a:ln/>
        </p:spPr>
        <p:txBody>
          <a:bodyPr wrap="square" lIns="0" tIns="0" rIns="0" bIns="0" rtlCol="0" anchor="ctr"/>
          <a:lstStyle/>
          <a:p>
            <a:pPr marL="0" indent="0">
              <a:buNone/>
            </a:pPr>
            <a:r>
              <a:rPr lang="en-US" sz="1100" b="1" kern="0" spc="200" dirty="0">
                <a:solidFill>
                  <a:srgbClr val="C0392F"/>
                </a:solidFill>
                <a:latin typeface="Arial" pitchFamily="34" charset="0"/>
                <a:ea typeface="Arial" pitchFamily="34" charset="-122"/>
                <a:cs typeface="Arial" pitchFamily="34" charset="-120"/>
              </a:rPr>
              <a:t>ACCOUNTS</a:t>
            </a:r>
            <a:endParaRPr lang="en-US" sz="1100" dirty="0"/>
          </a:p>
        </p:txBody>
      </p:sp>
      <p:sp>
        <p:nvSpPr>
          <p:cNvPr id="6" name="Text 4"/>
          <p:cNvSpPr txBox="1"/>
          <p:nvPr/>
        </p:nvSpPr>
        <p:spPr>
          <a:xfrm>
            <a:off x="621792" y="4407408"/>
            <a:ext cx="3182112" cy="914400"/>
          </a:xfrm>
          <a:prstGeom prst="rect">
            <a:avLst/>
          </a:prstGeom>
          <a:noFill/>
          <a:ln/>
        </p:spPr>
        <p:txBody>
          <a:bodyPr wrap="square" lIns="0" tIns="0" rIns="0" bIns="0" rtlCol="0" anchor="t"/>
          <a:lstStyle/>
          <a:p>
            <a:pPr marL="0" indent="0">
              <a:buNone/>
            </a:pPr>
            <a:r>
              <a:rPr lang="en-US" sz="1150" dirty="0">
                <a:solidFill>
                  <a:srgbClr val="C6C2CC"/>
                </a:solidFill>
                <a:latin typeface="Arial" pitchFamily="34" charset="0"/>
                <a:ea typeface="Arial" pitchFamily="34" charset="-122"/>
                <a:cs typeface="Arial" pitchFamily="34" charset="-120"/>
              </a:rPr>
              <a:t>A password becomes two separated secrets, and the server holds only one of them</a:t>
            </a:r>
            <a:endParaRPr lang="en-US" sz="1150" dirty="0"/>
          </a:p>
        </p:txBody>
      </p:sp>
      <p:sp>
        <p:nvSpPr>
          <p:cNvPr id="7" name="Text 5"/>
          <p:cNvSpPr txBox="1"/>
          <p:nvPr/>
        </p:nvSpPr>
        <p:spPr>
          <a:xfrm>
            <a:off x="4261104" y="4114800"/>
            <a:ext cx="3182112" cy="256032"/>
          </a:xfrm>
          <a:prstGeom prst="rect">
            <a:avLst/>
          </a:prstGeom>
          <a:noFill/>
          <a:ln/>
        </p:spPr>
        <p:txBody>
          <a:bodyPr wrap="square" lIns="0" tIns="0" rIns="0" bIns="0" rtlCol="0" anchor="ctr"/>
          <a:lstStyle/>
          <a:p>
            <a:pPr marL="0" indent="0">
              <a:buNone/>
            </a:pPr>
            <a:r>
              <a:rPr lang="en-US" sz="1100" b="1" kern="0" spc="200" dirty="0">
                <a:solidFill>
                  <a:srgbClr val="C0392F"/>
                </a:solidFill>
                <a:latin typeface="Arial" pitchFamily="34" charset="0"/>
                <a:ea typeface="Arial" pitchFamily="34" charset="-122"/>
                <a:cs typeface="Arial" pitchFamily="34" charset="-120"/>
              </a:rPr>
              <a:t>DOCUMENTS</a:t>
            </a:r>
            <a:endParaRPr lang="en-US" sz="1100" dirty="0"/>
          </a:p>
        </p:txBody>
      </p:sp>
      <p:sp>
        <p:nvSpPr>
          <p:cNvPr id="8" name="Text 6"/>
          <p:cNvSpPr txBox="1"/>
          <p:nvPr/>
        </p:nvSpPr>
        <p:spPr>
          <a:xfrm>
            <a:off x="4261104" y="4407408"/>
            <a:ext cx="3182112" cy="914400"/>
          </a:xfrm>
          <a:prstGeom prst="rect">
            <a:avLst/>
          </a:prstGeom>
          <a:noFill/>
          <a:ln/>
        </p:spPr>
        <p:txBody>
          <a:bodyPr wrap="square" lIns="0" tIns="0" rIns="0" bIns="0" rtlCol="0" anchor="t"/>
          <a:lstStyle/>
          <a:p>
            <a:pPr marL="0" indent="0">
              <a:buNone/>
            </a:pPr>
            <a:r>
              <a:rPr lang="en-US" sz="1150" dirty="0">
                <a:solidFill>
                  <a:srgbClr val="C6C2CC"/>
                </a:solidFill>
                <a:latin typeface="Arial" pitchFamily="34" charset="0"/>
                <a:ea typeface="Arial" pitchFamily="34" charset="-122"/>
                <a:cs typeface="Arial" pitchFamily="34" charset="-120"/>
              </a:rPr>
              <a:t>Encrypted under a key the server never receives, with the metadata bound to the ciphertext</a:t>
            </a:r>
            <a:endParaRPr lang="en-US" sz="1150" dirty="0"/>
          </a:p>
        </p:txBody>
      </p:sp>
      <p:sp>
        <p:nvSpPr>
          <p:cNvPr id="9" name="Text 7"/>
          <p:cNvSpPr txBox="1"/>
          <p:nvPr/>
        </p:nvSpPr>
        <p:spPr>
          <a:xfrm>
            <a:off x="7900416" y="4114800"/>
            <a:ext cx="3182112" cy="256032"/>
          </a:xfrm>
          <a:prstGeom prst="rect">
            <a:avLst/>
          </a:prstGeom>
          <a:noFill/>
          <a:ln/>
        </p:spPr>
        <p:txBody>
          <a:bodyPr wrap="square" lIns="0" tIns="0" rIns="0" bIns="0" rtlCol="0" anchor="ctr"/>
          <a:lstStyle/>
          <a:p>
            <a:pPr marL="0" indent="0">
              <a:buNone/>
            </a:pPr>
            <a:r>
              <a:rPr lang="en-US" sz="1100" b="1" kern="0" spc="200" dirty="0">
                <a:solidFill>
                  <a:srgbClr val="C0392F"/>
                </a:solidFill>
                <a:latin typeface="Arial" pitchFamily="34" charset="0"/>
                <a:ea typeface="Arial" pitchFamily="34" charset="-122"/>
                <a:cs typeface="Arial" pitchFamily="34" charset="-120"/>
              </a:rPr>
              <a:t>SHARING</a:t>
            </a:r>
            <a:endParaRPr lang="en-US" sz="1100" dirty="0"/>
          </a:p>
        </p:txBody>
      </p:sp>
      <p:sp>
        <p:nvSpPr>
          <p:cNvPr id="10" name="Text 8"/>
          <p:cNvSpPr txBox="1"/>
          <p:nvPr/>
        </p:nvSpPr>
        <p:spPr>
          <a:xfrm>
            <a:off x="7900416" y="4407408"/>
            <a:ext cx="3182112" cy="914400"/>
          </a:xfrm>
          <a:prstGeom prst="rect">
            <a:avLst/>
          </a:prstGeom>
          <a:noFill/>
          <a:ln/>
        </p:spPr>
        <p:txBody>
          <a:bodyPr wrap="square" lIns="0" tIns="0" rIns="0" bIns="0" rtlCol="0" anchor="t"/>
          <a:lstStyle/>
          <a:p>
            <a:pPr marL="0" indent="0">
              <a:buNone/>
            </a:pPr>
            <a:r>
              <a:rPr lang="en-US" sz="1150" dirty="0">
                <a:solidFill>
                  <a:srgbClr val="C6C2CC"/>
                </a:solidFill>
                <a:latin typeface="Arial" pitchFamily="34" charset="0"/>
                <a:ea typeface="Arial" pitchFamily="34" charset="-122"/>
                <a:cs typeface="Arial" pitchFamily="34" charset="-120"/>
              </a:rPr>
              <a:t>A key agreement the server cannot join, and a signature it cannot forge</a:t>
            </a:r>
            <a:endParaRPr lang="en-US" sz="1150" dirty="0"/>
          </a:p>
        </p:txBody>
      </p:sp>
      <p:sp>
        <p:nvSpPr>
          <p:cNvPr id="11" name="Text 9"/>
          <p:cNvSpPr txBox="1"/>
          <p:nvPr/>
        </p:nvSpPr>
        <p:spPr>
          <a:xfrm>
            <a:off x="621792" y="5760720"/>
            <a:ext cx="10917936" cy="274320"/>
          </a:xfrm>
          <a:prstGeom prst="rect">
            <a:avLst/>
          </a:prstGeom>
          <a:noFill/>
          <a:ln/>
        </p:spPr>
        <p:txBody>
          <a:bodyPr wrap="square" lIns="0" tIns="0" rIns="0" bIns="0" rtlCol="0" anchor="ctr"/>
          <a:lstStyle/>
          <a:p>
            <a:pPr marL="0" indent="0">
              <a:buNone/>
            </a:pPr>
            <a:r>
              <a:rPr lang="en-US" sz="1200" dirty="0">
                <a:solidFill>
                  <a:srgbClr val="6B6773"/>
                </a:solidFill>
                <a:latin typeface="Arial" pitchFamily="34" charset="0"/>
                <a:ea typeface="Arial" pitchFamily="34" charset="-122"/>
                <a:cs typeface="Arial" pitchFamily="34" charset="-120"/>
              </a:rPr>
              <a:t>Thank you</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199</TotalTime>
  <Words>5994</Words>
  <Application>Microsoft Office PowerPoint</Application>
  <PresentationFormat>Widescreen</PresentationFormat>
  <Paragraphs>669</Paragraphs>
  <Slides>27</Slides>
  <Notes>24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Arial</vt:lpstr>
      <vt:lpstr>Bookman Old Style</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Aseel Hamed</cp:lastModifiedBy>
  <cp:revision>2</cp:revision>
  <dcterms:created xsi:type="dcterms:W3CDTF">2026-09-23T16:24:24Z</dcterms:created>
  <dcterms:modified xsi:type="dcterms:W3CDTF">2026-09-24T16:21:26Z</dcterms:modified>
</cp:coreProperties>
</file>